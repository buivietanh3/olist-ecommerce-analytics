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4" d="100"/>
          <a:sy n="114" d="100"/>
        </p:scale>
        <p:origin x="438"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130854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107950" y="160020"/>
            <a:ext cx="12188952" cy="6858000"/>
          </a:xfrm>
          <a:prstGeom prst="rect">
            <a:avLst/>
          </a:prstGeom>
          <a:solidFill>
            <a:srgbClr val="1E2761"/>
          </a:solidFill>
          <a:ln/>
        </p:spPr>
      </p:sp>
      <p:sp>
        <p:nvSpPr>
          <p:cNvPr id="3" name="Shape 1"/>
          <p:cNvSpPr/>
          <p:nvPr/>
        </p:nvSpPr>
        <p:spPr>
          <a:xfrm>
            <a:off x="8778240" y="-2011680"/>
            <a:ext cx="5486400" cy="5486400"/>
          </a:xfrm>
          <a:prstGeom prst="ellipse">
            <a:avLst/>
          </a:prstGeom>
          <a:solidFill>
            <a:srgbClr val="141B4D"/>
          </a:solidFill>
          <a:ln/>
        </p:spPr>
      </p:sp>
      <p:sp>
        <p:nvSpPr>
          <p:cNvPr id="4" name="Shape 2"/>
          <p:cNvSpPr/>
          <p:nvPr/>
        </p:nvSpPr>
        <p:spPr>
          <a:xfrm>
            <a:off x="-2194560" y="4206240"/>
            <a:ext cx="4754880" cy="4754880"/>
          </a:xfrm>
          <a:prstGeom prst="ellipse">
            <a:avLst/>
          </a:prstGeom>
          <a:solidFill>
            <a:srgbClr val="141B4D"/>
          </a:solidFill>
          <a:ln/>
        </p:spPr>
      </p:sp>
      <p:sp>
        <p:nvSpPr>
          <p:cNvPr id="7" name="Text 5"/>
          <p:cNvSpPr/>
          <p:nvPr/>
        </p:nvSpPr>
        <p:spPr>
          <a:xfrm>
            <a:off x="640080" y="2468880"/>
            <a:ext cx="10515600" cy="1005840"/>
          </a:xfrm>
          <a:prstGeom prst="rect">
            <a:avLst/>
          </a:prstGeom>
          <a:noFill/>
          <a:ln/>
        </p:spPr>
        <p:txBody>
          <a:bodyPr wrap="square"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OLIST ECOMMERCE ANALYTICS</a:t>
            </a:r>
            <a:endParaRPr lang="en-US" sz="4400" dirty="0"/>
          </a:p>
        </p:txBody>
      </p:sp>
      <p:sp>
        <p:nvSpPr>
          <p:cNvPr id="8" name="Text 6"/>
          <p:cNvSpPr/>
          <p:nvPr/>
        </p:nvSpPr>
        <p:spPr>
          <a:xfrm>
            <a:off x="640080" y="3337560"/>
            <a:ext cx="9601200" cy="502920"/>
          </a:xfrm>
          <a:prstGeom prst="rect">
            <a:avLst/>
          </a:prstGeom>
          <a:noFill/>
          <a:ln/>
        </p:spPr>
        <p:txBody>
          <a:bodyPr wrap="square" rtlCol="0" anchor="ctr"/>
          <a:lstStyle/>
          <a:p>
            <a:pPr marL="0" indent="0">
              <a:buNone/>
            </a:pPr>
            <a:r>
              <a:rPr lang="en-US" sz="1700" dirty="0">
                <a:solidFill>
                  <a:srgbClr val="CADCFC"/>
                </a:solidFill>
                <a:latin typeface="Arial" pitchFamily="34" charset="0"/>
                <a:ea typeface="Arial" pitchFamily="34" charset="-122"/>
                <a:cs typeface="Arial" pitchFamily="34" charset="-120"/>
              </a:rPr>
              <a:t>Phân tích Dữ liệu Ecommerce &amp; Xây dựng Dashboard Power BI end-to-end</a:t>
            </a:r>
            <a:endParaRPr lang="en-US" sz="1700" dirty="0"/>
          </a:p>
        </p:txBody>
      </p:sp>
      <p:sp>
        <p:nvSpPr>
          <p:cNvPr id="9" name="Text 7"/>
          <p:cNvSpPr/>
          <p:nvPr/>
        </p:nvSpPr>
        <p:spPr>
          <a:xfrm>
            <a:off x="640080" y="3840480"/>
            <a:ext cx="9601200" cy="365760"/>
          </a:xfrm>
          <a:prstGeom prst="rect">
            <a:avLst/>
          </a:prstGeom>
          <a:noFill/>
          <a:ln/>
        </p:spPr>
        <p:txBody>
          <a:bodyPr wrap="square" rtlCol="0" anchor="ctr"/>
          <a:lstStyle/>
          <a:p>
            <a:pPr marL="0" indent="0">
              <a:buNone/>
            </a:pPr>
            <a:r>
              <a:rPr lang="en-US" sz="1250" i="1" dirty="0">
                <a:solidFill>
                  <a:srgbClr val="9AA9DA"/>
                </a:solidFill>
                <a:latin typeface="Arial" pitchFamily="34" charset="0"/>
                <a:ea typeface="Arial" pitchFamily="34" charset="-122"/>
                <a:cs typeface="Arial" pitchFamily="34" charset="-120"/>
              </a:rPr>
              <a:t>Từ 9 dataset thô (CSV) → BigQuery ETL → Star Schema → Dashboard tương tác 6 trang</a:t>
            </a:r>
            <a:endParaRPr lang="en-US" sz="1250" dirty="0"/>
          </a:p>
        </p:txBody>
      </p:sp>
      <p:sp>
        <p:nvSpPr>
          <p:cNvPr id="10" name="Shape 8"/>
          <p:cNvSpPr/>
          <p:nvPr/>
        </p:nvSpPr>
        <p:spPr>
          <a:xfrm>
            <a:off x="658368" y="4663440"/>
            <a:ext cx="2011680" cy="0"/>
          </a:xfrm>
          <a:prstGeom prst="line">
            <a:avLst/>
          </a:prstGeom>
          <a:noFill/>
          <a:ln w="31750">
            <a:solidFill>
              <a:srgbClr val="2E5EAA"/>
            </a:solidFill>
            <a:prstDash val="solid"/>
          </a:ln>
        </p:spPr>
      </p:sp>
      <p:sp>
        <p:nvSpPr>
          <p:cNvPr id="11" name="Text 9"/>
          <p:cNvSpPr/>
          <p:nvPr/>
        </p:nvSpPr>
        <p:spPr>
          <a:xfrm>
            <a:off x="640080" y="6035040"/>
            <a:ext cx="9601200" cy="365760"/>
          </a:xfrm>
          <a:prstGeom prst="rect">
            <a:avLst/>
          </a:prstGeom>
          <a:noFill/>
          <a:ln/>
        </p:spPr>
        <p:txBody>
          <a:bodyPr wrap="square" rtlCol="0" anchor="ctr"/>
          <a:lstStyle/>
          <a:p>
            <a:pPr marL="0" indent="0">
              <a:buNone/>
            </a:pPr>
            <a:r>
              <a:rPr lang="en-US" sz="1100" dirty="0">
                <a:solidFill>
                  <a:srgbClr val="8894C4"/>
                </a:solidFill>
                <a:latin typeface="Arial" pitchFamily="34" charset="0"/>
                <a:ea typeface="Arial" pitchFamily="34" charset="-122"/>
                <a:cs typeface="Arial" pitchFamily="34" charset="-120"/>
              </a:rPr>
              <a:t>Data Analyst Big Project  |  Nguồn dữ liệu: Olist Brazilian E-Commerce Public Dataset</a:t>
            </a:r>
            <a:endParaRPr lang="en-US" sz="1100"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20044" y="525780"/>
            <a:ext cx="1201396" cy="1201396"/>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640080" y="502920"/>
            <a:ext cx="9144000" cy="64008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NỘI DUNG TRÌNH BÀY</a:t>
            </a:r>
            <a:endParaRPr lang="en-US" sz="3000" dirty="0"/>
          </a:p>
        </p:txBody>
      </p:sp>
      <p:sp>
        <p:nvSpPr>
          <p:cNvPr id="3" name="Shape 1"/>
          <p:cNvSpPr/>
          <p:nvPr/>
        </p:nvSpPr>
        <p:spPr>
          <a:xfrm>
            <a:off x="731520" y="1554480"/>
            <a:ext cx="457200" cy="457200"/>
          </a:xfrm>
          <a:prstGeom prst="ellipse">
            <a:avLst/>
          </a:prstGeom>
          <a:solidFill>
            <a:srgbClr val="2E5EAA"/>
          </a:solidFill>
          <a:ln/>
        </p:spPr>
      </p:sp>
      <p:sp>
        <p:nvSpPr>
          <p:cNvPr id="4" name="Text 2"/>
          <p:cNvSpPr/>
          <p:nvPr/>
        </p:nvSpPr>
        <p:spPr>
          <a:xfrm>
            <a:off x="731520" y="1554480"/>
            <a:ext cx="457200" cy="45720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01</a:t>
            </a:r>
            <a:endParaRPr lang="en-US" sz="1300" dirty="0"/>
          </a:p>
        </p:txBody>
      </p:sp>
      <p:sp>
        <p:nvSpPr>
          <p:cNvPr id="5" name="Text 3"/>
          <p:cNvSpPr/>
          <p:nvPr/>
        </p:nvSpPr>
        <p:spPr>
          <a:xfrm>
            <a:off x="1417320" y="1527048"/>
            <a:ext cx="8686800" cy="512064"/>
          </a:xfrm>
          <a:prstGeom prst="rect">
            <a:avLst/>
          </a:prstGeom>
          <a:noFill/>
          <a:ln/>
        </p:spPr>
        <p:txBody>
          <a:bodyPr wrap="square" rtlCol="0" anchor="ctr"/>
          <a:lstStyle/>
          <a:p>
            <a:pPr marL="0" indent="0">
              <a:buNone/>
            </a:pPr>
            <a:r>
              <a:rPr lang="en-US" sz="1600" dirty="0">
                <a:solidFill>
                  <a:srgbClr val="FFFFFF"/>
                </a:solidFill>
                <a:latin typeface="Arial" pitchFamily="34" charset="0"/>
                <a:ea typeface="Arial" pitchFamily="34" charset="-122"/>
                <a:cs typeface="Arial" pitchFamily="34" charset="-120"/>
              </a:rPr>
              <a:t>Bài toán &amp; Mục tiêu dự án</a:t>
            </a:r>
            <a:endParaRPr lang="en-US" sz="1600" dirty="0"/>
          </a:p>
        </p:txBody>
      </p:sp>
      <p:sp>
        <p:nvSpPr>
          <p:cNvPr id="6" name="Shape 4"/>
          <p:cNvSpPr/>
          <p:nvPr/>
        </p:nvSpPr>
        <p:spPr>
          <a:xfrm>
            <a:off x="731520" y="2176272"/>
            <a:ext cx="457200" cy="457200"/>
          </a:xfrm>
          <a:prstGeom prst="ellipse">
            <a:avLst/>
          </a:prstGeom>
          <a:solidFill>
            <a:srgbClr val="2E5EAA"/>
          </a:solidFill>
          <a:ln/>
        </p:spPr>
      </p:sp>
      <p:sp>
        <p:nvSpPr>
          <p:cNvPr id="7" name="Text 5"/>
          <p:cNvSpPr/>
          <p:nvPr/>
        </p:nvSpPr>
        <p:spPr>
          <a:xfrm>
            <a:off x="731520" y="2176272"/>
            <a:ext cx="457200" cy="45720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02</a:t>
            </a:r>
            <a:endParaRPr lang="en-US" sz="1300" dirty="0"/>
          </a:p>
        </p:txBody>
      </p:sp>
      <p:sp>
        <p:nvSpPr>
          <p:cNvPr id="8" name="Text 6"/>
          <p:cNvSpPr/>
          <p:nvPr/>
        </p:nvSpPr>
        <p:spPr>
          <a:xfrm>
            <a:off x="1417320" y="2148840"/>
            <a:ext cx="8686800" cy="512064"/>
          </a:xfrm>
          <a:prstGeom prst="rect">
            <a:avLst/>
          </a:prstGeom>
          <a:noFill/>
          <a:ln/>
        </p:spPr>
        <p:txBody>
          <a:bodyPr wrap="square" rtlCol="0" anchor="ctr"/>
          <a:lstStyle/>
          <a:p>
            <a:pPr marL="0" indent="0">
              <a:buNone/>
            </a:pPr>
            <a:r>
              <a:rPr lang="en-US" sz="1600" dirty="0">
                <a:solidFill>
                  <a:srgbClr val="FFFFFF"/>
                </a:solidFill>
                <a:latin typeface="Arial" pitchFamily="34" charset="0"/>
                <a:ea typeface="Arial" pitchFamily="34" charset="-122"/>
                <a:cs typeface="Arial" pitchFamily="34" charset="-120"/>
              </a:rPr>
              <a:t>Dữ liệu &amp; Phương pháp thực hiện</a:t>
            </a:r>
            <a:endParaRPr lang="en-US" sz="1600" dirty="0"/>
          </a:p>
        </p:txBody>
      </p:sp>
      <p:sp>
        <p:nvSpPr>
          <p:cNvPr id="9" name="Shape 7"/>
          <p:cNvSpPr/>
          <p:nvPr/>
        </p:nvSpPr>
        <p:spPr>
          <a:xfrm>
            <a:off x="731520" y="2798064"/>
            <a:ext cx="457200" cy="457200"/>
          </a:xfrm>
          <a:prstGeom prst="ellipse">
            <a:avLst/>
          </a:prstGeom>
          <a:solidFill>
            <a:srgbClr val="2E5EAA"/>
          </a:solidFill>
          <a:ln/>
        </p:spPr>
      </p:sp>
      <p:sp>
        <p:nvSpPr>
          <p:cNvPr id="10" name="Text 8"/>
          <p:cNvSpPr/>
          <p:nvPr/>
        </p:nvSpPr>
        <p:spPr>
          <a:xfrm>
            <a:off x="731520" y="2798064"/>
            <a:ext cx="457200" cy="45720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03</a:t>
            </a:r>
            <a:endParaRPr lang="en-US" sz="1300" dirty="0"/>
          </a:p>
        </p:txBody>
      </p:sp>
      <p:sp>
        <p:nvSpPr>
          <p:cNvPr id="11" name="Text 9"/>
          <p:cNvSpPr/>
          <p:nvPr/>
        </p:nvSpPr>
        <p:spPr>
          <a:xfrm>
            <a:off x="1417320" y="2770632"/>
            <a:ext cx="8686800" cy="512064"/>
          </a:xfrm>
          <a:prstGeom prst="rect">
            <a:avLst/>
          </a:prstGeom>
          <a:noFill/>
          <a:ln/>
        </p:spPr>
        <p:txBody>
          <a:bodyPr wrap="square" rtlCol="0" anchor="ctr"/>
          <a:lstStyle/>
          <a:p>
            <a:pPr marL="0" indent="0">
              <a:buNone/>
            </a:pPr>
            <a:r>
              <a:rPr lang="en-US" sz="1600" dirty="0">
                <a:solidFill>
                  <a:srgbClr val="FFFFFF"/>
                </a:solidFill>
                <a:latin typeface="Arial" pitchFamily="34" charset="0"/>
                <a:ea typeface="Arial" pitchFamily="34" charset="-122"/>
                <a:cs typeface="Arial" pitchFamily="34" charset="-120"/>
              </a:rPr>
              <a:t>Mô hình dữ liệu (Star Schema)</a:t>
            </a:r>
            <a:endParaRPr lang="en-US" sz="1600" dirty="0"/>
          </a:p>
        </p:txBody>
      </p:sp>
      <p:sp>
        <p:nvSpPr>
          <p:cNvPr id="12" name="Shape 10"/>
          <p:cNvSpPr/>
          <p:nvPr/>
        </p:nvSpPr>
        <p:spPr>
          <a:xfrm>
            <a:off x="731520" y="3419856"/>
            <a:ext cx="457200" cy="457200"/>
          </a:xfrm>
          <a:prstGeom prst="ellipse">
            <a:avLst/>
          </a:prstGeom>
          <a:solidFill>
            <a:srgbClr val="2E5EAA"/>
          </a:solidFill>
          <a:ln/>
        </p:spPr>
      </p:sp>
      <p:sp>
        <p:nvSpPr>
          <p:cNvPr id="13" name="Text 11"/>
          <p:cNvSpPr/>
          <p:nvPr/>
        </p:nvSpPr>
        <p:spPr>
          <a:xfrm>
            <a:off x="731520" y="3419856"/>
            <a:ext cx="457200" cy="45720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04</a:t>
            </a:r>
            <a:endParaRPr lang="en-US" sz="1300" dirty="0"/>
          </a:p>
        </p:txBody>
      </p:sp>
      <p:sp>
        <p:nvSpPr>
          <p:cNvPr id="14" name="Text 12"/>
          <p:cNvSpPr/>
          <p:nvPr/>
        </p:nvSpPr>
        <p:spPr>
          <a:xfrm>
            <a:off x="1417320" y="3392424"/>
            <a:ext cx="8686800" cy="512064"/>
          </a:xfrm>
          <a:prstGeom prst="rect">
            <a:avLst/>
          </a:prstGeom>
          <a:noFill/>
          <a:ln/>
        </p:spPr>
        <p:txBody>
          <a:bodyPr wrap="square" rtlCol="0" anchor="ctr"/>
          <a:lstStyle/>
          <a:p>
            <a:pPr marL="0" indent="0">
              <a:buNone/>
            </a:pPr>
            <a:r>
              <a:rPr lang="en-US" sz="1600" dirty="0">
                <a:solidFill>
                  <a:srgbClr val="FFFFFF"/>
                </a:solidFill>
                <a:latin typeface="Arial" pitchFamily="34" charset="0"/>
                <a:ea typeface="Arial" pitchFamily="34" charset="-122"/>
                <a:cs typeface="Arial" pitchFamily="34" charset="-120"/>
              </a:rPr>
              <a:t>Dashboard Power BI — 6 trang phân tích</a:t>
            </a:r>
            <a:endParaRPr lang="en-US" sz="1600" dirty="0"/>
          </a:p>
        </p:txBody>
      </p:sp>
      <p:sp>
        <p:nvSpPr>
          <p:cNvPr id="15" name="Shape 13"/>
          <p:cNvSpPr/>
          <p:nvPr/>
        </p:nvSpPr>
        <p:spPr>
          <a:xfrm>
            <a:off x="731520" y="4041648"/>
            <a:ext cx="457200" cy="457200"/>
          </a:xfrm>
          <a:prstGeom prst="ellipse">
            <a:avLst/>
          </a:prstGeom>
          <a:solidFill>
            <a:srgbClr val="2E5EAA"/>
          </a:solidFill>
          <a:ln/>
        </p:spPr>
      </p:sp>
      <p:sp>
        <p:nvSpPr>
          <p:cNvPr id="16" name="Text 14"/>
          <p:cNvSpPr/>
          <p:nvPr/>
        </p:nvSpPr>
        <p:spPr>
          <a:xfrm>
            <a:off x="731520" y="4041648"/>
            <a:ext cx="457200" cy="45720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05</a:t>
            </a:r>
            <a:endParaRPr lang="en-US" sz="1300" dirty="0"/>
          </a:p>
        </p:txBody>
      </p:sp>
      <p:sp>
        <p:nvSpPr>
          <p:cNvPr id="17" name="Text 15"/>
          <p:cNvSpPr/>
          <p:nvPr/>
        </p:nvSpPr>
        <p:spPr>
          <a:xfrm>
            <a:off x="1417320" y="4014216"/>
            <a:ext cx="8686800" cy="512064"/>
          </a:xfrm>
          <a:prstGeom prst="rect">
            <a:avLst/>
          </a:prstGeom>
          <a:noFill/>
          <a:ln/>
        </p:spPr>
        <p:txBody>
          <a:bodyPr wrap="square" rtlCol="0" anchor="ctr"/>
          <a:lstStyle/>
          <a:p>
            <a:pPr marL="0" indent="0">
              <a:buNone/>
            </a:pPr>
            <a:r>
              <a:rPr lang="en-US" sz="1600" dirty="0">
                <a:solidFill>
                  <a:srgbClr val="FFFFFF"/>
                </a:solidFill>
                <a:latin typeface="Arial" pitchFamily="34" charset="0"/>
                <a:ea typeface="Arial" pitchFamily="34" charset="-122"/>
                <a:cs typeface="Arial" pitchFamily="34" charset="-120"/>
              </a:rPr>
              <a:t>Insight trọng tâm &amp; bằng chứng số liệu</a:t>
            </a:r>
            <a:endParaRPr lang="en-US" sz="1600" dirty="0"/>
          </a:p>
        </p:txBody>
      </p:sp>
      <p:sp>
        <p:nvSpPr>
          <p:cNvPr id="18" name="Shape 16"/>
          <p:cNvSpPr/>
          <p:nvPr/>
        </p:nvSpPr>
        <p:spPr>
          <a:xfrm>
            <a:off x="731520" y="4663440"/>
            <a:ext cx="457200" cy="457200"/>
          </a:xfrm>
          <a:prstGeom prst="ellipse">
            <a:avLst/>
          </a:prstGeom>
          <a:solidFill>
            <a:srgbClr val="2E5EAA"/>
          </a:solidFill>
          <a:ln/>
        </p:spPr>
      </p:sp>
      <p:sp>
        <p:nvSpPr>
          <p:cNvPr id="19" name="Text 17"/>
          <p:cNvSpPr/>
          <p:nvPr/>
        </p:nvSpPr>
        <p:spPr>
          <a:xfrm>
            <a:off x="731520" y="4663440"/>
            <a:ext cx="457200" cy="45720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06</a:t>
            </a:r>
            <a:endParaRPr lang="en-US" sz="1300" dirty="0"/>
          </a:p>
        </p:txBody>
      </p:sp>
      <p:sp>
        <p:nvSpPr>
          <p:cNvPr id="20" name="Text 18"/>
          <p:cNvSpPr/>
          <p:nvPr/>
        </p:nvSpPr>
        <p:spPr>
          <a:xfrm>
            <a:off x="1417320" y="4636008"/>
            <a:ext cx="8686800" cy="512064"/>
          </a:xfrm>
          <a:prstGeom prst="rect">
            <a:avLst/>
          </a:prstGeom>
          <a:noFill/>
          <a:ln/>
        </p:spPr>
        <p:txBody>
          <a:bodyPr wrap="square" rtlCol="0" anchor="ctr"/>
          <a:lstStyle/>
          <a:p>
            <a:pPr marL="0" indent="0">
              <a:buNone/>
            </a:pPr>
            <a:r>
              <a:rPr lang="en-US" sz="1600" dirty="0">
                <a:solidFill>
                  <a:srgbClr val="FFFFFF"/>
                </a:solidFill>
                <a:latin typeface="Arial" pitchFamily="34" charset="0"/>
                <a:ea typeface="Arial" pitchFamily="34" charset="-122"/>
                <a:cs typeface="Arial" pitchFamily="34" charset="-120"/>
              </a:rPr>
              <a:t>Hạn chế của phân tích</a:t>
            </a:r>
            <a:endParaRPr lang="en-US" sz="1600" dirty="0"/>
          </a:p>
        </p:txBody>
      </p:sp>
      <p:sp>
        <p:nvSpPr>
          <p:cNvPr id="21" name="Shape 19"/>
          <p:cNvSpPr/>
          <p:nvPr/>
        </p:nvSpPr>
        <p:spPr>
          <a:xfrm>
            <a:off x="731520" y="5285232"/>
            <a:ext cx="457200" cy="457200"/>
          </a:xfrm>
          <a:prstGeom prst="ellipse">
            <a:avLst/>
          </a:prstGeom>
          <a:solidFill>
            <a:srgbClr val="2E5EAA"/>
          </a:solidFill>
          <a:ln/>
        </p:spPr>
      </p:sp>
      <p:sp>
        <p:nvSpPr>
          <p:cNvPr id="22" name="Text 20"/>
          <p:cNvSpPr/>
          <p:nvPr/>
        </p:nvSpPr>
        <p:spPr>
          <a:xfrm>
            <a:off x="731520" y="5285232"/>
            <a:ext cx="457200" cy="45720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07</a:t>
            </a:r>
            <a:endParaRPr lang="en-US" sz="1300" dirty="0"/>
          </a:p>
        </p:txBody>
      </p:sp>
      <p:sp>
        <p:nvSpPr>
          <p:cNvPr id="23" name="Text 21"/>
          <p:cNvSpPr/>
          <p:nvPr/>
        </p:nvSpPr>
        <p:spPr>
          <a:xfrm>
            <a:off x="1417320" y="5257800"/>
            <a:ext cx="8686800" cy="512064"/>
          </a:xfrm>
          <a:prstGeom prst="rect">
            <a:avLst/>
          </a:prstGeom>
          <a:noFill/>
          <a:ln/>
        </p:spPr>
        <p:txBody>
          <a:bodyPr wrap="square" rtlCol="0" anchor="ctr"/>
          <a:lstStyle/>
          <a:p>
            <a:pPr marL="0" indent="0">
              <a:buNone/>
            </a:pPr>
            <a:r>
              <a:rPr lang="en-US" sz="1600" dirty="0">
                <a:solidFill>
                  <a:srgbClr val="FFFFFF"/>
                </a:solidFill>
                <a:latin typeface="Arial" pitchFamily="34" charset="0"/>
                <a:ea typeface="Arial" pitchFamily="34" charset="-122"/>
                <a:cs typeface="Arial" pitchFamily="34" charset="-120"/>
              </a:rPr>
              <a:t>Đề xuất hành động theo phòng ban</a:t>
            </a:r>
            <a:endParaRPr lang="en-US" sz="1600" dirty="0"/>
          </a:p>
        </p:txBody>
      </p:sp>
      <p:sp>
        <p:nvSpPr>
          <p:cNvPr id="24" name="Text 22"/>
          <p:cNvSpPr/>
          <p:nvPr/>
        </p:nvSpPr>
        <p:spPr>
          <a:xfrm>
            <a:off x="457200" y="6473952"/>
            <a:ext cx="5486400" cy="274320"/>
          </a:xfrm>
          <a:prstGeom prst="rect">
            <a:avLst/>
          </a:prstGeom>
          <a:noFill/>
          <a:ln/>
        </p:spPr>
        <p:txBody>
          <a:bodyPr wrap="square" rtlCol="0" anchor="ctr"/>
          <a:lstStyle/>
          <a:p>
            <a:pPr marL="0" indent="0" algn="l">
              <a:buNone/>
            </a:pPr>
            <a:r>
              <a:rPr lang="en-US" sz="900" dirty="0">
                <a:solidFill>
                  <a:srgbClr val="8894C4"/>
                </a:solidFill>
                <a:latin typeface="Arial" pitchFamily="34" charset="0"/>
                <a:ea typeface="Arial" pitchFamily="34" charset="-122"/>
                <a:cs typeface="Arial" pitchFamily="34" charset="-120"/>
              </a:rPr>
              <a:t>OLIST ECOMMERCE ANALYTICS</a:t>
            </a:r>
            <a:endParaRPr lang="en-US" sz="900" dirty="0"/>
          </a:p>
        </p:txBody>
      </p:sp>
      <p:sp>
        <p:nvSpPr>
          <p:cNvPr id="25" name="Text 23"/>
          <p:cNvSpPr/>
          <p:nvPr/>
        </p:nvSpPr>
        <p:spPr>
          <a:xfrm>
            <a:off x="8074152" y="6473952"/>
            <a:ext cx="3657600" cy="274320"/>
          </a:xfrm>
          <a:prstGeom prst="rect">
            <a:avLst/>
          </a:prstGeom>
          <a:noFill/>
          <a:ln/>
        </p:spPr>
        <p:txBody>
          <a:bodyPr wrap="square" rtlCol="0" anchor="ctr"/>
          <a:lstStyle/>
          <a:p>
            <a:pPr marL="0" indent="0" algn="r">
              <a:buNone/>
            </a:pPr>
            <a:r>
              <a:rPr lang="en-US" sz="900" dirty="0">
                <a:solidFill>
                  <a:srgbClr val="8894C4"/>
                </a:solidFill>
                <a:latin typeface="Arial" pitchFamily="34" charset="0"/>
                <a:ea typeface="Arial" pitchFamily="34" charset="-122"/>
                <a:cs typeface="Arial" pitchFamily="34" charset="-120"/>
              </a:rPr>
              <a:t>02</a:t>
            </a:r>
            <a:endParaRPr lang="en-US" sz="900" dirty="0"/>
          </a:p>
        </p:txBody>
      </p:sp>
      <p:pic>
        <p:nvPicPr>
          <p:cNvPr id="26" name="Picture 2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30356" y="222262"/>
            <a:ext cx="1201396" cy="1201396"/>
          </a:xfrm>
          <a:prstGeom prst="rect">
            <a:avLst/>
          </a:prstGeom>
        </p:spPr>
      </p:pic>
    </p:spTree>
  </p:cSld>
  <p:clrMapOvr>
    <a:masterClrMapping/>
  </p:clrMapOvr>
  <p:transition spd="slow">
    <p:push dir="u"/>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C"/>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Bài toán &amp; Mục tiêu dự án</a:t>
            </a:r>
            <a:endParaRPr lang="en-US" sz="3000" dirty="0"/>
          </a:p>
        </p:txBody>
      </p:sp>
      <p:sp>
        <p:nvSpPr>
          <p:cNvPr id="3" name="Shape 1"/>
          <p:cNvSpPr/>
          <p:nvPr/>
        </p:nvSpPr>
        <p:spPr>
          <a:xfrm>
            <a:off x="548640" y="1234440"/>
            <a:ext cx="5394960" cy="4892040"/>
          </a:xfrm>
          <a:prstGeom prst="roundRect">
            <a:avLst>
              <a:gd name="adj" fmla="val 1121"/>
            </a:avLst>
          </a:prstGeom>
          <a:solidFill>
            <a:srgbClr val="1E2761"/>
          </a:solidFill>
          <a:ln/>
        </p:spPr>
      </p:sp>
      <p:sp>
        <p:nvSpPr>
          <p:cNvPr id="4" name="Text 2"/>
          <p:cNvSpPr/>
          <p:nvPr/>
        </p:nvSpPr>
        <p:spPr>
          <a:xfrm>
            <a:off x="868680" y="1508760"/>
            <a:ext cx="4754880" cy="320040"/>
          </a:xfrm>
          <a:prstGeom prst="rect">
            <a:avLst/>
          </a:prstGeom>
          <a:noFill/>
          <a:ln/>
        </p:spPr>
        <p:txBody>
          <a:bodyPr wrap="square" rtlCol="0" anchor="ctr"/>
          <a:lstStyle/>
          <a:p>
            <a:pPr marL="0" indent="0">
              <a:buNone/>
            </a:pPr>
            <a:r>
              <a:rPr lang="en-US" sz="1200" b="1" dirty="0">
                <a:solidFill>
                  <a:srgbClr val="CADCFC"/>
                </a:solidFill>
                <a:latin typeface="Arial" pitchFamily="34" charset="0"/>
                <a:ea typeface="Arial" pitchFamily="34" charset="-122"/>
                <a:cs typeface="Arial" pitchFamily="34" charset="-120"/>
              </a:rPr>
              <a:t>VẤN ĐỀ CẦN GIẢI QUYẾT</a:t>
            </a:r>
            <a:endParaRPr lang="en-US" sz="1200" dirty="0"/>
          </a:p>
        </p:txBody>
      </p:sp>
      <p:sp>
        <p:nvSpPr>
          <p:cNvPr id="5" name="Text 3"/>
          <p:cNvSpPr/>
          <p:nvPr/>
        </p:nvSpPr>
        <p:spPr>
          <a:xfrm>
            <a:off x="868680" y="1920240"/>
            <a:ext cx="4754880" cy="1554480"/>
          </a:xfrm>
          <a:prstGeom prst="rect">
            <a:avLst/>
          </a:prstGeom>
          <a:noFill/>
          <a:ln/>
        </p:spPr>
        <p:txBody>
          <a:bodyPr wrap="square" rtlCol="0" anchor="ctr"/>
          <a:lstStyle/>
          <a:p>
            <a:pPr marL="0" indent="0">
              <a:lnSpc>
                <a:spcPct val="125000"/>
              </a:lnSpc>
              <a:buNone/>
            </a:pPr>
            <a:r>
              <a:rPr lang="en-US" sz="1600" i="1" dirty="0">
                <a:solidFill>
                  <a:srgbClr val="FFFFFF"/>
                </a:solidFill>
                <a:latin typeface="Cambria" pitchFamily="34" charset="0"/>
                <a:ea typeface="Cambria" pitchFamily="34" charset="-122"/>
                <a:cs typeface="Cambria" pitchFamily="34" charset="-120"/>
              </a:rPr>
              <a:t>“Điều gì đang thực sự diễn ra trên sàn Olist, và đâu là những vấn đề then chốt ảnh hưởng đến doanh thu cũng như sự hài lòng của khách hàng — để từ đó đề xuất hành động cải thiện cụ thể cho từng bộ phận?”</a:t>
            </a:r>
            <a:endParaRPr lang="en-US" sz="1600" dirty="0"/>
          </a:p>
        </p:txBody>
      </p:sp>
      <p:sp>
        <p:nvSpPr>
          <p:cNvPr id="6" name="Shape 4"/>
          <p:cNvSpPr/>
          <p:nvPr/>
        </p:nvSpPr>
        <p:spPr>
          <a:xfrm>
            <a:off x="868680" y="3611880"/>
            <a:ext cx="4754880" cy="0"/>
          </a:xfrm>
          <a:prstGeom prst="line">
            <a:avLst/>
          </a:prstGeom>
          <a:noFill/>
          <a:ln w="12700">
            <a:solidFill>
              <a:srgbClr val="3A4A8C"/>
            </a:solidFill>
            <a:prstDash val="solid"/>
          </a:ln>
        </p:spPr>
      </p:sp>
      <p:sp>
        <p:nvSpPr>
          <p:cNvPr id="7" name="Text 5"/>
          <p:cNvSpPr/>
          <p:nvPr/>
        </p:nvSpPr>
        <p:spPr>
          <a:xfrm>
            <a:off x="868680" y="3840480"/>
            <a:ext cx="4754880" cy="2011680"/>
          </a:xfrm>
          <a:prstGeom prst="rect">
            <a:avLst/>
          </a:prstGeom>
          <a:noFill/>
          <a:ln/>
        </p:spPr>
        <p:txBody>
          <a:bodyPr wrap="square" rtlCol="0" anchor="ctr"/>
          <a:lstStyle/>
          <a:p>
            <a:pPr marL="0" indent="0">
              <a:lnSpc>
                <a:spcPct val="130000"/>
              </a:lnSpc>
              <a:buNone/>
            </a:pPr>
            <a:r>
              <a:rPr lang="en-US" sz="1250" dirty="0">
                <a:solidFill>
                  <a:srgbClr val="CADCFC"/>
                </a:solidFill>
                <a:latin typeface="Arial" pitchFamily="34" charset="0"/>
                <a:ea typeface="Arial" pitchFamily="34" charset="-122"/>
                <a:cs typeface="Arial" pitchFamily="34" charset="-120"/>
              </a:rPr>
              <a:t>Dữ liệu công khai Olist: ~100.000 đơn hàng, giai đoạn 09/2016 – 10/2018, gồm 9 dataset CSV thô, chưa mô hình hóa, chưa có công cụ trực quan hóa.</a:t>
            </a:r>
            <a:endParaRPr lang="en-US" sz="1250" dirty="0"/>
          </a:p>
        </p:txBody>
      </p:sp>
      <p:sp>
        <p:nvSpPr>
          <p:cNvPr id="8" name="Shape 6"/>
          <p:cNvSpPr/>
          <p:nvPr/>
        </p:nvSpPr>
        <p:spPr>
          <a:xfrm>
            <a:off x="6263640" y="1234440"/>
            <a:ext cx="5394960" cy="1051560"/>
          </a:xfrm>
          <a:prstGeom prst="roundRect">
            <a:avLst>
              <a:gd name="adj" fmla="val 5217"/>
            </a:avLst>
          </a:prstGeom>
          <a:solidFill>
            <a:srgbClr val="FFFFFF"/>
          </a:solidFill>
          <a:ln w="12700">
            <a:solidFill>
              <a:srgbClr val="E9ECF5"/>
            </a:solidFill>
            <a:prstDash val="solid"/>
          </a:ln>
          <a:effectLst>
            <a:outerShdw blurRad="63500" dist="25400" dir="5400000" algn="bl" rotWithShape="0">
              <a:srgbClr val="1E2761">
                <a:alpha val="10000"/>
              </a:srgbClr>
            </a:outerShdw>
          </a:effectLst>
        </p:spPr>
      </p:sp>
      <p:sp>
        <p:nvSpPr>
          <p:cNvPr id="9" name="Shape 7"/>
          <p:cNvSpPr/>
          <p:nvPr/>
        </p:nvSpPr>
        <p:spPr>
          <a:xfrm>
            <a:off x="6492240" y="1527048"/>
            <a:ext cx="457200" cy="457200"/>
          </a:xfrm>
          <a:prstGeom prst="ellipse">
            <a:avLst/>
          </a:prstGeom>
          <a:solidFill>
            <a:srgbClr val="E8590C"/>
          </a:solidFill>
          <a:ln/>
        </p:spPr>
      </p:sp>
      <p:sp>
        <p:nvSpPr>
          <p:cNvPr id="10" name="Text 8"/>
          <p:cNvSpPr/>
          <p:nvPr/>
        </p:nvSpPr>
        <p:spPr>
          <a:xfrm>
            <a:off x="6492240" y="1527048"/>
            <a:ext cx="457200" cy="45720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1" name="Text 9"/>
          <p:cNvSpPr/>
          <p:nvPr/>
        </p:nvSpPr>
        <p:spPr>
          <a:xfrm>
            <a:off x="7178040" y="1344168"/>
            <a:ext cx="4343400" cy="822960"/>
          </a:xfrm>
          <a:prstGeom prst="rect">
            <a:avLst/>
          </a:prstGeom>
          <a:noFill/>
          <a:ln/>
        </p:spPr>
        <p:txBody>
          <a:bodyPr wrap="square" rtlCol="0" anchor="ctr"/>
          <a:lstStyle/>
          <a:p>
            <a:pPr marL="0" indent="0">
              <a:lnSpc>
                <a:spcPct val="115000"/>
              </a:lnSpc>
              <a:buNone/>
            </a:pPr>
            <a:r>
              <a:rPr lang="en-US" sz="1250" dirty="0">
                <a:solidFill>
                  <a:srgbClr val="2A2E3F"/>
                </a:solidFill>
                <a:latin typeface="Arial" pitchFamily="34" charset="0"/>
                <a:ea typeface="Arial" pitchFamily="34" charset="-122"/>
                <a:cs typeface="Arial" pitchFamily="34" charset="-120"/>
              </a:rPr>
              <a:t>Xây dựng Data Pipeline hoàn chỉnh: CSV → BigQuery → Star Schema</a:t>
            </a:r>
            <a:endParaRPr lang="en-US" sz="1250" dirty="0"/>
          </a:p>
        </p:txBody>
      </p:sp>
      <p:sp>
        <p:nvSpPr>
          <p:cNvPr id="12" name="Shape 10"/>
          <p:cNvSpPr/>
          <p:nvPr/>
        </p:nvSpPr>
        <p:spPr>
          <a:xfrm>
            <a:off x="6263640" y="2496312"/>
            <a:ext cx="5394960" cy="1051560"/>
          </a:xfrm>
          <a:prstGeom prst="roundRect">
            <a:avLst>
              <a:gd name="adj" fmla="val 5217"/>
            </a:avLst>
          </a:prstGeom>
          <a:solidFill>
            <a:srgbClr val="FFFFFF"/>
          </a:solidFill>
          <a:ln w="12700">
            <a:solidFill>
              <a:srgbClr val="E9ECF5"/>
            </a:solidFill>
            <a:prstDash val="solid"/>
          </a:ln>
          <a:effectLst>
            <a:outerShdw blurRad="63500" dist="25400" dir="5400000" algn="bl" rotWithShape="0">
              <a:srgbClr val="1E2761">
                <a:alpha val="10000"/>
              </a:srgbClr>
            </a:outerShdw>
          </a:effectLst>
        </p:spPr>
      </p:sp>
      <p:sp>
        <p:nvSpPr>
          <p:cNvPr id="13" name="Shape 11"/>
          <p:cNvSpPr/>
          <p:nvPr/>
        </p:nvSpPr>
        <p:spPr>
          <a:xfrm>
            <a:off x="6492240" y="2788920"/>
            <a:ext cx="457200" cy="457200"/>
          </a:xfrm>
          <a:prstGeom prst="ellipse">
            <a:avLst/>
          </a:prstGeom>
          <a:solidFill>
            <a:srgbClr val="E8590C"/>
          </a:solidFill>
          <a:ln/>
        </p:spPr>
      </p:sp>
      <p:sp>
        <p:nvSpPr>
          <p:cNvPr id="14" name="Text 12"/>
          <p:cNvSpPr/>
          <p:nvPr/>
        </p:nvSpPr>
        <p:spPr>
          <a:xfrm>
            <a:off x="6492240" y="2788920"/>
            <a:ext cx="457200" cy="45720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5" name="Text 13"/>
          <p:cNvSpPr/>
          <p:nvPr/>
        </p:nvSpPr>
        <p:spPr>
          <a:xfrm>
            <a:off x="7178040" y="2606040"/>
            <a:ext cx="4343400" cy="822960"/>
          </a:xfrm>
          <a:prstGeom prst="rect">
            <a:avLst/>
          </a:prstGeom>
          <a:noFill/>
          <a:ln/>
        </p:spPr>
        <p:txBody>
          <a:bodyPr wrap="square" rtlCol="0" anchor="ctr"/>
          <a:lstStyle/>
          <a:p>
            <a:pPr marL="0" indent="0">
              <a:lnSpc>
                <a:spcPct val="115000"/>
              </a:lnSpc>
              <a:buNone/>
            </a:pPr>
            <a:r>
              <a:rPr lang="en-US" sz="1250" dirty="0" err="1" smtClean="0">
                <a:solidFill>
                  <a:srgbClr val="2A2E3F"/>
                </a:solidFill>
                <a:latin typeface="Arial" pitchFamily="34" charset="0"/>
                <a:ea typeface="Arial" pitchFamily="34" charset="-122"/>
                <a:cs typeface="Arial" pitchFamily="34" charset="-120"/>
              </a:rPr>
              <a:t>Xây</a:t>
            </a:r>
            <a:r>
              <a:rPr lang="en-US" sz="1250" dirty="0" smtClean="0">
                <a:solidFill>
                  <a:srgbClr val="2A2E3F"/>
                </a:solidFill>
                <a:latin typeface="Arial" pitchFamily="34" charset="0"/>
                <a:ea typeface="Arial" pitchFamily="34" charset="-122"/>
                <a:cs typeface="Arial" pitchFamily="34" charset="-120"/>
              </a:rPr>
              <a:t> </a:t>
            </a:r>
            <a:r>
              <a:rPr lang="en-US" sz="1250" dirty="0" err="1" smtClean="0">
                <a:solidFill>
                  <a:srgbClr val="2A2E3F"/>
                </a:solidFill>
                <a:latin typeface="Arial" pitchFamily="34" charset="0"/>
                <a:ea typeface="Arial" pitchFamily="34" charset="-122"/>
                <a:cs typeface="Arial" pitchFamily="34" charset="-120"/>
              </a:rPr>
              <a:t>dựng</a:t>
            </a:r>
            <a:r>
              <a:rPr lang="en-US" sz="1250" dirty="0" smtClean="0">
                <a:solidFill>
                  <a:srgbClr val="2A2E3F"/>
                </a:solidFill>
                <a:latin typeface="Arial" pitchFamily="34" charset="0"/>
                <a:ea typeface="Arial" pitchFamily="34" charset="-122"/>
                <a:cs typeface="Arial" pitchFamily="34" charset="-120"/>
              </a:rPr>
              <a:t> </a:t>
            </a:r>
            <a:r>
              <a:rPr lang="en-US" sz="1250" dirty="0">
                <a:solidFill>
                  <a:srgbClr val="2A2E3F"/>
                </a:solidFill>
                <a:latin typeface="Arial" pitchFamily="34" charset="0"/>
                <a:ea typeface="Arial" pitchFamily="34" charset="-122"/>
                <a:cs typeface="Arial" pitchFamily="34" charset="-120"/>
              </a:rPr>
              <a:t>Dashboard 6 trang trả lời đầy đủ câu hỏi kinh doanh cốt lõi</a:t>
            </a:r>
            <a:endParaRPr lang="en-US" sz="1250" dirty="0"/>
          </a:p>
        </p:txBody>
      </p:sp>
      <p:sp>
        <p:nvSpPr>
          <p:cNvPr id="16" name="Shape 14"/>
          <p:cNvSpPr/>
          <p:nvPr/>
        </p:nvSpPr>
        <p:spPr>
          <a:xfrm>
            <a:off x="6263640" y="3758184"/>
            <a:ext cx="5394960" cy="1051560"/>
          </a:xfrm>
          <a:prstGeom prst="roundRect">
            <a:avLst>
              <a:gd name="adj" fmla="val 5217"/>
            </a:avLst>
          </a:prstGeom>
          <a:solidFill>
            <a:srgbClr val="FFFFFF"/>
          </a:solidFill>
          <a:ln w="12700">
            <a:solidFill>
              <a:srgbClr val="E9ECF5"/>
            </a:solidFill>
            <a:prstDash val="solid"/>
          </a:ln>
          <a:effectLst>
            <a:outerShdw blurRad="63500" dist="25400" dir="5400000" algn="bl" rotWithShape="0">
              <a:srgbClr val="1E2761">
                <a:alpha val="10000"/>
              </a:srgbClr>
            </a:outerShdw>
          </a:effectLst>
        </p:spPr>
      </p:sp>
      <p:sp>
        <p:nvSpPr>
          <p:cNvPr id="17" name="Shape 15"/>
          <p:cNvSpPr/>
          <p:nvPr/>
        </p:nvSpPr>
        <p:spPr>
          <a:xfrm>
            <a:off x="6492240" y="4050792"/>
            <a:ext cx="457200" cy="457200"/>
          </a:xfrm>
          <a:prstGeom prst="ellipse">
            <a:avLst/>
          </a:prstGeom>
          <a:solidFill>
            <a:srgbClr val="E8590C"/>
          </a:solidFill>
          <a:ln/>
        </p:spPr>
      </p:sp>
      <p:sp>
        <p:nvSpPr>
          <p:cNvPr id="18" name="Text 16"/>
          <p:cNvSpPr/>
          <p:nvPr/>
        </p:nvSpPr>
        <p:spPr>
          <a:xfrm>
            <a:off x="6492240" y="4050792"/>
            <a:ext cx="457200" cy="45720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9" name="Text 17"/>
          <p:cNvSpPr/>
          <p:nvPr/>
        </p:nvSpPr>
        <p:spPr>
          <a:xfrm>
            <a:off x="7178040" y="3867912"/>
            <a:ext cx="4343400" cy="822960"/>
          </a:xfrm>
          <a:prstGeom prst="rect">
            <a:avLst/>
          </a:prstGeom>
          <a:noFill/>
          <a:ln/>
        </p:spPr>
        <p:txBody>
          <a:bodyPr wrap="square" rtlCol="0" anchor="ctr"/>
          <a:lstStyle/>
          <a:p>
            <a:pPr marL="0" indent="0">
              <a:lnSpc>
                <a:spcPct val="115000"/>
              </a:lnSpc>
              <a:buNone/>
            </a:pPr>
            <a:r>
              <a:rPr lang="en-US" sz="1250" dirty="0">
                <a:solidFill>
                  <a:srgbClr val="2A2E3F"/>
                </a:solidFill>
                <a:latin typeface="Arial" pitchFamily="34" charset="0"/>
                <a:ea typeface="Arial" pitchFamily="34" charset="-122"/>
                <a:cs typeface="Arial" pitchFamily="34" charset="-120"/>
              </a:rPr>
              <a:t>Thiết lập cơ chế Auto-refresh, vận hành như sản phẩm </a:t>
            </a:r>
            <a:r>
              <a:rPr lang="en-US" sz="1250" dirty="0" err="1">
                <a:solidFill>
                  <a:srgbClr val="2A2E3F"/>
                </a:solidFill>
                <a:latin typeface="Arial" pitchFamily="34" charset="0"/>
                <a:ea typeface="Arial" pitchFamily="34" charset="-122"/>
                <a:cs typeface="Arial" pitchFamily="34" charset="-120"/>
              </a:rPr>
              <a:t>thực</a:t>
            </a:r>
            <a:r>
              <a:rPr lang="en-US" sz="1250" dirty="0">
                <a:solidFill>
                  <a:srgbClr val="2A2E3F"/>
                </a:solidFill>
                <a:latin typeface="Arial" pitchFamily="34" charset="0"/>
                <a:ea typeface="Arial" pitchFamily="34" charset="-122"/>
                <a:cs typeface="Arial" pitchFamily="34" charset="-120"/>
              </a:rPr>
              <a:t> </a:t>
            </a:r>
            <a:r>
              <a:rPr lang="en-US" sz="1250" dirty="0" err="1" smtClean="0">
                <a:solidFill>
                  <a:srgbClr val="2A2E3F"/>
                </a:solidFill>
                <a:latin typeface="Arial" pitchFamily="34" charset="0"/>
                <a:ea typeface="Arial" pitchFamily="34" charset="-122"/>
                <a:cs typeface="Arial" pitchFamily="34" charset="-120"/>
              </a:rPr>
              <a:t>tế</a:t>
            </a:r>
            <a:r>
              <a:rPr lang="en-US" sz="1250" dirty="0" smtClean="0">
                <a:solidFill>
                  <a:srgbClr val="2A2E3F"/>
                </a:solidFill>
                <a:latin typeface="Arial" pitchFamily="34" charset="0"/>
                <a:ea typeface="Arial" pitchFamily="34" charset="-122"/>
                <a:cs typeface="Arial" pitchFamily="34" charset="-120"/>
              </a:rPr>
              <a:t>.</a:t>
            </a:r>
            <a:endParaRPr lang="en-US" sz="1250" dirty="0"/>
          </a:p>
        </p:txBody>
      </p:sp>
      <p:sp>
        <p:nvSpPr>
          <p:cNvPr id="20" name="Shape 18"/>
          <p:cNvSpPr/>
          <p:nvPr/>
        </p:nvSpPr>
        <p:spPr>
          <a:xfrm>
            <a:off x="6263640" y="5020056"/>
            <a:ext cx="5394960" cy="1051560"/>
          </a:xfrm>
          <a:prstGeom prst="roundRect">
            <a:avLst>
              <a:gd name="adj" fmla="val 5217"/>
            </a:avLst>
          </a:prstGeom>
          <a:solidFill>
            <a:srgbClr val="FFFFFF"/>
          </a:solidFill>
          <a:ln w="12700">
            <a:solidFill>
              <a:srgbClr val="E9ECF5"/>
            </a:solidFill>
            <a:prstDash val="solid"/>
          </a:ln>
          <a:effectLst>
            <a:outerShdw blurRad="63500" dist="25400" dir="5400000" algn="bl" rotWithShape="0">
              <a:srgbClr val="1E2761">
                <a:alpha val="10000"/>
              </a:srgbClr>
            </a:outerShdw>
          </a:effectLst>
        </p:spPr>
      </p:sp>
      <p:sp>
        <p:nvSpPr>
          <p:cNvPr id="21" name="Shape 19"/>
          <p:cNvSpPr/>
          <p:nvPr/>
        </p:nvSpPr>
        <p:spPr>
          <a:xfrm>
            <a:off x="6492240" y="5312664"/>
            <a:ext cx="457200" cy="457200"/>
          </a:xfrm>
          <a:prstGeom prst="ellipse">
            <a:avLst/>
          </a:prstGeom>
          <a:solidFill>
            <a:srgbClr val="E8590C"/>
          </a:solidFill>
          <a:ln/>
        </p:spPr>
      </p:sp>
      <p:sp>
        <p:nvSpPr>
          <p:cNvPr id="22" name="Text 20"/>
          <p:cNvSpPr/>
          <p:nvPr/>
        </p:nvSpPr>
        <p:spPr>
          <a:xfrm>
            <a:off x="6492240" y="5312664"/>
            <a:ext cx="457200" cy="45720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3" name="Text 21"/>
          <p:cNvSpPr/>
          <p:nvPr/>
        </p:nvSpPr>
        <p:spPr>
          <a:xfrm>
            <a:off x="7178040" y="5129784"/>
            <a:ext cx="4343400" cy="822960"/>
          </a:xfrm>
          <a:prstGeom prst="rect">
            <a:avLst/>
          </a:prstGeom>
          <a:noFill/>
          <a:ln/>
        </p:spPr>
        <p:txBody>
          <a:bodyPr wrap="square" rtlCol="0" anchor="ctr"/>
          <a:lstStyle/>
          <a:p>
            <a:pPr marL="0" indent="0">
              <a:lnSpc>
                <a:spcPct val="115000"/>
              </a:lnSpc>
              <a:buNone/>
            </a:pPr>
            <a:r>
              <a:rPr lang="en-US" sz="1250" dirty="0">
                <a:solidFill>
                  <a:srgbClr val="2A2E3F"/>
                </a:solidFill>
                <a:latin typeface="Arial" pitchFamily="34" charset="0"/>
                <a:ea typeface="Arial" pitchFamily="34" charset="-122"/>
                <a:cs typeface="Arial" pitchFamily="34" charset="-120"/>
              </a:rPr>
              <a:t>Rèn tư duy DA: đặt câu hỏi đúng, kiểm định số liệu, đề xuất hành động</a:t>
            </a:r>
            <a:endParaRPr lang="en-US" sz="1250" dirty="0"/>
          </a:p>
        </p:txBody>
      </p:sp>
      <p:sp>
        <p:nvSpPr>
          <p:cNvPr id="24" name="Text 22"/>
          <p:cNvSpPr/>
          <p:nvPr/>
        </p:nvSpPr>
        <p:spPr>
          <a:xfrm>
            <a:off x="457200" y="6473952"/>
            <a:ext cx="5486400" cy="274320"/>
          </a:xfrm>
          <a:prstGeom prst="rect">
            <a:avLst/>
          </a:prstGeom>
          <a:noFill/>
          <a:ln/>
        </p:spPr>
        <p:txBody>
          <a:bodyPr wrap="square" rtlCol="0" anchor="ctr"/>
          <a:lstStyle/>
          <a:p>
            <a:pPr marL="0" indent="0" algn="l">
              <a:buNone/>
            </a:pPr>
            <a:r>
              <a:rPr lang="en-US" sz="900" dirty="0">
                <a:solidFill>
                  <a:srgbClr val="9AA3B8"/>
                </a:solidFill>
                <a:latin typeface="Arial" pitchFamily="34" charset="0"/>
                <a:ea typeface="Arial" pitchFamily="34" charset="-122"/>
                <a:cs typeface="Arial" pitchFamily="34" charset="-120"/>
              </a:rPr>
              <a:t>OLIST ECOMMERCE ANALYTICS</a:t>
            </a:r>
            <a:endParaRPr lang="en-US" sz="900" dirty="0"/>
          </a:p>
        </p:txBody>
      </p:sp>
      <p:sp>
        <p:nvSpPr>
          <p:cNvPr id="25" name="Text 23"/>
          <p:cNvSpPr/>
          <p:nvPr/>
        </p:nvSpPr>
        <p:spPr>
          <a:xfrm>
            <a:off x="8074152" y="6473952"/>
            <a:ext cx="3657600" cy="274320"/>
          </a:xfrm>
          <a:prstGeom prst="rect">
            <a:avLst/>
          </a:prstGeom>
          <a:noFill/>
          <a:ln/>
        </p:spPr>
        <p:txBody>
          <a:bodyPr wrap="square" rtlCol="0" anchor="ctr"/>
          <a:lstStyle/>
          <a:p>
            <a:pPr marL="0" indent="0" algn="r">
              <a:buNone/>
            </a:pPr>
            <a:r>
              <a:rPr lang="en-US" sz="900" dirty="0">
                <a:solidFill>
                  <a:srgbClr val="9AA3B8"/>
                </a:solidFill>
                <a:latin typeface="Arial" pitchFamily="34" charset="0"/>
                <a:ea typeface="Arial" pitchFamily="34" charset="-122"/>
                <a:cs typeface="Arial" pitchFamily="34" charset="-120"/>
              </a:rPr>
              <a:t>03</a:t>
            </a:r>
            <a:endParaRPr lang="en-US" sz="900" dirty="0"/>
          </a:p>
        </p:txBody>
      </p:sp>
    </p:spTree>
  </p:cSld>
  <p:clrMapOvr>
    <a:masterClrMapping/>
  </p:clrMapOvr>
  <p:transition spd="slow">
    <p:wip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C"/>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Dữ liệu &amp; Phương pháp thực hiện</a:t>
            </a:r>
            <a:endParaRPr lang="en-US" sz="3000" dirty="0"/>
          </a:p>
        </p:txBody>
      </p:sp>
      <p:sp>
        <p:nvSpPr>
          <p:cNvPr id="3" name="Text 1"/>
          <p:cNvSpPr/>
          <p:nvPr/>
        </p:nvSpPr>
        <p:spPr>
          <a:xfrm>
            <a:off x="548640" y="932688"/>
            <a:ext cx="11091672" cy="365760"/>
          </a:xfrm>
          <a:prstGeom prst="rect">
            <a:avLst/>
          </a:prstGeom>
          <a:noFill/>
          <a:ln/>
        </p:spPr>
        <p:txBody>
          <a:bodyPr wrap="square" rtlCol="0" anchor="ctr"/>
          <a:lstStyle/>
          <a:p>
            <a:pPr marL="0" indent="0">
              <a:buNone/>
            </a:pPr>
            <a:r>
              <a:rPr lang="en-US" sz="1300" i="1" dirty="0">
                <a:solidFill>
                  <a:srgbClr val="6B7280"/>
                </a:solidFill>
                <a:latin typeface="Arial" pitchFamily="34" charset="0"/>
                <a:ea typeface="Arial" pitchFamily="34" charset="-122"/>
                <a:cs typeface="Arial" pitchFamily="34" charset="-120"/>
              </a:rPr>
              <a:t>Quy trình end-to-end từ dữ liệu thô đến Dashboard vận hành</a:t>
            </a:r>
            <a:endParaRPr lang="en-US" sz="1300" dirty="0"/>
          </a:p>
        </p:txBody>
      </p:sp>
      <p:sp>
        <p:nvSpPr>
          <p:cNvPr id="4" name="Shape 2"/>
          <p:cNvSpPr/>
          <p:nvPr/>
        </p:nvSpPr>
        <p:spPr>
          <a:xfrm>
            <a:off x="548640" y="2194560"/>
            <a:ext cx="1993392" cy="2377440"/>
          </a:xfrm>
          <a:prstGeom prst="roundRect">
            <a:avLst>
              <a:gd name="adj" fmla="val 3670"/>
            </a:avLst>
          </a:prstGeom>
          <a:solidFill>
            <a:srgbClr val="FFFFFF"/>
          </a:solidFill>
          <a:ln w="12700">
            <a:solidFill>
              <a:srgbClr val="E9ECF5"/>
            </a:solidFill>
            <a:prstDash val="solid"/>
          </a:ln>
          <a:effectLst>
            <a:outerShdw blurRad="63500" dist="25400" dir="5400000" algn="bl" rotWithShape="0">
              <a:srgbClr val="1E2761">
                <a:alpha val="10000"/>
              </a:srgbClr>
            </a:outerShdw>
          </a:effectLst>
        </p:spPr>
      </p:sp>
      <p:sp>
        <p:nvSpPr>
          <p:cNvPr id="5" name="Shape 3"/>
          <p:cNvSpPr/>
          <p:nvPr/>
        </p:nvSpPr>
        <p:spPr>
          <a:xfrm>
            <a:off x="1252728" y="1901952"/>
            <a:ext cx="585216" cy="585216"/>
          </a:xfrm>
          <a:prstGeom prst="ellipse">
            <a:avLst/>
          </a:prstGeom>
          <a:solidFill>
            <a:srgbClr val="2E5EAA"/>
          </a:solidFill>
          <a:ln/>
        </p:spPr>
      </p:sp>
      <p:sp>
        <p:nvSpPr>
          <p:cNvPr id="6" name="Text 4"/>
          <p:cNvSpPr/>
          <p:nvPr/>
        </p:nvSpPr>
        <p:spPr>
          <a:xfrm>
            <a:off x="1252728" y="1901952"/>
            <a:ext cx="585216" cy="585216"/>
          </a:xfrm>
          <a:prstGeom prst="rect">
            <a:avLst/>
          </a:prstGeom>
          <a:noFill/>
          <a:ln/>
        </p:spPr>
        <p:txBody>
          <a:bodyPr wrap="square" rtlCol="0" anchor="ctr"/>
          <a:lstStyle/>
          <a:p>
            <a:pPr marL="0" indent="0" algn="ctr">
              <a:buNone/>
            </a:pPr>
            <a:r>
              <a:rPr lang="en-US" sz="1664" b="1" dirty="0">
                <a:solidFill>
                  <a:srgbClr val="FFFFFF"/>
                </a:solidFill>
                <a:latin typeface="Arial" pitchFamily="34" charset="0"/>
                <a:ea typeface="Arial" pitchFamily="34" charset="-122"/>
                <a:cs typeface="Arial" pitchFamily="34" charset="-120"/>
              </a:rPr>
              <a:t>1</a:t>
            </a:r>
            <a:endParaRPr lang="en-US" sz="1664" dirty="0"/>
          </a:p>
        </p:txBody>
      </p:sp>
      <p:sp>
        <p:nvSpPr>
          <p:cNvPr id="7" name="Text 5"/>
          <p:cNvSpPr/>
          <p:nvPr/>
        </p:nvSpPr>
        <p:spPr>
          <a:xfrm>
            <a:off x="640080" y="2606040"/>
            <a:ext cx="1810512" cy="457200"/>
          </a:xfrm>
          <a:prstGeom prst="rect">
            <a:avLst/>
          </a:prstGeom>
          <a:noFill/>
          <a:ln/>
        </p:spPr>
        <p:txBody>
          <a:bodyPr wrap="square" rtlCol="0" anchor="ctr"/>
          <a:lstStyle/>
          <a:p>
            <a:pPr marL="0" indent="0" algn="ctr">
              <a:buNone/>
            </a:pPr>
            <a:r>
              <a:rPr lang="en-US" sz="1300" b="1" dirty="0">
                <a:solidFill>
                  <a:srgbClr val="1E2761"/>
                </a:solidFill>
                <a:latin typeface="Arial" pitchFamily="34" charset="0"/>
                <a:ea typeface="Arial" pitchFamily="34" charset="-122"/>
                <a:cs typeface="Arial" pitchFamily="34" charset="-120"/>
              </a:rPr>
              <a:t>9 File CSV</a:t>
            </a:r>
            <a:endParaRPr lang="en-US" sz="1300" dirty="0"/>
          </a:p>
        </p:txBody>
      </p:sp>
      <p:sp>
        <p:nvSpPr>
          <p:cNvPr id="8" name="Text 6"/>
          <p:cNvSpPr/>
          <p:nvPr/>
        </p:nvSpPr>
        <p:spPr>
          <a:xfrm>
            <a:off x="685800" y="3108960"/>
            <a:ext cx="1719072" cy="1371600"/>
          </a:xfrm>
          <a:prstGeom prst="rect">
            <a:avLst/>
          </a:prstGeom>
          <a:noFill/>
          <a:ln/>
        </p:spPr>
        <p:txBody>
          <a:bodyPr wrap="square" rtlCol="0" anchor="ctr"/>
          <a:lstStyle/>
          <a:p>
            <a:pPr marL="0" indent="0" algn="ctr">
              <a:lnSpc>
                <a:spcPct val="120000"/>
              </a:lnSpc>
              <a:buNone/>
            </a:pPr>
            <a:r>
              <a:rPr lang="en-US" sz="950" dirty="0">
                <a:solidFill>
                  <a:srgbClr val="4A4F63"/>
                </a:solidFill>
                <a:latin typeface="Arial" pitchFamily="34" charset="0"/>
                <a:ea typeface="Arial" pitchFamily="34" charset="-122"/>
                <a:cs typeface="Arial" pitchFamily="34" charset="-120"/>
              </a:rPr>
              <a:t>Dữ liệu thô Olist:</a:t>
            </a:r>
            <a:endParaRPr lang="en-US" sz="950" dirty="0"/>
          </a:p>
          <a:p>
            <a:pPr marL="0" indent="0" algn="ctr">
              <a:lnSpc>
                <a:spcPct val="120000"/>
              </a:lnSpc>
              <a:buNone/>
            </a:pPr>
            <a:r>
              <a:rPr lang="en-US" sz="950" dirty="0">
                <a:solidFill>
                  <a:srgbClr val="4A4F63"/>
                </a:solidFill>
                <a:latin typeface="Arial" pitchFamily="34" charset="0"/>
                <a:ea typeface="Arial" pitchFamily="34" charset="-122"/>
                <a:cs typeface="Arial" pitchFamily="34" charset="-120"/>
              </a:rPr>
              <a:t>customers, orders,</a:t>
            </a:r>
            <a:endParaRPr lang="en-US" sz="950" dirty="0"/>
          </a:p>
          <a:p>
            <a:pPr marL="0" indent="0" algn="ctr">
              <a:lnSpc>
                <a:spcPct val="120000"/>
              </a:lnSpc>
              <a:buNone/>
            </a:pPr>
            <a:r>
              <a:rPr lang="en-US" sz="950" dirty="0">
                <a:solidFill>
                  <a:srgbClr val="4A4F63"/>
                </a:solidFill>
                <a:latin typeface="Arial" pitchFamily="34" charset="0"/>
                <a:ea typeface="Arial" pitchFamily="34" charset="-122"/>
                <a:cs typeface="Arial" pitchFamily="34" charset="-120"/>
              </a:rPr>
              <a:t>items, payments,</a:t>
            </a:r>
            <a:endParaRPr lang="en-US" sz="950" dirty="0"/>
          </a:p>
          <a:p>
            <a:pPr marL="0" indent="0" algn="ctr">
              <a:lnSpc>
                <a:spcPct val="120000"/>
              </a:lnSpc>
              <a:buNone/>
            </a:pPr>
            <a:r>
              <a:rPr lang="en-US" sz="950" dirty="0">
                <a:solidFill>
                  <a:srgbClr val="4A4F63"/>
                </a:solidFill>
                <a:latin typeface="Arial" pitchFamily="34" charset="0"/>
                <a:ea typeface="Arial" pitchFamily="34" charset="-122"/>
                <a:cs typeface="Arial" pitchFamily="34" charset="-120"/>
              </a:rPr>
              <a:t>reviews, products,</a:t>
            </a:r>
            <a:endParaRPr lang="en-US" sz="950" dirty="0"/>
          </a:p>
          <a:p>
            <a:pPr marL="0" indent="0" algn="ctr">
              <a:lnSpc>
                <a:spcPct val="120000"/>
              </a:lnSpc>
              <a:buNone/>
            </a:pPr>
            <a:r>
              <a:rPr lang="en-US" sz="950" dirty="0">
                <a:solidFill>
                  <a:srgbClr val="4A4F63"/>
                </a:solidFill>
                <a:latin typeface="Arial" pitchFamily="34" charset="0"/>
                <a:ea typeface="Arial" pitchFamily="34" charset="-122"/>
                <a:cs typeface="Arial" pitchFamily="34" charset="-120"/>
              </a:rPr>
              <a:t>sellers, geolocation</a:t>
            </a:r>
            <a:endParaRPr lang="en-US" sz="950" dirty="0"/>
          </a:p>
        </p:txBody>
      </p:sp>
      <p:sp>
        <p:nvSpPr>
          <p:cNvPr id="9" name="Text 7"/>
          <p:cNvSpPr/>
          <p:nvPr/>
        </p:nvSpPr>
        <p:spPr>
          <a:xfrm>
            <a:off x="2542032" y="3063240"/>
            <a:ext cx="256032" cy="640080"/>
          </a:xfrm>
          <a:prstGeom prst="rect">
            <a:avLst/>
          </a:prstGeom>
          <a:noFill/>
          <a:ln/>
        </p:spPr>
        <p:txBody>
          <a:bodyPr wrap="square" rtlCol="0" anchor="ctr"/>
          <a:lstStyle/>
          <a:p>
            <a:pPr marL="0" indent="0" algn="ctr">
              <a:buNone/>
            </a:pPr>
            <a:r>
              <a:rPr lang="en-US" sz="2000" b="1" dirty="0">
                <a:solidFill>
                  <a:srgbClr val="2E5EAA"/>
                </a:solidFill>
                <a:latin typeface="Arial" pitchFamily="34" charset="0"/>
                <a:ea typeface="Arial" pitchFamily="34" charset="-122"/>
                <a:cs typeface="Arial" pitchFamily="34" charset="-120"/>
              </a:rPr>
              <a:t>→</a:t>
            </a:r>
            <a:endParaRPr lang="en-US" sz="2000" dirty="0"/>
          </a:p>
        </p:txBody>
      </p:sp>
      <p:sp>
        <p:nvSpPr>
          <p:cNvPr id="10" name="Shape 8"/>
          <p:cNvSpPr/>
          <p:nvPr/>
        </p:nvSpPr>
        <p:spPr>
          <a:xfrm>
            <a:off x="2798064" y="2194560"/>
            <a:ext cx="1993392" cy="2377440"/>
          </a:xfrm>
          <a:prstGeom prst="roundRect">
            <a:avLst>
              <a:gd name="adj" fmla="val 3670"/>
            </a:avLst>
          </a:prstGeom>
          <a:solidFill>
            <a:srgbClr val="FFFFFF"/>
          </a:solidFill>
          <a:ln w="12700">
            <a:solidFill>
              <a:srgbClr val="E9ECF5"/>
            </a:solidFill>
            <a:prstDash val="solid"/>
          </a:ln>
          <a:effectLst>
            <a:outerShdw blurRad="63500" dist="25400" dir="5400000" algn="bl" rotWithShape="0">
              <a:srgbClr val="1E2761">
                <a:alpha val="10000"/>
              </a:srgbClr>
            </a:outerShdw>
          </a:effectLst>
        </p:spPr>
      </p:sp>
      <p:sp>
        <p:nvSpPr>
          <p:cNvPr id="11" name="Shape 9"/>
          <p:cNvSpPr/>
          <p:nvPr/>
        </p:nvSpPr>
        <p:spPr>
          <a:xfrm>
            <a:off x="3502152" y="1901952"/>
            <a:ext cx="585216" cy="585216"/>
          </a:xfrm>
          <a:prstGeom prst="ellipse">
            <a:avLst/>
          </a:prstGeom>
          <a:solidFill>
            <a:srgbClr val="2E5EAA"/>
          </a:solidFill>
          <a:ln/>
        </p:spPr>
      </p:sp>
      <p:sp>
        <p:nvSpPr>
          <p:cNvPr id="12" name="Text 10"/>
          <p:cNvSpPr/>
          <p:nvPr/>
        </p:nvSpPr>
        <p:spPr>
          <a:xfrm>
            <a:off x="3502152" y="1901952"/>
            <a:ext cx="585216" cy="585216"/>
          </a:xfrm>
          <a:prstGeom prst="rect">
            <a:avLst/>
          </a:prstGeom>
          <a:noFill/>
          <a:ln/>
        </p:spPr>
        <p:txBody>
          <a:bodyPr wrap="square" rtlCol="0" anchor="ctr"/>
          <a:lstStyle/>
          <a:p>
            <a:pPr marL="0" indent="0" algn="ctr">
              <a:buNone/>
            </a:pPr>
            <a:r>
              <a:rPr lang="en-US" sz="1664" b="1" dirty="0">
                <a:solidFill>
                  <a:srgbClr val="FFFFFF"/>
                </a:solidFill>
                <a:latin typeface="Arial" pitchFamily="34" charset="0"/>
                <a:ea typeface="Arial" pitchFamily="34" charset="-122"/>
                <a:cs typeface="Arial" pitchFamily="34" charset="-120"/>
              </a:rPr>
              <a:t>2</a:t>
            </a:r>
            <a:endParaRPr lang="en-US" sz="1664" dirty="0"/>
          </a:p>
        </p:txBody>
      </p:sp>
      <p:sp>
        <p:nvSpPr>
          <p:cNvPr id="13" name="Text 11"/>
          <p:cNvSpPr/>
          <p:nvPr/>
        </p:nvSpPr>
        <p:spPr>
          <a:xfrm>
            <a:off x="2889504" y="2606040"/>
            <a:ext cx="1810512" cy="457200"/>
          </a:xfrm>
          <a:prstGeom prst="rect">
            <a:avLst/>
          </a:prstGeom>
          <a:noFill/>
          <a:ln/>
        </p:spPr>
        <p:txBody>
          <a:bodyPr wrap="square" rtlCol="0" anchor="ctr"/>
          <a:lstStyle/>
          <a:p>
            <a:pPr marL="0" indent="0" algn="ctr">
              <a:buNone/>
            </a:pPr>
            <a:r>
              <a:rPr lang="en-US" sz="1300" b="1" dirty="0">
                <a:solidFill>
                  <a:srgbClr val="1E2761"/>
                </a:solidFill>
                <a:latin typeface="Arial" pitchFamily="34" charset="0"/>
                <a:ea typeface="Arial" pitchFamily="34" charset="-122"/>
                <a:cs typeface="Arial" pitchFamily="34" charset="-120"/>
              </a:rPr>
              <a:t>Python EDA</a:t>
            </a:r>
            <a:endParaRPr lang="en-US" sz="1300" dirty="0"/>
          </a:p>
        </p:txBody>
      </p:sp>
      <p:sp>
        <p:nvSpPr>
          <p:cNvPr id="14" name="Text 12"/>
          <p:cNvSpPr/>
          <p:nvPr/>
        </p:nvSpPr>
        <p:spPr>
          <a:xfrm>
            <a:off x="2935224" y="3108960"/>
            <a:ext cx="1719072" cy="1371600"/>
          </a:xfrm>
          <a:prstGeom prst="rect">
            <a:avLst/>
          </a:prstGeom>
          <a:noFill/>
          <a:ln/>
        </p:spPr>
        <p:txBody>
          <a:bodyPr wrap="square" rtlCol="0" anchor="ctr"/>
          <a:lstStyle/>
          <a:p>
            <a:pPr marL="0" indent="0" algn="ctr">
              <a:lnSpc>
                <a:spcPct val="120000"/>
              </a:lnSpc>
              <a:buNone/>
            </a:pPr>
            <a:r>
              <a:rPr lang="en-US" sz="950" dirty="0" err="1" smtClean="0">
                <a:solidFill>
                  <a:srgbClr val="4A4F63"/>
                </a:solidFill>
                <a:latin typeface="Arial" pitchFamily="34" charset="0"/>
                <a:ea typeface="Arial" pitchFamily="34" charset="-122"/>
                <a:cs typeface="Arial" pitchFamily="34" charset="-120"/>
              </a:rPr>
              <a:t>Phân</a:t>
            </a:r>
            <a:r>
              <a:rPr lang="en-US" sz="950" dirty="0" smtClean="0">
                <a:solidFill>
                  <a:srgbClr val="4A4F63"/>
                </a:solidFill>
                <a:latin typeface="Arial" pitchFamily="34" charset="0"/>
                <a:ea typeface="Arial" pitchFamily="34" charset="-122"/>
                <a:cs typeface="Arial" pitchFamily="34" charset="-120"/>
              </a:rPr>
              <a:t> </a:t>
            </a:r>
            <a:r>
              <a:rPr lang="en-US" sz="950" dirty="0" err="1" smtClean="0">
                <a:solidFill>
                  <a:srgbClr val="4A4F63"/>
                </a:solidFill>
                <a:latin typeface="Arial" pitchFamily="34" charset="0"/>
                <a:ea typeface="Arial" pitchFamily="34" charset="-122"/>
                <a:cs typeface="Arial" pitchFamily="34" charset="-120"/>
              </a:rPr>
              <a:t>tích</a:t>
            </a:r>
            <a:r>
              <a:rPr lang="en-US" sz="950" dirty="0" smtClean="0">
                <a:solidFill>
                  <a:srgbClr val="4A4F63"/>
                </a:solidFill>
                <a:latin typeface="Arial" pitchFamily="34" charset="0"/>
                <a:ea typeface="Arial" pitchFamily="34" charset="-122"/>
                <a:cs typeface="Arial" pitchFamily="34" charset="-120"/>
              </a:rPr>
              <a:t> </a:t>
            </a:r>
            <a:r>
              <a:rPr lang="en-US" sz="950" dirty="0">
                <a:solidFill>
                  <a:srgbClr val="4A4F63"/>
                </a:solidFill>
                <a:latin typeface="Arial" pitchFamily="34" charset="0"/>
                <a:ea typeface="Arial" pitchFamily="34" charset="-122"/>
                <a:cs typeface="Arial" pitchFamily="34" charset="-120"/>
              </a:rPr>
              <a:t>&amp; kiểm tra</a:t>
            </a:r>
            <a:endParaRPr lang="en-US" sz="950" dirty="0"/>
          </a:p>
          <a:p>
            <a:pPr marL="0" indent="0" algn="ctr">
              <a:lnSpc>
                <a:spcPct val="120000"/>
              </a:lnSpc>
              <a:buNone/>
            </a:pPr>
            <a:r>
              <a:rPr lang="en-US" sz="950" dirty="0">
                <a:solidFill>
                  <a:srgbClr val="4A4F63"/>
                </a:solidFill>
                <a:latin typeface="Arial" pitchFamily="34" charset="0"/>
                <a:ea typeface="Arial" pitchFamily="34" charset="-122"/>
                <a:cs typeface="Arial" pitchFamily="34" charset="-120"/>
              </a:rPr>
              <a:t>chất lượng dữ liệu</a:t>
            </a:r>
            <a:endParaRPr lang="en-US" sz="950" dirty="0"/>
          </a:p>
          <a:p>
            <a:pPr marL="0" indent="0" algn="ctr">
              <a:lnSpc>
                <a:spcPct val="120000"/>
              </a:lnSpc>
              <a:buNone/>
            </a:pPr>
            <a:r>
              <a:rPr lang="en-US" sz="950" dirty="0">
                <a:solidFill>
                  <a:srgbClr val="4A4F63"/>
                </a:solidFill>
                <a:latin typeface="Arial" pitchFamily="34" charset="0"/>
                <a:ea typeface="Arial" pitchFamily="34" charset="-122"/>
                <a:cs typeface="Arial" pitchFamily="34" charset="-120"/>
              </a:rPr>
              <a:t>ban đầu, định hướng</a:t>
            </a:r>
            <a:endParaRPr lang="en-US" sz="950" dirty="0"/>
          </a:p>
          <a:p>
            <a:pPr marL="0" indent="0" algn="ctr">
              <a:lnSpc>
                <a:spcPct val="120000"/>
              </a:lnSpc>
              <a:buNone/>
            </a:pPr>
            <a:r>
              <a:rPr lang="en-US" sz="950" dirty="0">
                <a:solidFill>
                  <a:srgbClr val="4A4F63"/>
                </a:solidFill>
                <a:latin typeface="Arial" pitchFamily="34" charset="0"/>
                <a:ea typeface="Arial" pitchFamily="34" charset="-122"/>
                <a:cs typeface="Arial" pitchFamily="34" charset="-120"/>
              </a:rPr>
              <a:t>khung phân tích</a:t>
            </a:r>
            <a:endParaRPr lang="en-US" sz="950" dirty="0"/>
          </a:p>
        </p:txBody>
      </p:sp>
      <p:sp>
        <p:nvSpPr>
          <p:cNvPr id="15" name="Text 13"/>
          <p:cNvSpPr/>
          <p:nvPr/>
        </p:nvSpPr>
        <p:spPr>
          <a:xfrm>
            <a:off x="4791456" y="3063240"/>
            <a:ext cx="256032" cy="640080"/>
          </a:xfrm>
          <a:prstGeom prst="rect">
            <a:avLst/>
          </a:prstGeom>
          <a:noFill/>
          <a:ln/>
        </p:spPr>
        <p:txBody>
          <a:bodyPr wrap="square" rtlCol="0" anchor="ctr"/>
          <a:lstStyle/>
          <a:p>
            <a:pPr marL="0" indent="0" algn="ctr">
              <a:buNone/>
            </a:pPr>
            <a:r>
              <a:rPr lang="en-US" sz="2000" b="1" dirty="0">
                <a:solidFill>
                  <a:srgbClr val="2E5EAA"/>
                </a:solidFill>
                <a:latin typeface="Arial" pitchFamily="34" charset="0"/>
                <a:ea typeface="Arial" pitchFamily="34" charset="-122"/>
                <a:cs typeface="Arial" pitchFamily="34" charset="-120"/>
              </a:rPr>
              <a:t>→</a:t>
            </a:r>
            <a:endParaRPr lang="en-US" sz="2000" dirty="0"/>
          </a:p>
        </p:txBody>
      </p:sp>
      <p:sp>
        <p:nvSpPr>
          <p:cNvPr id="16" name="Shape 14"/>
          <p:cNvSpPr/>
          <p:nvPr/>
        </p:nvSpPr>
        <p:spPr>
          <a:xfrm>
            <a:off x="5047488" y="2194560"/>
            <a:ext cx="1993392" cy="2377440"/>
          </a:xfrm>
          <a:prstGeom prst="roundRect">
            <a:avLst>
              <a:gd name="adj" fmla="val 3670"/>
            </a:avLst>
          </a:prstGeom>
          <a:solidFill>
            <a:srgbClr val="FFFFFF"/>
          </a:solidFill>
          <a:ln w="12700">
            <a:solidFill>
              <a:srgbClr val="E9ECF5"/>
            </a:solidFill>
            <a:prstDash val="solid"/>
          </a:ln>
          <a:effectLst>
            <a:outerShdw blurRad="63500" dist="25400" dir="5400000" algn="bl" rotWithShape="0">
              <a:srgbClr val="1E2761">
                <a:alpha val="10000"/>
              </a:srgbClr>
            </a:outerShdw>
          </a:effectLst>
        </p:spPr>
      </p:sp>
      <p:sp>
        <p:nvSpPr>
          <p:cNvPr id="17" name="Shape 15"/>
          <p:cNvSpPr/>
          <p:nvPr/>
        </p:nvSpPr>
        <p:spPr>
          <a:xfrm>
            <a:off x="5751576" y="1901952"/>
            <a:ext cx="585216" cy="585216"/>
          </a:xfrm>
          <a:prstGeom prst="ellipse">
            <a:avLst/>
          </a:prstGeom>
          <a:solidFill>
            <a:srgbClr val="2E5EAA"/>
          </a:solidFill>
          <a:ln/>
        </p:spPr>
      </p:sp>
      <p:sp>
        <p:nvSpPr>
          <p:cNvPr id="18" name="Text 16"/>
          <p:cNvSpPr/>
          <p:nvPr/>
        </p:nvSpPr>
        <p:spPr>
          <a:xfrm>
            <a:off x="5751576" y="1901952"/>
            <a:ext cx="585216" cy="585216"/>
          </a:xfrm>
          <a:prstGeom prst="rect">
            <a:avLst/>
          </a:prstGeom>
          <a:noFill/>
          <a:ln/>
        </p:spPr>
        <p:txBody>
          <a:bodyPr wrap="square" rtlCol="0" anchor="ctr"/>
          <a:lstStyle/>
          <a:p>
            <a:pPr marL="0" indent="0" algn="ctr">
              <a:buNone/>
            </a:pPr>
            <a:r>
              <a:rPr lang="en-US" sz="1664" b="1" dirty="0">
                <a:solidFill>
                  <a:srgbClr val="FFFFFF"/>
                </a:solidFill>
                <a:latin typeface="Arial" pitchFamily="34" charset="0"/>
                <a:ea typeface="Arial" pitchFamily="34" charset="-122"/>
                <a:cs typeface="Arial" pitchFamily="34" charset="-120"/>
              </a:rPr>
              <a:t>3</a:t>
            </a:r>
            <a:endParaRPr lang="en-US" sz="1664" dirty="0"/>
          </a:p>
        </p:txBody>
      </p:sp>
      <p:sp>
        <p:nvSpPr>
          <p:cNvPr id="19" name="Text 17"/>
          <p:cNvSpPr/>
          <p:nvPr/>
        </p:nvSpPr>
        <p:spPr>
          <a:xfrm>
            <a:off x="5138928" y="2606040"/>
            <a:ext cx="1810512" cy="457200"/>
          </a:xfrm>
          <a:prstGeom prst="rect">
            <a:avLst/>
          </a:prstGeom>
          <a:noFill/>
          <a:ln/>
        </p:spPr>
        <p:txBody>
          <a:bodyPr wrap="square" rtlCol="0" anchor="ctr"/>
          <a:lstStyle/>
          <a:p>
            <a:pPr marL="0" indent="0" algn="ctr">
              <a:buNone/>
            </a:pPr>
            <a:r>
              <a:rPr lang="en-US" sz="1300" b="1" dirty="0">
                <a:solidFill>
                  <a:srgbClr val="1E2761"/>
                </a:solidFill>
                <a:latin typeface="Arial" pitchFamily="34" charset="0"/>
                <a:ea typeface="Arial" pitchFamily="34" charset="-122"/>
                <a:cs typeface="Arial" pitchFamily="34" charset="-120"/>
              </a:rPr>
              <a:t>BigQuery ETL</a:t>
            </a:r>
            <a:endParaRPr lang="en-US" sz="1300" dirty="0"/>
          </a:p>
        </p:txBody>
      </p:sp>
      <p:sp>
        <p:nvSpPr>
          <p:cNvPr id="20" name="Text 18"/>
          <p:cNvSpPr/>
          <p:nvPr/>
        </p:nvSpPr>
        <p:spPr>
          <a:xfrm>
            <a:off x="5184648" y="3108960"/>
            <a:ext cx="1719072" cy="1371600"/>
          </a:xfrm>
          <a:prstGeom prst="rect">
            <a:avLst/>
          </a:prstGeom>
          <a:noFill/>
          <a:ln/>
        </p:spPr>
        <p:txBody>
          <a:bodyPr wrap="square" rtlCol="0" anchor="ctr"/>
          <a:lstStyle/>
          <a:p>
            <a:pPr marL="0" indent="0" algn="ctr">
              <a:lnSpc>
                <a:spcPct val="120000"/>
              </a:lnSpc>
              <a:buNone/>
            </a:pPr>
            <a:r>
              <a:rPr lang="en-US" sz="950" dirty="0">
                <a:solidFill>
                  <a:srgbClr val="4A4F63"/>
                </a:solidFill>
                <a:latin typeface="Arial" pitchFamily="34" charset="0"/>
                <a:ea typeface="Arial" pitchFamily="34" charset="-122"/>
                <a:cs typeface="Arial" pitchFamily="34" charset="-120"/>
              </a:rPr>
              <a:t>Làm sạch, dedupe,</a:t>
            </a:r>
            <a:endParaRPr lang="en-US" sz="950" dirty="0"/>
          </a:p>
          <a:p>
            <a:pPr marL="0" indent="0" algn="ctr">
              <a:lnSpc>
                <a:spcPct val="120000"/>
              </a:lnSpc>
              <a:buNone/>
            </a:pPr>
            <a:r>
              <a:rPr lang="en-US" sz="950" dirty="0">
                <a:solidFill>
                  <a:srgbClr val="4A4F63"/>
                </a:solidFill>
                <a:latin typeface="Arial" pitchFamily="34" charset="0"/>
                <a:ea typeface="Arial" pitchFamily="34" charset="-122"/>
                <a:cs typeface="Arial" pitchFamily="34" charset="-120"/>
              </a:rPr>
              <a:t>chuẩn hóa key,</a:t>
            </a:r>
            <a:endParaRPr lang="en-US" sz="950" dirty="0"/>
          </a:p>
          <a:p>
            <a:pPr marL="0" indent="0" algn="ctr">
              <a:lnSpc>
                <a:spcPct val="120000"/>
              </a:lnSpc>
              <a:buNone/>
            </a:pPr>
            <a:r>
              <a:rPr lang="en-US" sz="950" dirty="0">
                <a:solidFill>
                  <a:srgbClr val="4A4F63"/>
                </a:solidFill>
                <a:latin typeface="Arial" pitchFamily="34" charset="0"/>
                <a:ea typeface="Arial" pitchFamily="34" charset="-122"/>
                <a:cs typeface="Arial" pitchFamily="34" charset="-120"/>
              </a:rPr>
              <a:t>xử lý null có ý nghĩa</a:t>
            </a:r>
            <a:endParaRPr lang="en-US" sz="950" dirty="0"/>
          </a:p>
          <a:p>
            <a:pPr marL="0" indent="0" algn="ctr">
              <a:lnSpc>
                <a:spcPct val="120000"/>
              </a:lnSpc>
              <a:buNone/>
            </a:pPr>
            <a:r>
              <a:rPr lang="en-US" sz="950" dirty="0">
                <a:solidFill>
                  <a:srgbClr val="4A4F63"/>
                </a:solidFill>
                <a:latin typeface="Arial" pitchFamily="34" charset="0"/>
                <a:ea typeface="Arial" pitchFamily="34" charset="-122"/>
                <a:cs typeface="Arial" pitchFamily="34" charset="-120"/>
              </a:rPr>
              <a:t>nghiệp vụ</a:t>
            </a:r>
            <a:endParaRPr lang="en-US" sz="950" dirty="0"/>
          </a:p>
        </p:txBody>
      </p:sp>
      <p:sp>
        <p:nvSpPr>
          <p:cNvPr id="21" name="Text 19"/>
          <p:cNvSpPr/>
          <p:nvPr/>
        </p:nvSpPr>
        <p:spPr>
          <a:xfrm>
            <a:off x="7040880" y="3063240"/>
            <a:ext cx="256032" cy="640080"/>
          </a:xfrm>
          <a:prstGeom prst="rect">
            <a:avLst/>
          </a:prstGeom>
          <a:noFill/>
          <a:ln/>
        </p:spPr>
        <p:txBody>
          <a:bodyPr wrap="square" rtlCol="0" anchor="ctr"/>
          <a:lstStyle/>
          <a:p>
            <a:pPr marL="0" indent="0" algn="ctr">
              <a:buNone/>
            </a:pPr>
            <a:r>
              <a:rPr lang="en-US" sz="2000" b="1" dirty="0">
                <a:solidFill>
                  <a:srgbClr val="2E5EAA"/>
                </a:solidFill>
                <a:latin typeface="Arial" pitchFamily="34" charset="0"/>
                <a:ea typeface="Arial" pitchFamily="34" charset="-122"/>
                <a:cs typeface="Arial" pitchFamily="34" charset="-120"/>
              </a:rPr>
              <a:t>→</a:t>
            </a:r>
            <a:endParaRPr lang="en-US" sz="2000" dirty="0"/>
          </a:p>
        </p:txBody>
      </p:sp>
      <p:sp>
        <p:nvSpPr>
          <p:cNvPr id="22" name="Shape 20"/>
          <p:cNvSpPr/>
          <p:nvPr/>
        </p:nvSpPr>
        <p:spPr>
          <a:xfrm>
            <a:off x="7296912" y="2194560"/>
            <a:ext cx="1993392" cy="2377440"/>
          </a:xfrm>
          <a:prstGeom prst="roundRect">
            <a:avLst>
              <a:gd name="adj" fmla="val 3670"/>
            </a:avLst>
          </a:prstGeom>
          <a:solidFill>
            <a:srgbClr val="FFFFFF"/>
          </a:solidFill>
          <a:ln w="12700">
            <a:solidFill>
              <a:srgbClr val="E9ECF5"/>
            </a:solidFill>
            <a:prstDash val="solid"/>
          </a:ln>
          <a:effectLst>
            <a:outerShdw blurRad="63500" dist="25400" dir="5400000" algn="bl" rotWithShape="0">
              <a:srgbClr val="1E2761">
                <a:alpha val="10000"/>
              </a:srgbClr>
            </a:outerShdw>
          </a:effectLst>
        </p:spPr>
      </p:sp>
      <p:sp>
        <p:nvSpPr>
          <p:cNvPr id="23" name="Shape 21"/>
          <p:cNvSpPr/>
          <p:nvPr/>
        </p:nvSpPr>
        <p:spPr>
          <a:xfrm>
            <a:off x="8001000" y="1901952"/>
            <a:ext cx="585216" cy="585216"/>
          </a:xfrm>
          <a:prstGeom prst="ellipse">
            <a:avLst/>
          </a:prstGeom>
          <a:solidFill>
            <a:srgbClr val="2E5EAA"/>
          </a:solidFill>
          <a:ln/>
        </p:spPr>
      </p:sp>
      <p:sp>
        <p:nvSpPr>
          <p:cNvPr id="24" name="Text 22"/>
          <p:cNvSpPr/>
          <p:nvPr/>
        </p:nvSpPr>
        <p:spPr>
          <a:xfrm>
            <a:off x="8001000" y="1901952"/>
            <a:ext cx="585216" cy="585216"/>
          </a:xfrm>
          <a:prstGeom prst="rect">
            <a:avLst/>
          </a:prstGeom>
          <a:noFill/>
          <a:ln/>
        </p:spPr>
        <p:txBody>
          <a:bodyPr wrap="square" rtlCol="0" anchor="ctr"/>
          <a:lstStyle/>
          <a:p>
            <a:pPr marL="0" indent="0" algn="ctr">
              <a:buNone/>
            </a:pPr>
            <a:r>
              <a:rPr lang="en-US" sz="1664" b="1" dirty="0">
                <a:solidFill>
                  <a:srgbClr val="FFFFFF"/>
                </a:solidFill>
                <a:latin typeface="Arial" pitchFamily="34" charset="0"/>
                <a:ea typeface="Arial" pitchFamily="34" charset="-122"/>
                <a:cs typeface="Arial" pitchFamily="34" charset="-120"/>
              </a:rPr>
              <a:t>4</a:t>
            </a:r>
            <a:endParaRPr lang="en-US" sz="1664" dirty="0"/>
          </a:p>
        </p:txBody>
      </p:sp>
      <p:sp>
        <p:nvSpPr>
          <p:cNvPr id="25" name="Text 23"/>
          <p:cNvSpPr/>
          <p:nvPr/>
        </p:nvSpPr>
        <p:spPr>
          <a:xfrm>
            <a:off x="7388352" y="2606040"/>
            <a:ext cx="1810512" cy="457200"/>
          </a:xfrm>
          <a:prstGeom prst="rect">
            <a:avLst/>
          </a:prstGeom>
          <a:noFill/>
          <a:ln/>
        </p:spPr>
        <p:txBody>
          <a:bodyPr wrap="square" rtlCol="0" anchor="ctr"/>
          <a:lstStyle/>
          <a:p>
            <a:pPr marL="0" indent="0" algn="ctr">
              <a:buNone/>
            </a:pPr>
            <a:r>
              <a:rPr lang="en-US" sz="1300" b="1" dirty="0">
                <a:solidFill>
                  <a:srgbClr val="1E2761"/>
                </a:solidFill>
                <a:latin typeface="Arial" pitchFamily="34" charset="0"/>
                <a:ea typeface="Arial" pitchFamily="34" charset="-122"/>
                <a:cs typeface="Arial" pitchFamily="34" charset="-120"/>
              </a:rPr>
              <a:t>Star Schema</a:t>
            </a:r>
            <a:endParaRPr lang="en-US" sz="1300" dirty="0"/>
          </a:p>
        </p:txBody>
      </p:sp>
      <p:sp>
        <p:nvSpPr>
          <p:cNvPr id="26" name="Text 24"/>
          <p:cNvSpPr/>
          <p:nvPr/>
        </p:nvSpPr>
        <p:spPr>
          <a:xfrm>
            <a:off x="7434072" y="3108960"/>
            <a:ext cx="1719072" cy="1371600"/>
          </a:xfrm>
          <a:prstGeom prst="rect">
            <a:avLst/>
          </a:prstGeom>
          <a:noFill/>
          <a:ln/>
        </p:spPr>
        <p:txBody>
          <a:bodyPr wrap="square" rtlCol="0" anchor="ctr"/>
          <a:lstStyle/>
          <a:p>
            <a:pPr marL="0" indent="0" algn="ctr">
              <a:lnSpc>
                <a:spcPct val="120000"/>
              </a:lnSpc>
              <a:buNone/>
            </a:pPr>
            <a:r>
              <a:rPr lang="en-US" sz="950" dirty="0">
                <a:solidFill>
                  <a:srgbClr val="4A4F63"/>
                </a:solidFill>
                <a:latin typeface="Arial" pitchFamily="34" charset="0"/>
                <a:ea typeface="Arial" pitchFamily="34" charset="-122"/>
                <a:cs typeface="Arial" pitchFamily="34" charset="-120"/>
              </a:rPr>
              <a:t>5 bảng Dimension +</a:t>
            </a:r>
            <a:endParaRPr lang="en-US" sz="950" dirty="0"/>
          </a:p>
          <a:p>
            <a:pPr marL="0" indent="0" algn="ctr">
              <a:lnSpc>
                <a:spcPct val="120000"/>
              </a:lnSpc>
              <a:buNone/>
            </a:pPr>
            <a:r>
              <a:rPr lang="en-US" sz="950" dirty="0">
                <a:solidFill>
                  <a:srgbClr val="4A4F63"/>
                </a:solidFill>
                <a:latin typeface="Arial" pitchFamily="34" charset="0"/>
                <a:ea typeface="Arial" pitchFamily="34" charset="-122"/>
                <a:cs typeface="Arial" pitchFamily="34" charset="-120"/>
              </a:rPr>
              <a:t>4 bảng Fact,</a:t>
            </a:r>
            <a:endParaRPr lang="en-US" sz="950" dirty="0"/>
          </a:p>
          <a:p>
            <a:pPr marL="0" indent="0" algn="ctr">
              <a:lnSpc>
                <a:spcPct val="120000"/>
              </a:lnSpc>
              <a:buNone/>
            </a:pPr>
            <a:r>
              <a:rPr lang="en-US" sz="950" dirty="0">
                <a:solidFill>
                  <a:srgbClr val="4A4F63"/>
                </a:solidFill>
                <a:latin typeface="Arial" pitchFamily="34" charset="0"/>
                <a:ea typeface="Arial" pitchFamily="34" charset="-122"/>
                <a:cs typeface="Arial" pitchFamily="34" charset="-120"/>
              </a:rPr>
              <a:t>chuẩn Kimball,</a:t>
            </a:r>
            <a:endParaRPr lang="en-US" sz="950" dirty="0"/>
          </a:p>
          <a:p>
            <a:pPr marL="0" indent="0" algn="ctr">
              <a:lnSpc>
                <a:spcPct val="120000"/>
              </a:lnSpc>
              <a:buNone/>
            </a:pPr>
            <a:r>
              <a:rPr lang="en-US" sz="950" dirty="0">
                <a:solidFill>
                  <a:srgbClr val="4A4F63"/>
                </a:solidFill>
                <a:latin typeface="Arial" pitchFamily="34" charset="0"/>
                <a:ea typeface="Arial" pitchFamily="34" charset="-122"/>
                <a:cs typeface="Arial" pitchFamily="34" charset="-120"/>
              </a:rPr>
              <a:t>referential integrity</a:t>
            </a:r>
            <a:endParaRPr lang="en-US" sz="950" dirty="0"/>
          </a:p>
        </p:txBody>
      </p:sp>
      <p:sp>
        <p:nvSpPr>
          <p:cNvPr id="27" name="Text 25"/>
          <p:cNvSpPr/>
          <p:nvPr/>
        </p:nvSpPr>
        <p:spPr>
          <a:xfrm>
            <a:off x="9290304" y="3063240"/>
            <a:ext cx="256032" cy="640080"/>
          </a:xfrm>
          <a:prstGeom prst="rect">
            <a:avLst/>
          </a:prstGeom>
          <a:noFill/>
          <a:ln/>
        </p:spPr>
        <p:txBody>
          <a:bodyPr wrap="square" rtlCol="0" anchor="ctr"/>
          <a:lstStyle/>
          <a:p>
            <a:pPr marL="0" indent="0" algn="ctr">
              <a:buNone/>
            </a:pPr>
            <a:r>
              <a:rPr lang="en-US" sz="2000" b="1" dirty="0">
                <a:solidFill>
                  <a:srgbClr val="2E5EAA"/>
                </a:solidFill>
                <a:latin typeface="Arial" pitchFamily="34" charset="0"/>
                <a:ea typeface="Arial" pitchFamily="34" charset="-122"/>
                <a:cs typeface="Arial" pitchFamily="34" charset="-120"/>
              </a:rPr>
              <a:t>→</a:t>
            </a:r>
            <a:endParaRPr lang="en-US" sz="2000" dirty="0"/>
          </a:p>
        </p:txBody>
      </p:sp>
      <p:sp>
        <p:nvSpPr>
          <p:cNvPr id="28" name="Shape 26"/>
          <p:cNvSpPr/>
          <p:nvPr/>
        </p:nvSpPr>
        <p:spPr>
          <a:xfrm>
            <a:off x="9546336" y="2194560"/>
            <a:ext cx="1993392" cy="2377440"/>
          </a:xfrm>
          <a:prstGeom prst="roundRect">
            <a:avLst>
              <a:gd name="adj" fmla="val 3670"/>
            </a:avLst>
          </a:prstGeom>
          <a:solidFill>
            <a:srgbClr val="FFFFFF"/>
          </a:solidFill>
          <a:ln w="12700">
            <a:solidFill>
              <a:srgbClr val="E9ECF5"/>
            </a:solidFill>
            <a:prstDash val="solid"/>
          </a:ln>
          <a:effectLst>
            <a:outerShdw blurRad="63500" dist="25400" dir="5400000" algn="bl" rotWithShape="0">
              <a:srgbClr val="1E2761">
                <a:alpha val="10000"/>
              </a:srgbClr>
            </a:outerShdw>
          </a:effectLst>
        </p:spPr>
      </p:sp>
      <p:sp>
        <p:nvSpPr>
          <p:cNvPr id="29" name="Shape 27"/>
          <p:cNvSpPr/>
          <p:nvPr/>
        </p:nvSpPr>
        <p:spPr>
          <a:xfrm>
            <a:off x="10250424" y="1901952"/>
            <a:ext cx="585216" cy="585216"/>
          </a:xfrm>
          <a:prstGeom prst="ellipse">
            <a:avLst/>
          </a:prstGeom>
          <a:solidFill>
            <a:srgbClr val="E8590C"/>
          </a:solidFill>
          <a:ln/>
        </p:spPr>
      </p:sp>
      <p:sp>
        <p:nvSpPr>
          <p:cNvPr id="30" name="Text 28"/>
          <p:cNvSpPr/>
          <p:nvPr/>
        </p:nvSpPr>
        <p:spPr>
          <a:xfrm>
            <a:off x="10250424" y="1901952"/>
            <a:ext cx="585216" cy="585216"/>
          </a:xfrm>
          <a:prstGeom prst="rect">
            <a:avLst/>
          </a:prstGeom>
          <a:noFill/>
          <a:ln/>
        </p:spPr>
        <p:txBody>
          <a:bodyPr wrap="square" rtlCol="0" anchor="ctr"/>
          <a:lstStyle/>
          <a:p>
            <a:pPr marL="0" indent="0" algn="ctr">
              <a:buNone/>
            </a:pPr>
            <a:r>
              <a:rPr lang="en-US" sz="1664" b="1" dirty="0">
                <a:solidFill>
                  <a:srgbClr val="FFFFFF"/>
                </a:solidFill>
                <a:latin typeface="Arial" pitchFamily="34" charset="0"/>
                <a:ea typeface="Arial" pitchFamily="34" charset="-122"/>
                <a:cs typeface="Arial" pitchFamily="34" charset="-120"/>
              </a:rPr>
              <a:t>5</a:t>
            </a:r>
            <a:endParaRPr lang="en-US" sz="1664" dirty="0"/>
          </a:p>
        </p:txBody>
      </p:sp>
      <p:sp>
        <p:nvSpPr>
          <p:cNvPr id="31" name="Text 29"/>
          <p:cNvSpPr/>
          <p:nvPr/>
        </p:nvSpPr>
        <p:spPr>
          <a:xfrm>
            <a:off x="9637776" y="2606040"/>
            <a:ext cx="1810512" cy="457200"/>
          </a:xfrm>
          <a:prstGeom prst="rect">
            <a:avLst/>
          </a:prstGeom>
          <a:noFill/>
          <a:ln/>
        </p:spPr>
        <p:txBody>
          <a:bodyPr wrap="square" rtlCol="0" anchor="ctr"/>
          <a:lstStyle/>
          <a:p>
            <a:pPr marL="0" indent="0" algn="ctr">
              <a:buNone/>
            </a:pPr>
            <a:r>
              <a:rPr lang="en-US" sz="1300" b="1" dirty="0">
                <a:solidFill>
                  <a:srgbClr val="1E2761"/>
                </a:solidFill>
                <a:latin typeface="Arial" pitchFamily="34" charset="0"/>
                <a:ea typeface="Arial" pitchFamily="34" charset="-122"/>
                <a:cs typeface="Arial" pitchFamily="34" charset="-120"/>
              </a:rPr>
              <a:t>Power BI</a:t>
            </a:r>
            <a:endParaRPr lang="en-US" sz="1300" dirty="0"/>
          </a:p>
        </p:txBody>
      </p:sp>
      <p:sp>
        <p:nvSpPr>
          <p:cNvPr id="32" name="Text 30"/>
          <p:cNvSpPr/>
          <p:nvPr/>
        </p:nvSpPr>
        <p:spPr>
          <a:xfrm>
            <a:off x="9683496" y="3108960"/>
            <a:ext cx="1719072" cy="1371600"/>
          </a:xfrm>
          <a:prstGeom prst="rect">
            <a:avLst/>
          </a:prstGeom>
          <a:noFill/>
          <a:ln/>
        </p:spPr>
        <p:txBody>
          <a:bodyPr wrap="square" rtlCol="0" anchor="ctr"/>
          <a:lstStyle/>
          <a:p>
            <a:pPr marL="0" indent="0" algn="ctr">
              <a:lnSpc>
                <a:spcPct val="120000"/>
              </a:lnSpc>
              <a:buNone/>
            </a:pPr>
            <a:r>
              <a:rPr lang="en-US" sz="950" dirty="0">
                <a:solidFill>
                  <a:srgbClr val="4A4F63"/>
                </a:solidFill>
                <a:latin typeface="Arial" pitchFamily="34" charset="0"/>
                <a:ea typeface="Arial" pitchFamily="34" charset="-122"/>
                <a:cs typeface="Arial" pitchFamily="34" charset="-120"/>
              </a:rPr>
              <a:t>DAX Measures,</a:t>
            </a:r>
            <a:endParaRPr lang="en-US" sz="950" dirty="0"/>
          </a:p>
          <a:p>
            <a:pPr marL="0" indent="0" algn="ctr">
              <a:lnSpc>
                <a:spcPct val="120000"/>
              </a:lnSpc>
              <a:buNone/>
            </a:pPr>
            <a:r>
              <a:rPr lang="en-US" sz="950" dirty="0">
                <a:solidFill>
                  <a:srgbClr val="4A4F63"/>
                </a:solidFill>
                <a:latin typeface="Arial" pitchFamily="34" charset="0"/>
                <a:ea typeface="Arial" pitchFamily="34" charset="-122"/>
                <a:cs typeface="Arial" pitchFamily="34" charset="-120"/>
              </a:rPr>
              <a:t>Dashboard 6 trang,</a:t>
            </a:r>
            <a:endParaRPr lang="en-US" sz="950" dirty="0"/>
          </a:p>
          <a:p>
            <a:pPr marL="0" indent="0" algn="ctr">
              <a:lnSpc>
                <a:spcPct val="120000"/>
              </a:lnSpc>
              <a:buNone/>
            </a:pPr>
            <a:r>
              <a:rPr lang="en-US" sz="950" dirty="0">
                <a:solidFill>
                  <a:srgbClr val="4A4F63"/>
                </a:solidFill>
                <a:latin typeface="Arial" pitchFamily="34" charset="0"/>
                <a:ea typeface="Arial" pitchFamily="34" charset="-122"/>
                <a:cs typeface="Arial" pitchFamily="34" charset="-120"/>
              </a:rPr>
              <a:t>Scheduled Refresh</a:t>
            </a:r>
            <a:endParaRPr lang="en-US" sz="950" dirty="0"/>
          </a:p>
          <a:p>
            <a:pPr marL="0" indent="0" algn="ctr">
              <a:lnSpc>
                <a:spcPct val="120000"/>
              </a:lnSpc>
              <a:buNone/>
            </a:pPr>
            <a:r>
              <a:rPr lang="en-US" sz="950" dirty="0">
                <a:solidFill>
                  <a:srgbClr val="4A4F63"/>
                </a:solidFill>
                <a:latin typeface="Arial" pitchFamily="34" charset="0"/>
                <a:ea typeface="Arial" pitchFamily="34" charset="-122"/>
                <a:cs typeface="Arial" pitchFamily="34" charset="-120"/>
              </a:rPr>
              <a:t>hằng ngày</a:t>
            </a:r>
            <a:endParaRPr lang="en-US" sz="950" dirty="0"/>
          </a:p>
        </p:txBody>
      </p:sp>
      <p:sp>
        <p:nvSpPr>
          <p:cNvPr id="33" name="Shape 31"/>
          <p:cNvSpPr/>
          <p:nvPr/>
        </p:nvSpPr>
        <p:spPr>
          <a:xfrm>
            <a:off x="548640" y="5074920"/>
            <a:ext cx="11064240" cy="1005840"/>
          </a:xfrm>
          <a:prstGeom prst="roundRect">
            <a:avLst>
              <a:gd name="adj" fmla="val 5455"/>
            </a:avLst>
          </a:prstGeom>
          <a:solidFill>
            <a:srgbClr val="CADCFC"/>
          </a:solidFill>
          <a:ln/>
        </p:spPr>
      </p:sp>
      <p:sp>
        <p:nvSpPr>
          <p:cNvPr id="34" name="Text 32"/>
          <p:cNvSpPr/>
          <p:nvPr/>
        </p:nvSpPr>
        <p:spPr>
          <a:xfrm>
            <a:off x="822960" y="5212080"/>
            <a:ext cx="10515600" cy="731520"/>
          </a:xfrm>
          <a:prstGeom prst="rect">
            <a:avLst/>
          </a:prstGeom>
          <a:noFill/>
          <a:ln/>
        </p:spPr>
        <p:txBody>
          <a:bodyPr wrap="square" rtlCol="0" anchor="ctr"/>
          <a:lstStyle/>
          <a:p>
            <a:pPr marL="0" indent="0">
              <a:lnSpc>
                <a:spcPct val="125000"/>
              </a:lnSpc>
              <a:buNone/>
            </a:pPr>
            <a:r>
              <a:rPr lang="en-US" sz="1150" b="1" dirty="0">
                <a:solidFill>
                  <a:srgbClr val="1E2761"/>
                </a:solidFill>
                <a:latin typeface="Arial" pitchFamily="34" charset="0"/>
                <a:ea typeface="Arial" pitchFamily="34" charset="-122"/>
                <a:cs typeface="Arial" pitchFamily="34" charset="-120"/>
              </a:rPr>
              <a:t>Nguyên tắc phân chia công cụ:  </a:t>
            </a:r>
            <a:r>
              <a:rPr lang="en-US" sz="1150" dirty="0">
                <a:solidFill>
                  <a:srgbClr val="2A2E3F"/>
                </a:solidFill>
                <a:latin typeface="Arial" pitchFamily="34" charset="0"/>
                <a:ea typeface="Arial" pitchFamily="34" charset="-122"/>
                <a:cs typeface="Arial" pitchFamily="34" charset="-120"/>
              </a:rPr>
              <a:t>Python cho giai </a:t>
            </a:r>
            <a:r>
              <a:rPr lang="en-US" sz="1150" dirty="0" err="1">
                <a:solidFill>
                  <a:srgbClr val="2A2E3F"/>
                </a:solidFill>
                <a:latin typeface="Arial" pitchFamily="34" charset="0"/>
                <a:ea typeface="Arial" pitchFamily="34" charset="-122"/>
                <a:cs typeface="Arial" pitchFamily="34" charset="-120"/>
              </a:rPr>
              <a:t>đoạn</a:t>
            </a:r>
            <a:r>
              <a:rPr lang="en-US" sz="1150" dirty="0">
                <a:solidFill>
                  <a:srgbClr val="2A2E3F"/>
                </a:solidFill>
                <a:latin typeface="Arial" pitchFamily="34" charset="0"/>
                <a:ea typeface="Arial" pitchFamily="34" charset="-122"/>
                <a:cs typeface="Arial" pitchFamily="34" charset="-120"/>
              </a:rPr>
              <a:t> </a:t>
            </a:r>
            <a:r>
              <a:rPr lang="en-US" sz="1150" dirty="0" smtClean="0">
                <a:solidFill>
                  <a:srgbClr val="2A2E3F"/>
                </a:solidFill>
                <a:latin typeface="Arial" pitchFamily="34" charset="0"/>
                <a:ea typeface="Arial" pitchFamily="34" charset="-122"/>
                <a:cs typeface="Arial" pitchFamily="34" charset="-120"/>
              </a:rPr>
              <a:t>load </a:t>
            </a:r>
            <a:r>
              <a:rPr lang="en-US" sz="1150" dirty="0" err="1" smtClean="0">
                <a:solidFill>
                  <a:srgbClr val="2A2E3F"/>
                </a:solidFill>
                <a:latin typeface="Arial" pitchFamily="34" charset="0"/>
                <a:ea typeface="Arial" pitchFamily="34" charset="-122"/>
                <a:cs typeface="Arial" pitchFamily="34" charset="-120"/>
              </a:rPr>
              <a:t>dữ</a:t>
            </a:r>
            <a:r>
              <a:rPr lang="en-US" sz="1150" dirty="0" smtClean="0">
                <a:solidFill>
                  <a:srgbClr val="2A2E3F"/>
                </a:solidFill>
                <a:latin typeface="Arial" pitchFamily="34" charset="0"/>
                <a:ea typeface="Arial" pitchFamily="34" charset="-122"/>
                <a:cs typeface="Arial" pitchFamily="34" charset="-120"/>
              </a:rPr>
              <a:t> </a:t>
            </a:r>
            <a:r>
              <a:rPr lang="en-US" sz="1150" dirty="0" err="1" smtClean="0">
                <a:solidFill>
                  <a:srgbClr val="2A2E3F"/>
                </a:solidFill>
                <a:latin typeface="Arial" pitchFamily="34" charset="0"/>
                <a:ea typeface="Arial" pitchFamily="34" charset="-122"/>
                <a:cs typeface="Arial" pitchFamily="34" charset="-120"/>
              </a:rPr>
              <a:t>liệu</a:t>
            </a:r>
            <a:r>
              <a:rPr lang="en-US" sz="1150" dirty="0" smtClean="0">
                <a:solidFill>
                  <a:srgbClr val="2A2E3F"/>
                </a:solidFill>
                <a:latin typeface="Arial" pitchFamily="34" charset="0"/>
                <a:ea typeface="Arial" pitchFamily="34" charset="-122"/>
                <a:cs typeface="Arial" pitchFamily="34" charset="-120"/>
              </a:rPr>
              <a:t> </a:t>
            </a:r>
            <a:r>
              <a:rPr lang="en-US" sz="1150" dirty="0" err="1" smtClean="0">
                <a:solidFill>
                  <a:srgbClr val="2A2E3F"/>
                </a:solidFill>
                <a:latin typeface="Arial" pitchFamily="34" charset="0"/>
                <a:ea typeface="Arial" pitchFamily="34" charset="-122"/>
                <a:cs typeface="Arial" pitchFamily="34" charset="-120"/>
              </a:rPr>
              <a:t>lên</a:t>
            </a:r>
            <a:r>
              <a:rPr lang="en-US" sz="1150" dirty="0" smtClean="0">
                <a:solidFill>
                  <a:srgbClr val="2A2E3F"/>
                </a:solidFill>
                <a:latin typeface="Arial" pitchFamily="34" charset="0"/>
                <a:ea typeface="Arial" pitchFamily="34" charset="-122"/>
                <a:cs typeface="Arial" pitchFamily="34" charset="-120"/>
              </a:rPr>
              <a:t> SQL server.</a:t>
            </a:r>
          </a:p>
          <a:p>
            <a:pPr marL="0" indent="0">
              <a:lnSpc>
                <a:spcPct val="125000"/>
              </a:lnSpc>
              <a:buNone/>
            </a:pPr>
            <a:r>
              <a:rPr lang="en-US" sz="1150" dirty="0" smtClean="0">
                <a:solidFill>
                  <a:srgbClr val="2A2E3F"/>
                </a:solidFill>
                <a:latin typeface="Arial" pitchFamily="34" charset="0"/>
                <a:ea typeface="Arial" pitchFamily="34" charset="-122"/>
                <a:cs typeface="Arial" pitchFamily="34" charset="-120"/>
              </a:rPr>
              <a:t>• </a:t>
            </a:r>
            <a:r>
              <a:rPr lang="en-US" sz="1150" dirty="0">
                <a:solidFill>
                  <a:srgbClr val="2A2E3F"/>
                </a:solidFill>
                <a:latin typeface="Arial" pitchFamily="34" charset="0"/>
                <a:ea typeface="Arial" pitchFamily="34" charset="-122"/>
                <a:cs typeface="Arial" pitchFamily="34" charset="-120"/>
              </a:rPr>
              <a:t>BigQuery cho ETL chuẩn </a:t>
            </a:r>
            <a:r>
              <a:rPr lang="en-US" sz="1150" dirty="0" err="1">
                <a:solidFill>
                  <a:srgbClr val="2A2E3F"/>
                </a:solidFill>
                <a:latin typeface="Arial" pitchFamily="34" charset="0"/>
                <a:ea typeface="Arial" pitchFamily="34" charset="-122"/>
                <a:cs typeface="Arial" pitchFamily="34" charset="-120"/>
              </a:rPr>
              <a:t>hóa</a:t>
            </a:r>
            <a:r>
              <a:rPr lang="en-US" sz="1150" dirty="0">
                <a:solidFill>
                  <a:srgbClr val="2A2E3F"/>
                </a:solidFill>
                <a:latin typeface="Arial" pitchFamily="34" charset="0"/>
                <a:ea typeface="Arial" pitchFamily="34" charset="-122"/>
                <a:cs typeface="Arial" pitchFamily="34" charset="-120"/>
              </a:rPr>
              <a:t> </a:t>
            </a:r>
            <a:r>
              <a:rPr lang="en-US" sz="1150" dirty="0" smtClean="0">
                <a:solidFill>
                  <a:srgbClr val="2A2E3F"/>
                </a:solidFill>
                <a:latin typeface="Arial" pitchFamily="34" charset="0"/>
                <a:ea typeface="Arial" pitchFamily="34" charset="-122"/>
                <a:cs typeface="Arial" pitchFamily="34" charset="-120"/>
              </a:rPr>
              <a:t>production. </a:t>
            </a:r>
          </a:p>
          <a:p>
            <a:pPr marL="0" indent="0">
              <a:lnSpc>
                <a:spcPct val="125000"/>
              </a:lnSpc>
              <a:buNone/>
            </a:pPr>
            <a:r>
              <a:rPr lang="en-US" sz="1150" dirty="0" smtClean="0">
                <a:solidFill>
                  <a:srgbClr val="2A2E3F"/>
                </a:solidFill>
                <a:latin typeface="Arial" pitchFamily="34" charset="0"/>
                <a:ea typeface="Arial" pitchFamily="34" charset="-122"/>
                <a:cs typeface="Arial" pitchFamily="34" charset="-120"/>
              </a:rPr>
              <a:t>• </a:t>
            </a:r>
            <a:r>
              <a:rPr lang="en-US" sz="1150" dirty="0">
                <a:solidFill>
                  <a:srgbClr val="2A2E3F"/>
                </a:solidFill>
                <a:latin typeface="Arial" pitchFamily="34" charset="0"/>
                <a:ea typeface="Arial" pitchFamily="34" charset="-122"/>
                <a:cs typeface="Arial" pitchFamily="34" charset="-120"/>
              </a:rPr>
              <a:t>Power BI cho mô hình hóa, tính toán linh hoạt theo filter context và trực quan hóa.</a:t>
            </a:r>
            <a:endParaRPr lang="en-US" sz="1150" dirty="0"/>
          </a:p>
        </p:txBody>
      </p:sp>
      <p:sp>
        <p:nvSpPr>
          <p:cNvPr id="35" name="Text 33"/>
          <p:cNvSpPr/>
          <p:nvPr/>
        </p:nvSpPr>
        <p:spPr>
          <a:xfrm>
            <a:off x="457200" y="6473952"/>
            <a:ext cx="5486400" cy="274320"/>
          </a:xfrm>
          <a:prstGeom prst="rect">
            <a:avLst/>
          </a:prstGeom>
          <a:noFill/>
          <a:ln/>
        </p:spPr>
        <p:txBody>
          <a:bodyPr wrap="square" rtlCol="0" anchor="ctr"/>
          <a:lstStyle/>
          <a:p>
            <a:pPr marL="0" indent="0" algn="l">
              <a:buNone/>
            </a:pPr>
            <a:r>
              <a:rPr lang="en-US" sz="900" dirty="0">
                <a:solidFill>
                  <a:srgbClr val="9AA3B8"/>
                </a:solidFill>
                <a:latin typeface="Arial" pitchFamily="34" charset="0"/>
                <a:ea typeface="Arial" pitchFamily="34" charset="-122"/>
                <a:cs typeface="Arial" pitchFamily="34" charset="-120"/>
              </a:rPr>
              <a:t>OLIST ECOMMERCE ANALYTICS</a:t>
            </a:r>
            <a:endParaRPr lang="en-US" sz="900" dirty="0"/>
          </a:p>
        </p:txBody>
      </p:sp>
      <p:sp>
        <p:nvSpPr>
          <p:cNvPr id="36" name="Text 34"/>
          <p:cNvSpPr/>
          <p:nvPr/>
        </p:nvSpPr>
        <p:spPr>
          <a:xfrm>
            <a:off x="8074152" y="6473952"/>
            <a:ext cx="3657600" cy="274320"/>
          </a:xfrm>
          <a:prstGeom prst="rect">
            <a:avLst/>
          </a:prstGeom>
          <a:noFill/>
          <a:ln/>
        </p:spPr>
        <p:txBody>
          <a:bodyPr wrap="square" rtlCol="0" anchor="ctr"/>
          <a:lstStyle/>
          <a:p>
            <a:pPr marL="0" indent="0" algn="r">
              <a:buNone/>
            </a:pPr>
            <a:r>
              <a:rPr lang="en-US" sz="900" dirty="0">
                <a:solidFill>
                  <a:srgbClr val="9AA3B8"/>
                </a:solidFill>
                <a:latin typeface="Arial" pitchFamily="34" charset="0"/>
                <a:ea typeface="Arial" pitchFamily="34" charset="-122"/>
                <a:cs typeface="Arial" pitchFamily="34" charset="-120"/>
              </a:rPr>
              <a:t>04</a:t>
            </a:r>
            <a:endParaRPr lang="en-US" sz="900" dirty="0"/>
          </a:p>
        </p:txBody>
      </p:sp>
    </p:spTree>
  </p:cSld>
  <p:clrMapOvr>
    <a:masterClrMapping/>
  </p:clrMapOvr>
  <p:transition spd="slow">
    <p:wip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C"/>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Mô hình dữ liệu — Star Schema</a:t>
            </a:r>
            <a:endParaRPr lang="en-US" sz="3000" dirty="0"/>
          </a:p>
        </p:txBody>
      </p:sp>
      <p:sp>
        <p:nvSpPr>
          <p:cNvPr id="3" name="Text 1"/>
          <p:cNvSpPr/>
          <p:nvPr/>
        </p:nvSpPr>
        <p:spPr>
          <a:xfrm>
            <a:off x="548640" y="932688"/>
            <a:ext cx="11091672" cy="365760"/>
          </a:xfrm>
          <a:prstGeom prst="rect">
            <a:avLst/>
          </a:prstGeom>
          <a:noFill/>
          <a:ln/>
        </p:spPr>
        <p:txBody>
          <a:bodyPr wrap="square" rtlCol="0" anchor="ctr"/>
          <a:lstStyle/>
          <a:p>
            <a:pPr marL="0" indent="0">
              <a:buNone/>
            </a:pPr>
            <a:r>
              <a:rPr lang="en-US" sz="1300" i="1" dirty="0">
                <a:solidFill>
                  <a:srgbClr val="6B7280"/>
                </a:solidFill>
                <a:latin typeface="Arial" pitchFamily="34" charset="0"/>
                <a:ea typeface="Arial" pitchFamily="34" charset="-122"/>
                <a:cs typeface="Arial" pitchFamily="34" charset="-120"/>
              </a:rPr>
              <a:t>5 bảng Dimension + 4 bảng Fact, thiết kế chuẩn Kimball, 0 lỗi tham chiếu</a:t>
            </a:r>
            <a:endParaRPr lang="en-US" sz="1300" dirty="0"/>
          </a:p>
        </p:txBody>
      </p:sp>
      <p:sp>
        <p:nvSpPr>
          <p:cNvPr id="4" name="Shape 2"/>
          <p:cNvSpPr/>
          <p:nvPr/>
        </p:nvSpPr>
        <p:spPr>
          <a:xfrm>
            <a:off x="548640" y="1234440"/>
            <a:ext cx="2651760" cy="1051560"/>
          </a:xfrm>
          <a:prstGeom prst="roundRect">
            <a:avLst>
              <a:gd name="adj" fmla="val 6957"/>
            </a:avLst>
          </a:prstGeom>
          <a:solidFill>
            <a:srgbClr val="FFFFFF"/>
          </a:solidFill>
          <a:ln w="12700">
            <a:solidFill>
              <a:srgbClr val="E9ECF5"/>
            </a:solidFill>
            <a:prstDash val="solid"/>
          </a:ln>
          <a:effectLst>
            <a:outerShdw blurRad="76200" dist="25400" dir="5400000" algn="bl" rotWithShape="0">
              <a:srgbClr val="1E2761">
                <a:alpha val="12000"/>
              </a:srgbClr>
            </a:outerShdw>
          </a:effectLst>
        </p:spPr>
      </p:sp>
      <p:sp>
        <p:nvSpPr>
          <p:cNvPr id="5" name="Text 3"/>
          <p:cNvSpPr/>
          <p:nvPr/>
        </p:nvSpPr>
        <p:spPr>
          <a:xfrm>
            <a:off x="548640" y="1307592"/>
            <a:ext cx="2651760" cy="594360"/>
          </a:xfrm>
          <a:prstGeom prst="rect">
            <a:avLst/>
          </a:prstGeom>
          <a:noFill/>
          <a:ln/>
        </p:spPr>
        <p:txBody>
          <a:bodyPr wrap="square" rtlCol="0" anchor="b"/>
          <a:lstStyle/>
          <a:p>
            <a:pPr marL="0" indent="0" algn="ctr">
              <a:buNone/>
            </a:pPr>
            <a:r>
              <a:rPr lang="en-US" sz="2600" b="1" dirty="0">
                <a:solidFill>
                  <a:srgbClr val="1E2761"/>
                </a:solidFill>
                <a:latin typeface="Arial" pitchFamily="34" charset="0"/>
                <a:ea typeface="Arial" pitchFamily="34" charset="-122"/>
                <a:cs typeface="Arial" pitchFamily="34" charset="-120"/>
              </a:rPr>
              <a:t>99,441</a:t>
            </a:r>
            <a:endParaRPr lang="en-US" sz="2600" dirty="0"/>
          </a:p>
        </p:txBody>
      </p:sp>
      <p:sp>
        <p:nvSpPr>
          <p:cNvPr id="6" name="Text 4"/>
          <p:cNvSpPr/>
          <p:nvPr/>
        </p:nvSpPr>
        <p:spPr>
          <a:xfrm>
            <a:off x="548640" y="1901952"/>
            <a:ext cx="2651760" cy="320040"/>
          </a:xfrm>
          <a:prstGeom prst="rect">
            <a:avLst/>
          </a:prstGeom>
          <a:noFill/>
          <a:ln/>
        </p:spPr>
        <p:txBody>
          <a:bodyPr wrap="square" rtlCol="0" anchor="t"/>
          <a:lstStyle/>
          <a:p>
            <a:pPr marL="0" indent="0" algn="ctr">
              <a:buNone/>
            </a:pPr>
            <a:r>
              <a:rPr lang="en-US" sz="1050" dirty="0">
                <a:solidFill>
                  <a:srgbClr val="6B7280"/>
                </a:solidFill>
                <a:latin typeface="Arial" pitchFamily="34" charset="0"/>
                <a:ea typeface="Arial" pitchFamily="34" charset="-122"/>
                <a:cs typeface="Arial" pitchFamily="34" charset="-120"/>
              </a:rPr>
              <a:t>Đơn hàng (fact_orders)</a:t>
            </a:r>
            <a:endParaRPr lang="en-US" sz="1050" dirty="0"/>
          </a:p>
        </p:txBody>
      </p:sp>
      <p:sp>
        <p:nvSpPr>
          <p:cNvPr id="7" name="Shape 5"/>
          <p:cNvSpPr/>
          <p:nvPr/>
        </p:nvSpPr>
        <p:spPr>
          <a:xfrm>
            <a:off x="3291840" y="1234440"/>
            <a:ext cx="2651760" cy="1051560"/>
          </a:xfrm>
          <a:prstGeom prst="roundRect">
            <a:avLst>
              <a:gd name="adj" fmla="val 6957"/>
            </a:avLst>
          </a:prstGeom>
          <a:solidFill>
            <a:srgbClr val="FFFFFF"/>
          </a:solidFill>
          <a:ln w="12700">
            <a:solidFill>
              <a:srgbClr val="E9ECF5"/>
            </a:solidFill>
            <a:prstDash val="solid"/>
          </a:ln>
          <a:effectLst>
            <a:outerShdw blurRad="76200" dist="25400" dir="5400000" algn="bl" rotWithShape="0">
              <a:srgbClr val="1E2761">
                <a:alpha val="12000"/>
              </a:srgbClr>
            </a:outerShdw>
          </a:effectLst>
        </p:spPr>
      </p:sp>
      <p:sp>
        <p:nvSpPr>
          <p:cNvPr id="8" name="Text 6"/>
          <p:cNvSpPr/>
          <p:nvPr/>
        </p:nvSpPr>
        <p:spPr>
          <a:xfrm>
            <a:off x="3291840" y="1307592"/>
            <a:ext cx="2651760" cy="594360"/>
          </a:xfrm>
          <a:prstGeom prst="rect">
            <a:avLst/>
          </a:prstGeom>
          <a:noFill/>
          <a:ln/>
        </p:spPr>
        <p:txBody>
          <a:bodyPr wrap="square" rtlCol="0" anchor="b"/>
          <a:lstStyle/>
          <a:p>
            <a:pPr marL="0" indent="0" algn="ctr">
              <a:buNone/>
            </a:pPr>
            <a:r>
              <a:rPr lang="en-US" sz="2600" b="1" dirty="0">
                <a:solidFill>
                  <a:srgbClr val="1E2761"/>
                </a:solidFill>
                <a:latin typeface="Arial" pitchFamily="34" charset="0"/>
                <a:ea typeface="Arial" pitchFamily="34" charset="-122"/>
                <a:cs typeface="Arial" pitchFamily="34" charset="-120"/>
              </a:rPr>
              <a:t>112,650</a:t>
            </a:r>
            <a:endParaRPr lang="en-US" sz="2600" dirty="0"/>
          </a:p>
        </p:txBody>
      </p:sp>
      <p:sp>
        <p:nvSpPr>
          <p:cNvPr id="9" name="Text 7"/>
          <p:cNvSpPr/>
          <p:nvPr/>
        </p:nvSpPr>
        <p:spPr>
          <a:xfrm>
            <a:off x="3291840" y="1901952"/>
            <a:ext cx="2651760" cy="320040"/>
          </a:xfrm>
          <a:prstGeom prst="rect">
            <a:avLst/>
          </a:prstGeom>
          <a:noFill/>
          <a:ln/>
        </p:spPr>
        <p:txBody>
          <a:bodyPr wrap="square" rtlCol="0" anchor="t"/>
          <a:lstStyle/>
          <a:p>
            <a:pPr marL="0" indent="0" algn="ctr">
              <a:buNone/>
            </a:pPr>
            <a:r>
              <a:rPr lang="en-US" sz="1050" dirty="0">
                <a:solidFill>
                  <a:srgbClr val="6B7280"/>
                </a:solidFill>
                <a:latin typeface="Arial" pitchFamily="34" charset="0"/>
                <a:ea typeface="Arial" pitchFamily="34" charset="-122"/>
                <a:cs typeface="Arial" pitchFamily="34" charset="-120"/>
              </a:rPr>
              <a:t>Sản phẩm bán ra (order_items)</a:t>
            </a:r>
            <a:endParaRPr lang="en-US" sz="1050" dirty="0"/>
          </a:p>
        </p:txBody>
      </p:sp>
      <p:sp>
        <p:nvSpPr>
          <p:cNvPr id="10" name="Shape 8"/>
          <p:cNvSpPr/>
          <p:nvPr/>
        </p:nvSpPr>
        <p:spPr>
          <a:xfrm>
            <a:off x="6035040" y="1234440"/>
            <a:ext cx="2651760" cy="1051560"/>
          </a:xfrm>
          <a:prstGeom prst="roundRect">
            <a:avLst>
              <a:gd name="adj" fmla="val 6957"/>
            </a:avLst>
          </a:prstGeom>
          <a:solidFill>
            <a:srgbClr val="FFFFFF"/>
          </a:solidFill>
          <a:ln w="12700">
            <a:solidFill>
              <a:srgbClr val="E9ECF5"/>
            </a:solidFill>
            <a:prstDash val="solid"/>
          </a:ln>
          <a:effectLst>
            <a:outerShdw blurRad="76200" dist="25400" dir="5400000" algn="bl" rotWithShape="0">
              <a:srgbClr val="1E2761">
                <a:alpha val="12000"/>
              </a:srgbClr>
            </a:outerShdw>
          </a:effectLst>
        </p:spPr>
      </p:sp>
      <p:sp>
        <p:nvSpPr>
          <p:cNvPr id="11" name="Text 9"/>
          <p:cNvSpPr/>
          <p:nvPr/>
        </p:nvSpPr>
        <p:spPr>
          <a:xfrm>
            <a:off x="6035040" y="1307592"/>
            <a:ext cx="2651760" cy="594360"/>
          </a:xfrm>
          <a:prstGeom prst="rect">
            <a:avLst/>
          </a:prstGeom>
          <a:noFill/>
          <a:ln/>
        </p:spPr>
        <p:txBody>
          <a:bodyPr wrap="square" rtlCol="0" anchor="b"/>
          <a:lstStyle/>
          <a:p>
            <a:pPr marL="0" indent="0" algn="ctr">
              <a:buNone/>
            </a:pPr>
            <a:r>
              <a:rPr lang="en-US" sz="2600" b="1" dirty="0">
                <a:solidFill>
                  <a:srgbClr val="1E2761"/>
                </a:solidFill>
                <a:latin typeface="Arial" pitchFamily="34" charset="0"/>
                <a:ea typeface="Arial" pitchFamily="34" charset="-122"/>
                <a:cs typeface="Arial" pitchFamily="34" charset="-120"/>
              </a:rPr>
              <a:t>19,015</a:t>
            </a:r>
            <a:endParaRPr lang="en-US" sz="2600" dirty="0"/>
          </a:p>
        </p:txBody>
      </p:sp>
      <p:sp>
        <p:nvSpPr>
          <p:cNvPr id="12" name="Text 10"/>
          <p:cNvSpPr/>
          <p:nvPr/>
        </p:nvSpPr>
        <p:spPr>
          <a:xfrm>
            <a:off x="6035040" y="1901952"/>
            <a:ext cx="2651760" cy="320040"/>
          </a:xfrm>
          <a:prstGeom prst="rect">
            <a:avLst/>
          </a:prstGeom>
          <a:noFill/>
          <a:ln/>
        </p:spPr>
        <p:txBody>
          <a:bodyPr wrap="square" rtlCol="0" anchor="t"/>
          <a:lstStyle/>
          <a:p>
            <a:pPr marL="0" indent="0" algn="ctr">
              <a:buNone/>
            </a:pPr>
            <a:r>
              <a:rPr lang="en-US" sz="1050" dirty="0">
                <a:solidFill>
                  <a:srgbClr val="6B7280"/>
                </a:solidFill>
                <a:latin typeface="Arial" pitchFamily="34" charset="0"/>
                <a:ea typeface="Arial" pitchFamily="34" charset="-122"/>
                <a:cs typeface="Arial" pitchFamily="34" charset="-120"/>
              </a:rPr>
              <a:t>Mã zip (geolocation, đã dedupe)</a:t>
            </a:r>
            <a:endParaRPr lang="en-US" sz="1050" dirty="0"/>
          </a:p>
        </p:txBody>
      </p:sp>
      <p:sp>
        <p:nvSpPr>
          <p:cNvPr id="13" name="Shape 11"/>
          <p:cNvSpPr/>
          <p:nvPr/>
        </p:nvSpPr>
        <p:spPr>
          <a:xfrm>
            <a:off x="8778240" y="1234440"/>
            <a:ext cx="2834640" cy="1051560"/>
          </a:xfrm>
          <a:prstGeom prst="roundRect">
            <a:avLst>
              <a:gd name="adj" fmla="val 6957"/>
            </a:avLst>
          </a:prstGeom>
          <a:solidFill>
            <a:srgbClr val="FFFFFF"/>
          </a:solidFill>
          <a:ln w="12700">
            <a:solidFill>
              <a:srgbClr val="E9ECF5"/>
            </a:solidFill>
            <a:prstDash val="solid"/>
          </a:ln>
          <a:effectLst>
            <a:outerShdw blurRad="76200" dist="25400" dir="5400000" algn="bl" rotWithShape="0">
              <a:srgbClr val="1E2761">
                <a:alpha val="12000"/>
              </a:srgbClr>
            </a:outerShdw>
          </a:effectLst>
        </p:spPr>
      </p:sp>
      <p:sp>
        <p:nvSpPr>
          <p:cNvPr id="14" name="Text 12"/>
          <p:cNvSpPr/>
          <p:nvPr/>
        </p:nvSpPr>
        <p:spPr>
          <a:xfrm>
            <a:off x="8778240" y="1307592"/>
            <a:ext cx="2834640" cy="594360"/>
          </a:xfrm>
          <a:prstGeom prst="rect">
            <a:avLst/>
          </a:prstGeom>
          <a:noFill/>
          <a:ln/>
        </p:spPr>
        <p:txBody>
          <a:bodyPr wrap="square" rtlCol="0" anchor="b"/>
          <a:lstStyle/>
          <a:p>
            <a:pPr marL="0" indent="0" algn="ctr">
              <a:buNone/>
            </a:pPr>
            <a:r>
              <a:rPr lang="en-US" sz="2600" b="1" dirty="0">
                <a:solidFill>
                  <a:srgbClr val="2B8A3E"/>
                </a:solidFill>
                <a:latin typeface="Arial" pitchFamily="34" charset="0"/>
                <a:ea typeface="Arial" pitchFamily="34" charset="-122"/>
                <a:cs typeface="Arial" pitchFamily="34" charset="-120"/>
              </a:rPr>
              <a:t>0</a:t>
            </a:r>
            <a:endParaRPr lang="en-US" sz="2600" dirty="0"/>
          </a:p>
        </p:txBody>
      </p:sp>
      <p:sp>
        <p:nvSpPr>
          <p:cNvPr id="15" name="Text 13"/>
          <p:cNvSpPr/>
          <p:nvPr/>
        </p:nvSpPr>
        <p:spPr>
          <a:xfrm>
            <a:off x="8778240" y="1901952"/>
            <a:ext cx="2834640" cy="320040"/>
          </a:xfrm>
          <a:prstGeom prst="rect">
            <a:avLst/>
          </a:prstGeom>
          <a:noFill/>
          <a:ln/>
        </p:spPr>
        <p:txBody>
          <a:bodyPr wrap="square" rtlCol="0" anchor="t"/>
          <a:lstStyle/>
          <a:p>
            <a:pPr marL="0" indent="0" algn="ctr">
              <a:buNone/>
            </a:pPr>
            <a:r>
              <a:rPr lang="en-US" sz="1050" dirty="0">
                <a:solidFill>
                  <a:srgbClr val="6B7280"/>
                </a:solidFill>
                <a:latin typeface="Arial" pitchFamily="34" charset="0"/>
                <a:ea typeface="Arial" pitchFamily="34" charset="-122"/>
                <a:cs typeface="Arial" pitchFamily="34" charset="-120"/>
              </a:rPr>
              <a:t>Bản ghi mồ côi (orphan record)</a:t>
            </a:r>
            <a:endParaRPr lang="en-US" sz="10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2606040"/>
          <a:ext cx="5486400" cy="2304288"/>
        </p:xfrm>
        <a:graphic>
          <a:graphicData uri="http://schemas.openxmlformats.org/drawingml/2006/table">
            <a:tbl>
              <a:tblPr/>
              <a:tblGrid>
                <a:gridCol w="310896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tblGrid>
              <a:tr h="384048">
                <a:tc>
                  <a:txBody>
                    <a:bodyPr/>
                    <a:lstStyle/>
                    <a:p>
                      <a:pPr marL="0" indent="0">
                        <a:buNone/>
                      </a:pPr>
                      <a:r>
                        <a:rPr lang="en-US" sz="1100" b="1" dirty="0">
                          <a:solidFill>
                            <a:srgbClr val="FFFFFF"/>
                          </a:solidFill>
                          <a:latin typeface="Arial" pitchFamily="34" charset="0"/>
                          <a:ea typeface="Arial" pitchFamily="34" charset="-122"/>
                          <a:cs typeface="Arial" pitchFamily="34" charset="-120"/>
                        </a:rPr>
                        <a:t>DIMENSION</a:t>
                      </a:r>
                      <a:endParaRPr lang="en-US" sz="1100" dirty="0">
                        <a:latin typeface="Arial" charset="0"/>
                        <a:ea typeface="Arial" charset="0"/>
                        <a:cs typeface="Arial" charset="0"/>
                      </a:endParaRPr>
                    </a:p>
                  </a:txBody>
                  <a:tcPr>
                    <a:lnL w="12700" cap="flat" cmpd="sng" algn="ctr">
                      <a:solidFill>
                        <a:srgbClr val="E9ECF5"/>
                      </a:solidFill>
                      <a:prstDash val="solid"/>
                      <a:round/>
                      <a:headEnd type="none" w="med" len="med"/>
                      <a:tailEnd type="none" w="med" len="med"/>
                    </a:lnL>
                    <a:lnR w="12700" cap="flat" cmpd="sng" algn="ctr">
                      <a:solidFill>
                        <a:srgbClr val="E9ECF5"/>
                      </a:solidFill>
                      <a:prstDash val="solid"/>
                      <a:round/>
                      <a:headEnd type="none" w="med" len="med"/>
                      <a:tailEnd type="none" w="med" len="med"/>
                    </a:lnR>
                    <a:lnT w="12700" cap="flat" cmpd="sng" algn="ctr">
                      <a:solidFill>
                        <a:srgbClr val="E9ECF5"/>
                      </a:solidFill>
                      <a:prstDash val="solid"/>
                      <a:round/>
                      <a:headEnd type="none" w="med" len="med"/>
                      <a:tailEnd type="none" w="med" len="med"/>
                    </a:lnT>
                    <a:lnB w="12700" cap="flat" cmpd="sng" algn="ctr">
                      <a:solidFill>
                        <a:srgbClr val="E9ECF5"/>
                      </a:solidFill>
                      <a:prstDash val="solid"/>
                      <a:round/>
                      <a:headEnd type="none" w="med" len="med"/>
                      <a:tailEnd type="none" w="med" len="med"/>
                    </a:lnB>
                    <a:solidFill>
                      <a:srgbClr val="2E5EAA"/>
                    </a:solidFill>
                  </a:tcPr>
                </a:tc>
                <a:tc>
                  <a:txBody>
                    <a:bodyPr/>
                    <a:lstStyle/>
                    <a:p>
                      <a:pPr marL="0" indent="0">
                        <a:buNone/>
                      </a:pPr>
                      <a:r>
                        <a:rPr lang="en-US" sz="1100" b="1" dirty="0">
                          <a:solidFill>
                            <a:srgbClr val="FFFFFF"/>
                          </a:solidFill>
                          <a:latin typeface="Arial" pitchFamily="34" charset="0"/>
                          <a:ea typeface="Arial" pitchFamily="34" charset="-122"/>
                          <a:cs typeface="Arial" pitchFamily="34" charset="-120"/>
                        </a:rPr>
                        <a:t>Grain</a:t>
                      </a:r>
                      <a:endParaRPr lang="en-US" sz="1100" dirty="0">
                        <a:latin typeface="Arial" charset="0"/>
                        <a:ea typeface="Arial" charset="0"/>
                        <a:cs typeface="Arial" charset="0"/>
                      </a:endParaRPr>
                    </a:p>
                  </a:txBody>
                  <a:tcPr>
                    <a:lnL w="12700" cap="flat" cmpd="sng" algn="ctr">
                      <a:solidFill>
                        <a:srgbClr val="E9ECF5"/>
                      </a:solidFill>
                      <a:prstDash val="solid"/>
                      <a:round/>
                      <a:headEnd type="none" w="med" len="med"/>
                      <a:tailEnd type="none" w="med" len="med"/>
                    </a:lnL>
                    <a:lnR w="12700" cap="flat" cmpd="sng" algn="ctr">
                      <a:solidFill>
                        <a:srgbClr val="E9ECF5"/>
                      </a:solidFill>
                      <a:prstDash val="solid"/>
                      <a:round/>
                      <a:headEnd type="none" w="med" len="med"/>
                      <a:tailEnd type="none" w="med" len="med"/>
                    </a:lnR>
                    <a:lnT w="12700" cap="flat" cmpd="sng" algn="ctr">
                      <a:solidFill>
                        <a:srgbClr val="E9ECF5"/>
                      </a:solidFill>
                      <a:prstDash val="solid"/>
                      <a:round/>
                      <a:headEnd type="none" w="med" len="med"/>
                      <a:tailEnd type="none" w="med" len="med"/>
                    </a:lnT>
                    <a:lnB w="12700" cap="flat" cmpd="sng" algn="ctr">
                      <a:solidFill>
                        <a:srgbClr val="E9ECF5"/>
                      </a:solidFill>
                      <a:prstDash val="solid"/>
                      <a:round/>
                      <a:headEnd type="none" w="med" len="med"/>
                      <a:tailEnd type="none" w="med" len="med"/>
                    </a:lnB>
                    <a:solidFill>
                      <a:srgbClr val="2E5EAA"/>
                    </a:solidFill>
                  </a:tcPr>
                </a:tc>
                <a:extLst>
                  <a:ext uri="{0D108BD9-81ED-4DB2-BD59-A6C34878D82A}">
                    <a16:rowId xmlns:a16="http://schemas.microsoft.com/office/drawing/2014/main" val="10000"/>
                  </a:ext>
                </a:extLst>
              </a:tr>
              <a:tr h="384048">
                <a:tc>
                  <a:txBody>
                    <a:bodyPr/>
                    <a:lstStyle/>
                    <a:p>
                      <a:pPr marL="0" indent="0">
                        <a:buNone/>
                      </a:pPr>
                      <a:r>
                        <a:rPr lang="en-US" sz="1100" dirty="0">
                          <a:solidFill>
                            <a:srgbClr val="000000"/>
                          </a:solidFill>
                          <a:latin typeface="Arial" pitchFamily="34" charset="0"/>
                          <a:ea typeface="Arial" pitchFamily="34" charset="-122"/>
                          <a:cs typeface="Arial" pitchFamily="34" charset="-120"/>
                        </a:rPr>
                        <a:t>dim_customers</a:t>
                      </a:r>
                      <a:endParaRPr lang="en-US" sz="1100" dirty="0">
                        <a:latin typeface="Arial" charset="0"/>
                        <a:ea typeface="Arial" charset="0"/>
                        <a:cs typeface="Arial" charset="0"/>
                      </a:endParaRPr>
                    </a:p>
                  </a:txBody>
                  <a:tcPr>
                    <a:lnL w="12700" cap="flat" cmpd="sng" algn="ctr">
                      <a:solidFill>
                        <a:srgbClr val="E9ECF5"/>
                      </a:solidFill>
                      <a:prstDash val="solid"/>
                      <a:round/>
                      <a:headEnd type="none" w="med" len="med"/>
                      <a:tailEnd type="none" w="med" len="med"/>
                    </a:lnL>
                    <a:lnR w="12700" cap="flat" cmpd="sng" algn="ctr">
                      <a:solidFill>
                        <a:srgbClr val="E9ECF5"/>
                      </a:solidFill>
                      <a:prstDash val="solid"/>
                      <a:round/>
                      <a:headEnd type="none" w="med" len="med"/>
                      <a:tailEnd type="none" w="med" len="med"/>
                    </a:lnR>
                    <a:lnT w="12700" cap="flat" cmpd="sng" algn="ctr">
                      <a:solidFill>
                        <a:srgbClr val="E9ECF5"/>
                      </a:solidFill>
                      <a:prstDash val="solid"/>
                      <a:round/>
                      <a:headEnd type="none" w="med" len="med"/>
                      <a:tailEnd type="none" w="med" len="med"/>
                    </a:lnT>
                    <a:lnB w="12700" cap="flat" cmpd="sng" algn="ctr">
                      <a:solidFill>
                        <a:srgbClr val="E9ECF5"/>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Arial" pitchFamily="34" charset="0"/>
                          <a:ea typeface="Arial" pitchFamily="34" charset="-122"/>
                          <a:cs typeface="Arial" pitchFamily="34" charset="-120"/>
                        </a:rPr>
                        <a:t>1 dòng / customer_id</a:t>
                      </a:r>
                      <a:endParaRPr lang="en-US" sz="1100" dirty="0">
                        <a:latin typeface="Arial" charset="0"/>
                        <a:ea typeface="Arial" charset="0"/>
                        <a:cs typeface="Arial" charset="0"/>
                      </a:endParaRPr>
                    </a:p>
                  </a:txBody>
                  <a:tcPr>
                    <a:lnL w="12700" cap="flat" cmpd="sng" algn="ctr">
                      <a:solidFill>
                        <a:srgbClr val="E9ECF5"/>
                      </a:solidFill>
                      <a:prstDash val="solid"/>
                      <a:round/>
                      <a:headEnd type="none" w="med" len="med"/>
                      <a:tailEnd type="none" w="med" len="med"/>
                    </a:lnL>
                    <a:lnR w="12700" cap="flat" cmpd="sng" algn="ctr">
                      <a:solidFill>
                        <a:srgbClr val="E9ECF5"/>
                      </a:solidFill>
                      <a:prstDash val="solid"/>
                      <a:round/>
                      <a:headEnd type="none" w="med" len="med"/>
                      <a:tailEnd type="none" w="med" len="med"/>
                    </a:lnR>
                    <a:lnT w="12700" cap="flat" cmpd="sng" algn="ctr">
                      <a:solidFill>
                        <a:srgbClr val="E9ECF5"/>
                      </a:solidFill>
                      <a:prstDash val="solid"/>
                      <a:round/>
                      <a:headEnd type="none" w="med" len="med"/>
                      <a:tailEnd type="none" w="med" len="med"/>
                    </a:lnT>
                    <a:lnB w="12700" cap="flat" cmpd="sng" algn="ctr">
                      <a:solidFill>
                        <a:srgbClr val="E9ECF5"/>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buNone/>
                      </a:pPr>
                      <a:r>
                        <a:rPr lang="en-US" sz="1100" dirty="0">
                          <a:solidFill>
                            <a:srgbClr val="000000"/>
                          </a:solidFill>
                          <a:latin typeface="Arial" pitchFamily="34" charset="0"/>
                          <a:ea typeface="Arial" pitchFamily="34" charset="-122"/>
                          <a:cs typeface="Arial" pitchFamily="34" charset="-120"/>
                        </a:rPr>
                        <a:t>dim_products</a:t>
                      </a:r>
                      <a:endParaRPr lang="en-US" sz="1100" dirty="0">
                        <a:latin typeface="Arial" charset="0"/>
                        <a:ea typeface="Arial" charset="0"/>
                        <a:cs typeface="Arial" charset="0"/>
                      </a:endParaRPr>
                    </a:p>
                  </a:txBody>
                  <a:tcPr>
                    <a:lnL w="12700" cap="flat" cmpd="sng" algn="ctr">
                      <a:solidFill>
                        <a:srgbClr val="E9ECF5"/>
                      </a:solidFill>
                      <a:prstDash val="solid"/>
                      <a:round/>
                      <a:headEnd type="none" w="med" len="med"/>
                      <a:tailEnd type="none" w="med" len="med"/>
                    </a:lnL>
                    <a:lnR w="12700" cap="flat" cmpd="sng" algn="ctr">
                      <a:solidFill>
                        <a:srgbClr val="E9ECF5"/>
                      </a:solidFill>
                      <a:prstDash val="solid"/>
                      <a:round/>
                      <a:headEnd type="none" w="med" len="med"/>
                      <a:tailEnd type="none" w="med" len="med"/>
                    </a:lnR>
                    <a:lnT w="12700" cap="flat" cmpd="sng" algn="ctr">
                      <a:solidFill>
                        <a:srgbClr val="E9ECF5"/>
                      </a:solidFill>
                      <a:prstDash val="solid"/>
                      <a:round/>
                      <a:headEnd type="none" w="med" len="med"/>
                      <a:tailEnd type="none" w="med" len="med"/>
                    </a:lnT>
                    <a:lnB w="12700" cap="flat" cmpd="sng" algn="ctr">
                      <a:solidFill>
                        <a:srgbClr val="E9ECF5"/>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Arial" pitchFamily="34" charset="0"/>
                          <a:ea typeface="Arial" pitchFamily="34" charset="-122"/>
                          <a:cs typeface="Arial" pitchFamily="34" charset="-120"/>
                        </a:rPr>
                        <a:t>1 dòng / product_id</a:t>
                      </a:r>
                      <a:endParaRPr lang="en-US" sz="1100" dirty="0">
                        <a:latin typeface="Arial" charset="0"/>
                        <a:ea typeface="Arial" charset="0"/>
                        <a:cs typeface="Arial" charset="0"/>
                      </a:endParaRPr>
                    </a:p>
                  </a:txBody>
                  <a:tcPr>
                    <a:lnL w="12700" cap="flat" cmpd="sng" algn="ctr">
                      <a:solidFill>
                        <a:srgbClr val="E9ECF5"/>
                      </a:solidFill>
                      <a:prstDash val="solid"/>
                      <a:round/>
                      <a:headEnd type="none" w="med" len="med"/>
                      <a:tailEnd type="none" w="med" len="med"/>
                    </a:lnL>
                    <a:lnR w="12700" cap="flat" cmpd="sng" algn="ctr">
                      <a:solidFill>
                        <a:srgbClr val="E9ECF5"/>
                      </a:solidFill>
                      <a:prstDash val="solid"/>
                      <a:round/>
                      <a:headEnd type="none" w="med" len="med"/>
                      <a:tailEnd type="none" w="med" len="med"/>
                    </a:lnR>
                    <a:lnT w="12700" cap="flat" cmpd="sng" algn="ctr">
                      <a:solidFill>
                        <a:srgbClr val="E9ECF5"/>
                      </a:solidFill>
                      <a:prstDash val="solid"/>
                      <a:round/>
                      <a:headEnd type="none" w="med" len="med"/>
                      <a:tailEnd type="none" w="med" len="med"/>
                    </a:lnT>
                    <a:lnB w="12700" cap="flat" cmpd="sng" algn="ctr">
                      <a:solidFill>
                        <a:srgbClr val="E9ECF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buNone/>
                      </a:pPr>
                      <a:r>
                        <a:rPr lang="en-US" sz="1100" dirty="0">
                          <a:solidFill>
                            <a:srgbClr val="000000"/>
                          </a:solidFill>
                          <a:latin typeface="Arial" pitchFamily="34" charset="0"/>
                          <a:ea typeface="Arial" pitchFamily="34" charset="-122"/>
                          <a:cs typeface="Arial" pitchFamily="34" charset="-120"/>
                        </a:rPr>
                        <a:t>dim_sellers</a:t>
                      </a:r>
                      <a:endParaRPr lang="en-US" sz="1100" dirty="0">
                        <a:latin typeface="Arial" charset="0"/>
                        <a:ea typeface="Arial" charset="0"/>
                        <a:cs typeface="Arial" charset="0"/>
                      </a:endParaRPr>
                    </a:p>
                  </a:txBody>
                  <a:tcPr>
                    <a:lnL w="12700" cap="flat" cmpd="sng" algn="ctr">
                      <a:solidFill>
                        <a:srgbClr val="E9ECF5"/>
                      </a:solidFill>
                      <a:prstDash val="solid"/>
                      <a:round/>
                      <a:headEnd type="none" w="med" len="med"/>
                      <a:tailEnd type="none" w="med" len="med"/>
                    </a:lnL>
                    <a:lnR w="12700" cap="flat" cmpd="sng" algn="ctr">
                      <a:solidFill>
                        <a:srgbClr val="E9ECF5"/>
                      </a:solidFill>
                      <a:prstDash val="solid"/>
                      <a:round/>
                      <a:headEnd type="none" w="med" len="med"/>
                      <a:tailEnd type="none" w="med" len="med"/>
                    </a:lnR>
                    <a:lnT w="12700" cap="flat" cmpd="sng" algn="ctr">
                      <a:solidFill>
                        <a:srgbClr val="E9ECF5"/>
                      </a:solidFill>
                      <a:prstDash val="solid"/>
                      <a:round/>
                      <a:headEnd type="none" w="med" len="med"/>
                      <a:tailEnd type="none" w="med" len="med"/>
                    </a:lnT>
                    <a:lnB w="12700" cap="flat" cmpd="sng" algn="ctr">
                      <a:solidFill>
                        <a:srgbClr val="E9ECF5"/>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Arial" pitchFamily="34" charset="0"/>
                          <a:ea typeface="Arial" pitchFamily="34" charset="-122"/>
                          <a:cs typeface="Arial" pitchFamily="34" charset="-120"/>
                        </a:rPr>
                        <a:t>1 dòng / seller_id</a:t>
                      </a:r>
                      <a:endParaRPr lang="en-US" sz="1100" dirty="0">
                        <a:latin typeface="Arial" charset="0"/>
                        <a:ea typeface="Arial" charset="0"/>
                        <a:cs typeface="Arial" charset="0"/>
                      </a:endParaRPr>
                    </a:p>
                  </a:txBody>
                  <a:tcPr>
                    <a:lnL w="12700" cap="flat" cmpd="sng" algn="ctr">
                      <a:solidFill>
                        <a:srgbClr val="E9ECF5"/>
                      </a:solidFill>
                      <a:prstDash val="solid"/>
                      <a:round/>
                      <a:headEnd type="none" w="med" len="med"/>
                      <a:tailEnd type="none" w="med" len="med"/>
                    </a:lnL>
                    <a:lnR w="12700" cap="flat" cmpd="sng" algn="ctr">
                      <a:solidFill>
                        <a:srgbClr val="E9ECF5"/>
                      </a:solidFill>
                      <a:prstDash val="solid"/>
                      <a:round/>
                      <a:headEnd type="none" w="med" len="med"/>
                      <a:tailEnd type="none" w="med" len="med"/>
                    </a:lnR>
                    <a:lnT w="12700" cap="flat" cmpd="sng" algn="ctr">
                      <a:solidFill>
                        <a:srgbClr val="E9ECF5"/>
                      </a:solidFill>
                      <a:prstDash val="solid"/>
                      <a:round/>
                      <a:headEnd type="none" w="med" len="med"/>
                      <a:tailEnd type="none" w="med" len="med"/>
                    </a:lnT>
                    <a:lnB w="12700" cap="flat" cmpd="sng" algn="ctr">
                      <a:solidFill>
                        <a:srgbClr val="E9ECF5"/>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buNone/>
                      </a:pPr>
                      <a:r>
                        <a:rPr lang="en-US" sz="1100" dirty="0">
                          <a:solidFill>
                            <a:srgbClr val="000000"/>
                          </a:solidFill>
                          <a:latin typeface="Arial" pitchFamily="34" charset="0"/>
                          <a:ea typeface="Arial" pitchFamily="34" charset="-122"/>
                          <a:cs typeface="Arial" pitchFamily="34" charset="-120"/>
                        </a:rPr>
                        <a:t>dim_geolocation</a:t>
                      </a:r>
                      <a:endParaRPr lang="en-US" sz="1100" dirty="0">
                        <a:latin typeface="Arial" charset="0"/>
                        <a:ea typeface="Arial" charset="0"/>
                        <a:cs typeface="Arial" charset="0"/>
                      </a:endParaRPr>
                    </a:p>
                  </a:txBody>
                  <a:tcPr>
                    <a:lnL w="12700" cap="flat" cmpd="sng" algn="ctr">
                      <a:solidFill>
                        <a:srgbClr val="E9ECF5"/>
                      </a:solidFill>
                      <a:prstDash val="solid"/>
                      <a:round/>
                      <a:headEnd type="none" w="med" len="med"/>
                      <a:tailEnd type="none" w="med" len="med"/>
                    </a:lnL>
                    <a:lnR w="12700" cap="flat" cmpd="sng" algn="ctr">
                      <a:solidFill>
                        <a:srgbClr val="E9ECF5"/>
                      </a:solidFill>
                      <a:prstDash val="solid"/>
                      <a:round/>
                      <a:headEnd type="none" w="med" len="med"/>
                      <a:tailEnd type="none" w="med" len="med"/>
                    </a:lnR>
                    <a:lnT w="12700" cap="flat" cmpd="sng" algn="ctr">
                      <a:solidFill>
                        <a:srgbClr val="E9ECF5"/>
                      </a:solidFill>
                      <a:prstDash val="solid"/>
                      <a:round/>
                      <a:headEnd type="none" w="med" len="med"/>
                      <a:tailEnd type="none" w="med" len="med"/>
                    </a:lnT>
                    <a:lnB w="12700" cap="flat" cmpd="sng" algn="ctr">
                      <a:solidFill>
                        <a:srgbClr val="E9ECF5"/>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Arial" pitchFamily="34" charset="0"/>
                          <a:ea typeface="Arial" pitchFamily="34" charset="-122"/>
                          <a:cs typeface="Arial" pitchFamily="34" charset="-120"/>
                        </a:rPr>
                        <a:t>1 dòng / zip code (dedupe)</a:t>
                      </a:r>
                      <a:endParaRPr lang="en-US" sz="1100" dirty="0">
                        <a:latin typeface="Arial" charset="0"/>
                        <a:ea typeface="Arial" charset="0"/>
                        <a:cs typeface="Arial" charset="0"/>
                      </a:endParaRPr>
                    </a:p>
                  </a:txBody>
                  <a:tcPr>
                    <a:lnL w="12700" cap="flat" cmpd="sng" algn="ctr">
                      <a:solidFill>
                        <a:srgbClr val="E9ECF5"/>
                      </a:solidFill>
                      <a:prstDash val="solid"/>
                      <a:round/>
                      <a:headEnd type="none" w="med" len="med"/>
                      <a:tailEnd type="none" w="med" len="med"/>
                    </a:lnL>
                    <a:lnR w="12700" cap="flat" cmpd="sng" algn="ctr">
                      <a:solidFill>
                        <a:srgbClr val="E9ECF5"/>
                      </a:solidFill>
                      <a:prstDash val="solid"/>
                      <a:round/>
                      <a:headEnd type="none" w="med" len="med"/>
                      <a:tailEnd type="none" w="med" len="med"/>
                    </a:lnR>
                    <a:lnT w="12700" cap="flat" cmpd="sng" algn="ctr">
                      <a:solidFill>
                        <a:srgbClr val="E9ECF5"/>
                      </a:solidFill>
                      <a:prstDash val="solid"/>
                      <a:round/>
                      <a:headEnd type="none" w="med" len="med"/>
                      <a:tailEnd type="none" w="med" len="med"/>
                    </a:lnT>
                    <a:lnB w="12700" cap="flat" cmpd="sng" algn="ctr">
                      <a:solidFill>
                        <a:srgbClr val="E9ECF5"/>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84048">
                <a:tc>
                  <a:txBody>
                    <a:bodyPr/>
                    <a:lstStyle/>
                    <a:p>
                      <a:pPr marL="0" indent="0">
                        <a:buNone/>
                      </a:pPr>
                      <a:r>
                        <a:rPr lang="en-US" sz="1100" dirty="0">
                          <a:solidFill>
                            <a:srgbClr val="000000"/>
                          </a:solidFill>
                          <a:latin typeface="Arial" pitchFamily="34" charset="0"/>
                          <a:ea typeface="Arial" pitchFamily="34" charset="-122"/>
                          <a:cs typeface="Arial" pitchFamily="34" charset="-120"/>
                        </a:rPr>
                        <a:t>dim_date</a:t>
                      </a:r>
                      <a:endParaRPr lang="en-US" sz="1100" dirty="0">
                        <a:latin typeface="Arial" charset="0"/>
                        <a:ea typeface="Arial" charset="0"/>
                        <a:cs typeface="Arial" charset="0"/>
                      </a:endParaRPr>
                    </a:p>
                  </a:txBody>
                  <a:tcPr>
                    <a:lnL w="12700" cap="flat" cmpd="sng" algn="ctr">
                      <a:solidFill>
                        <a:srgbClr val="E9ECF5"/>
                      </a:solidFill>
                      <a:prstDash val="solid"/>
                      <a:round/>
                      <a:headEnd type="none" w="med" len="med"/>
                      <a:tailEnd type="none" w="med" len="med"/>
                    </a:lnL>
                    <a:lnR w="12700" cap="flat" cmpd="sng" algn="ctr">
                      <a:solidFill>
                        <a:srgbClr val="E9ECF5"/>
                      </a:solidFill>
                      <a:prstDash val="solid"/>
                      <a:round/>
                      <a:headEnd type="none" w="med" len="med"/>
                      <a:tailEnd type="none" w="med" len="med"/>
                    </a:lnR>
                    <a:lnT w="12700" cap="flat" cmpd="sng" algn="ctr">
                      <a:solidFill>
                        <a:srgbClr val="E9ECF5"/>
                      </a:solidFill>
                      <a:prstDash val="solid"/>
                      <a:round/>
                      <a:headEnd type="none" w="med" len="med"/>
                      <a:tailEnd type="none" w="med" len="med"/>
                    </a:lnT>
                    <a:lnB w="12700" cap="flat" cmpd="sng" algn="ctr">
                      <a:solidFill>
                        <a:srgbClr val="E9ECF5"/>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Arial" pitchFamily="34" charset="0"/>
                          <a:ea typeface="Arial" pitchFamily="34" charset="-122"/>
                          <a:cs typeface="Arial" pitchFamily="34" charset="-120"/>
                        </a:rPr>
                        <a:t>1 dòng / ngày lịch</a:t>
                      </a:r>
                      <a:endParaRPr lang="en-US" sz="1100" dirty="0">
                        <a:latin typeface="Arial" charset="0"/>
                        <a:ea typeface="Arial" charset="0"/>
                        <a:cs typeface="Arial" charset="0"/>
                      </a:endParaRPr>
                    </a:p>
                  </a:txBody>
                  <a:tcPr>
                    <a:lnL w="12700" cap="flat" cmpd="sng" algn="ctr">
                      <a:solidFill>
                        <a:srgbClr val="E9ECF5"/>
                      </a:solidFill>
                      <a:prstDash val="solid"/>
                      <a:round/>
                      <a:headEnd type="none" w="med" len="med"/>
                      <a:tailEnd type="none" w="med" len="med"/>
                    </a:lnL>
                    <a:lnR w="12700" cap="flat" cmpd="sng" algn="ctr">
                      <a:solidFill>
                        <a:srgbClr val="E9ECF5"/>
                      </a:solidFill>
                      <a:prstDash val="solid"/>
                      <a:round/>
                      <a:headEnd type="none" w="med" len="med"/>
                      <a:tailEnd type="none" w="med" len="med"/>
                    </a:lnR>
                    <a:lnT w="12700" cap="flat" cmpd="sng" algn="ctr">
                      <a:solidFill>
                        <a:srgbClr val="E9ECF5"/>
                      </a:solidFill>
                      <a:prstDash val="solid"/>
                      <a:round/>
                      <a:headEnd type="none" w="med" len="med"/>
                      <a:tailEnd type="none" w="med" len="med"/>
                    </a:lnT>
                    <a:lnB w="12700" cap="flat" cmpd="sng" algn="ctr">
                      <a:solidFill>
                        <a:srgbClr val="E9ECF5"/>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graphicFrame>
        <p:nvGraphicFramePr>
          <p:cNvPr id="17" name="Table 1"/>
          <p:cNvGraphicFramePr>
            <a:graphicFrameLocks noGrp="1"/>
          </p:cNvGraphicFramePr>
          <p:nvPr>
            <p:extLst>
              <p:ext uri="{D42A27DB-BD31-4B8C-83A1-F6EECF244321}">
                <p14:modId xmlns:p14="http://schemas.microsoft.com/office/powerpoint/2010/main" val="3847764285"/>
              </p:ext>
            </p:extLst>
          </p:nvPr>
        </p:nvGraphicFramePr>
        <p:xfrm>
          <a:off x="6263640" y="2606040"/>
          <a:ext cx="5349240" cy="1920240"/>
        </p:xfrm>
        <a:graphic>
          <a:graphicData uri="http://schemas.openxmlformats.org/drawingml/2006/table">
            <a:tbl>
              <a:tblPr/>
              <a:tblGrid>
                <a:gridCol w="3108960">
                  <a:extLst>
                    <a:ext uri="{9D8B030D-6E8A-4147-A177-3AD203B41FA5}">
                      <a16:colId xmlns:a16="http://schemas.microsoft.com/office/drawing/2014/main" val="20000"/>
                    </a:ext>
                  </a:extLst>
                </a:gridCol>
                <a:gridCol w="2240280">
                  <a:extLst>
                    <a:ext uri="{9D8B030D-6E8A-4147-A177-3AD203B41FA5}">
                      <a16:colId xmlns:a16="http://schemas.microsoft.com/office/drawing/2014/main" val="20001"/>
                    </a:ext>
                  </a:extLst>
                </a:gridCol>
              </a:tblGrid>
              <a:tr h="384048">
                <a:tc>
                  <a:txBody>
                    <a:bodyPr/>
                    <a:lstStyle/>
                    <a:p>
                      <a:pPr marL="0" indent="0">
                        <a:buNone/>
                      </a:pPr>
                      <a:r>
                        <a:rPr lang="en-US" sz="1100" b="1" dirty="0">
                          <a:solidFill>
                            <a:srgbClr val="FFFFFF"/>
                          </a:solidFill>
                          <a:latin typeface="Arial" pitchFamily="34" charset="0"/>
                          <a:ea typeface="Arial" pitchFamily="34" charset="-122"/>
                          <a:cs typeface="Arial" pitchFamily="34" charset="-120"/>
                        </a:rPr>
                        <a:t>FACT</a:t>
                      </a:r>
                      <a:endParaRPr lang="en-US" sz="1100" dirty="0">
                        <a:latin typeface="Arial" charset="0"/>
                        <a:ea typeface="Arial" charset="0"/>
                        <a:cs typeface="Arial" charset="0"/>
                      </a:endParaRPr>
                    </a:p>
                  </a:txBody>
                  <a:tcPr>
                    <a:lnL w="12700" cap="flat" cmpd="sng" algn="ctr">
                      <a:solidFill>
                        <a:srgbClr val="E9ECF5"/>
                      </a:solidFill>
                      <a:prstDash val="solid"/>
                      <a:round/>
                      <a:headEnd type="none" w="med" len="med"/>
                      <a:tailEnd type="none" w="med" len="med"/>
                    </a:lnL>
                    <a:lnR w="12700" cap="flat" cmpd="sng" algn="ctr">
                      <a:solidFill>
                        <a:srgbClr val="E9ECF5"/>
                      </a:solidFill>
                      <a:prstDash val="solid"/>
                      <a:round/>
                      <a:headEnd type="none" w="med" len="med"/>
                      <a:tailEnd type="none" w="med" len="med"/>
                    </a:lnR>
                    <a:lnT w="12700" cap="flat" cmpd="sng" algn="ctr">
                      <a:solidFill>
                        <a:srgbClr val="E9ECF5"/>
                      </a:solidFill>
                      <a:prstDash val="solid"/>
                      <a:round/>
                      <a:headEnd type="none" w="med" len="med"/>
                      <a:tailEnd type="none" w="med" len="med"/>
                    </a:lnT>
                    <a:lnB w="12700" cap="flat" cmpd="sng" algn="ctr">
                      <a:solidFill>
                        <a:srgbClr val="E9ECF5"/>
                      </a:solidFill>
                      <a:prstDash val="solid"/>
                      <a:round/>
                      <a:headEnd type="none" w="med" len="med"/>
                      <a:tailEnd type="none" w="med" len="med"/>
                    </a:lnB>
                    <a:solidFill>
                      <a:srgbClr val="E8590C"/>
                    </a:solidFill>
                  </a:tcPr>
                </a:tc>
                <a:tc>
                  <a:txBody>
                    <a:bodyPr/>
                    <a:lstStyle/>
                    <a:p>
                      <a:pPr marL="0" indent="0">
                        <a:buNone/>
                      </a:pPr>
                      <a:r>
                        <a:rPr lang="en-US" sz="1100" b="1" dirty="0">
                          <a:solidFill>
                            <a:srgbClr val="FFFFFF"/>
                          </a:solidFill>
                          <a:latin typeface="Arial" pitchFamily="34" charset="0"/>
                          <a:ea typeface="Arial" pitchFamily="34" charset="-122"/>
                          <a:cs typeface="Arial" pitchFamily="34" charset="-120"/>
                        </a:rPr>
                        <a:t>Grain</a:t>
                      </a:r>
                      <a:endParaRPr lang="en-US" sz="1100" dirty="0">
                        <a:latin typeface="Arial" charset="0"/>
                        <a:ea typeface="Arial" charset="0"/>
                        <a:cs typeface="Arial" charset="0"/>
                      </a:endParaRPr>
                    </a:p>
                  </a:txBody>
                  <a:tcPr>
                    <a:lnL w="12700" cap="flat" cmpd="sng" algn="ctr">
                      <a:solidFill>
                        <a:srgbClr val="E9ECF5"/>
                      </a:solidFill>
                      <a:prstDash val="solid"/>
                      <a:round/>
                      <a:headEnd type="none" w="med" len="med"/>
                      <a:tailEnd type="none" w="med" len="med"/>
                    </a:lnL>
                    <a:lnR w="12700" cap="flat" cmpd="sng" algn="ctr">
                      <a:solidFill>
                        <a:srgbClr val="E9ECF5"/>
                      </a:solidFill>
                      <a:prstDash val="solid"/>
                      <a:round/>
                      <a:headEnd type="none" w="med" len="med"/>
                      <a:tailEnd type="none" w="med" len="med"/>
                    </a:lnR>
                    <a:lnT w="12700" cap="flat" cmpd="sng" algn="ctr">
                      <a:solidFill>
                        <a:srgbClr val="E9ECF5"/>
                      </a:solidFill>
                      <a:prstDash val="solid"/>
                      <a:round/>
                      <a:headEnd type="none" w="med" len="med"/>
                      <a:tailEnd type="none" w="med" len="med"/>
                    </a:lnT>
                    <a:lnB w="12700" cap="flat" cmpd="sng" algn="ctr">
                      <a:solidFill>
                        <a:srgbClr val="E9ECF5"/>
                      </a:solidFill>
                      <a:prstDash val="solid"/>
                      <a:round/>
                      <a:headEnd type="none" w="med" len="med"/>
                      <a:tailEnd type="none" w="med" len="med"/>
                    </a:lnB>
                    <a:solidFill>
                      <a:srgbClr val="E8590C"/>
                    </a:solidFill>
                  </a:tcPr>
                </a:tc>
                <a:extLst>
                  <a:ext uri="{0D108BD9-81ED-4DB2-BD59-A6C34878D82A}">
                    <a16:rowId xmlns:a16="http://schemas.microsoft.com/office/drawing/2014/main" val="10000"/>
                  </a:ext>
                </a:extLst>
              </a:tr>
              <a:tr h="384048">
                <a:tc>
                  <a:txBody>
                    <a:bodyPr/>
                    <a:lstStyle/>
                    <a:p>
                      <a:pPr marL="0" indent="0">
                        <a:buNone/>
                      </a:pPr>
                      <a:r>
                        <a:rPr lang="en-US" sz="1100" dirty="0">
                          <a:solidFill>
                            <a:srgbClr val="000000"/>
                          </a:solidFill>
                          <a:latin typeface="Arial" pitchFamily="34" charset="0"/>
                          <a:ea typeface="Arial" pitchFamily="34" charset="-122"/>
                          <a:cs typeface="Arial" pitchFamily="34" charset="-120"/>
                        </a:rPr>
                        <a:t>fact_orders</a:t>
                      </a:r>
                      <a:endParaRPr lang="en-US" sz="1100" dirty="0">
                        <a:latin typeface="Arial" charset="0"/>
                        <a:ea typeface="Arial" charset="0"/>
                        <a:cs typeface="Arial" charset="0"/>
                      </a:endParaRPr>
                    </a:p>
                  </a:txBody>
                  <a:tcPr>
                    <a:lnL w="12700" cap="flat" cmpd="sng" algn="ctr">
                      <a:solidFill>
                        <a:srgbClr val="E9ECF5"/>
                      </a:solidFill>
                      <a:prstDash val="solid"/>
                      <a:round/>
                      <a:headEnd type="none" w="med" len="med"/>
                      <a:tailEnd type="none" w="med" len="med"/>
                    </a:lnL>
                    <a:lnR w="12700" cap="flat" cmpd="sng" algn="ctr">
                      <a:solidFill>
                        <a:srgbClr val="E9ECF5"/>
                      </a:solidFill>
                      <a:prstDash val="solid"/>
                      <a:round/>
                      <a:headEnd type="none" w="med" len="med"/>
                      <a:tailEnd type="none" w="med" len="med"/>
                    </a:lnR>
                    <a:lnT w="12700" cap="flat" cmpd="sng" algn="ctr">
                      <a:solidFill>
                        <a:srgbClr val="E9ECF5"/>
                      </a:solidFill>
                      <a:prstDash val="solid"/>
                      <a:round/>
                      <a:headEnd type="none" w="med" len="med"/>
                      <a:tailEnd type="none" w="med" len="med"/>
                    </a:lnT>
                    <a:lnB w="12700" cap="flat" cmpd="sng" algn="ctr">
                      <a:solidFill>
                        <a:srgbClr val="E9ECF5"/>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Arial" pitchFamily="34" charset="0"/>
                          <a:ea typeface="Arial" pitchFamily="34" charset="-122"/>
                          <a:cs typeface="Arial" pitchFamily="34" charset="-120"/>
                        </a:rPr>
                        <a:t>1 dòng / đơn hàng</a:t>
                      </a:r>
                      <a:endParaRPr lang="en-US" sz="1100" dirty="0">
                        <a:latin typeface="Arial" charset="0"/>
                        <a:ea typeface="Arial" charset="0"/>
                        <a:cs typeface="Arial" charset="0"/>
                      </a:endParaRPr>
                    </a:p>
                  </a:txBody>
                  <a:tcPr>
                    <a:lnL w="12700" cap="flat" cmpd="sng" algn="ctr">
                      <a:solidFill>
                        <a:srgbClr val="E9ECF5"/>
                      </a:solidFill>
                      <a:prstDash val="solid"/>
                      <a:round/>
                      <a:headEnd type="none" w="med" len="med"/>
                      <a:tailEnd type="none" w="med" len="med"/>
                    </a:lnL>
                    <a:lnR w="12700" cap="flat" cmpd="sng" algn="ctr">
                      <a:solidFill>
                        <a:srgbClr val="E9ECF5"/>
                      </a:solidFill>
                      <a:prstDash val="solid"/>
                      <a:round/>
                      <a:headEnd type="none" w="med" len="med"/>
                      <a:tailEnd type="none" w="med" len="med"/>
                    </a:lnR>
                    <a:lnT w="12700" cap="flat" cmpd="sng" algn="ctr">
                      <a:solidFill>
                        <a:srgbClr val="E9ECF5"/>
                      </a:solidFill>
                      <a:prstDash val="solid"/>
                      <a:round/>
                      <a:headEnd type="none" w="med" len="med"/>
                      <a:tailEnd type="none" w="med" len="med"/>
                    </a:lnT>
                    <a:lnB w="12700" cap="flat" cmpd="sng" algn="ctr">
                      <a:solidFill>
                        <a:srgbClr val="E9ECF5"/>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buNone/>
                      </a:pPr>
                      <a:r>
                        <a:rPr lang="en-US" sz="1100" dirty="0">
                          <a:solidFill>
                            <a:srgbClr val="000000"/>
                          </a:solidFill>
                          <a:latin typeface="Arial" pitchFamily="34" charset="0"/>
                          <a:ea typeface="Arial" pitchFamily="34" charset="-122"/>
                          <a:cs typeface="Arial" pitchFamily="34" charset="-120"/>
                        </a:rPr>
                        <a:t>fact_order_items</a:t>
                      </a:r>
                      <a:endParaRPr lang="en-US" sz="1100" dirty="0">
                        <a:latin typeface="Arial" charset="0"/>
                        <a:ea typeface="Arial" charset="0"/>
                        <a:cs typeface="Arial" charset="0"/>
                      </a:endParaRPr>
                    </a:p>
                  </a:txBody>
                  <a:tcPr>
                    <a:lnL w="12700" cap="flat" cmpd="sng" algn="ctr">
                      <a:solidFill>
                        <a:srgbClr val="E9ECF5"/>
                      </a:solidFill>
                      <a:prstDash val="solid"/>
                      <a:round/>
                      <a:headEnd type="none" w="med" len="med"/>
                      <a:tailEnd type="none" w="med" len="med"/>
                    </a:lnL>
                    <a:lnR w="12700" cap="flat" cmpd="sng" algn="ctr">
                      <a:solidFill>
                        <a:srgbClr val="E9ECF5"/>
                      </a:solidFill>
                      <a:prstDash val="solid"/>
                      <a:round/>
                      <a:headEnd type="none" w="med" len="med"/>
                      <a:tailEnd type="none" w="med" len="med"/>
                    </a:lnR>
                    <a:lnT w="12700" cap="flat" cmpd="sng" algn="ctr">
                      <a:solidFill>
                        <a:srgbClr val="E9ECF5"/>
                      </a:solidFill>
                      <a:prstDash val="solid"/>
                      <a:round/>
                      <a:headEnd type="none" w="med" len="med"/>
                      <a:tailEnd type="none" w="med" len="med"/>
                    </a:lnT>
                    <a:lnB w="12700" cap="flat" cmpd="sng" algn="ctr">
                      <a:solidFill>
                        <a:srgbClr val="E9ECF5"/>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Arial" pitchFamily="34" charset="0"/>
                          <a:ea typeface="Arial" pitchFamily="34" charset="-122"/>
                          <a:cs typeface="Arial" pitchFamily="34" charset="-120"/>
                        </a:rPr>
                        <a:t>1 dòng / sản phẩm trong đơn</a:t>
                      </a:r>
                      <a:endParaRPr lang="en-US" sz="1100" dirty="0">
                        <a:latin typeface="Arial" charset="0"/>
                        <a:ea typeface="Arial" charset="0"/>
                        <a:cs typeface="Arial" charset="0"/>
                      </a:endParaRPr>
                    </a:p>
                  </a:txBody>
                  <a:tcPr>
                    <a:lnL w="12700" cap="flat" cmpd="sng" algn="ctr">
                      <a:solidFill>
                        <a:srgbClr val="E9ECF5"/>
                      </a:solidFill>
                      <a:prstDash val="solid"/>
                      <a:round/>
                      <a:headEnd type="none" w="med" len="med"/>
                      <a:tailEnd type="none" w="med" len="med"/>
                    </a:lnL>
                    <a:lnR w="12700" cap="flat" cmpd="sng" algn="ctr">
                      <a:solidFill>
                        <a:srgbClr val="E9ECF5"/>
                      </a:solidFill>
                      <a:prstDash val="solid"/>
                      <a:round/>
                      <a:headEnd type="none" w="med" len="med"/>
                      <a:tailEnd type="none" w="med" len="med"/>
                    </a:lnR>
                    <a:lnT w="12700" cap="flat" cmpd="sng" algn="ctr">
                      <a:solidFill>
                        <a:srgbClr val="E9ECF5"/>
                      </a:solidFill>
                      <a:prstDash val="solid"/>
                      <a:round/>
                      <a:headEnd type="none" w="med" len="med"/>
                      <a:tailEnd type="none" w="med" len="med"/>
                    </a:lnT>
                    <a:lnB w="12700" cap="flat" cmpd="sng" algn="ctr">
                      <a:solidFill>
                        <a:srgbClr val="E9ECF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buNone/>
                      </a:pPr>
                      <a:r>
                        <a:rPr lang="en-US" sz="1100" dirty="0">
                          <a:solidFill>
                            <a:srgbClr val="000000"/>
                          </a:solidFill>
                          <a:latin typeface="Arial" pitchFamily="34" charset="0"/>
                          <a:ea typeface="Arial" pitchFamily="34" charset="-122"/>
                          <a:cs typeface="Arial" pitchFamily="34" charset="-120"/>
                        </a:rPr>
                        <a:t>fact_payments</a:t>
                      </a:r>
                      <a:endParaRPr lang="en-US" sz="1100" dirty="0">
                        <a:latin typeface="Arial" charset="0"/>
                        <a:ea typeface="Arial" charset="0"/>
                        <a:cs typeface="Arial" charset="0"/>
                      </a:endParaRPr>
                    </a:p>
                  </a:txBody>
                  <a:tcPr>
                    <a:lnL w="12700" cap="flat" cmpd="sng" algn="ctr">
                      <a:solidFill>
                        <a:srgbClr val="E9ECF5"/>
                      </a:solidFill>
                      <a:prstDash val="solid"/>
                      <a:round/>
                      <a:headEnd type="none" w="med" len="med"/>
                      <a:tailEnd type="none" w="med" len="med"/>
                    </a:lnL>
                    <a:lnR w="12700" cap="flat" cmpd="sng" algn="ctr">
                      <a:solidFill>
                        <a:srgbClr val="E9ECF5"/>
                      </a:solidFill>
                      <a:prstDash val="solid"/>
                      <a:round/>
                      <a:headEnd type="none" w="med" len="med"/>
                      <a:tailEnd type="none" w="med" len="med"/>
                    </a:lnR>
                    <a:lnT w="12700" cap="flat" cmpd="sng" algn="ctr">
                      <a:solidFill>
                        <a:srgbClr val="E9ECF5"/>
                      </a:solidFill>
                      <a:prstDash val="solid"/>
                      <a:round/>
                      <a:headEnd type="none" w="med" len="med"/>
                      <a:tailEnd type="none" w="med" len="med"/>
                    </a:lnT>
                    <a:lnB w="12700" cap="flat" cmpd="sng" algn="ctr">
                      <a:solidFill>
                        <a:srgbClr val="E9ECF5"/>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Arial" pitchFamily="34" charset="0"/>
                          <a:ea typeface="Arial" pitchFamily="34" charset="-122"/>
                          <a:cs typeface="Arial" pitchFamily="34" charset="-120"/>
                        </a:rPr>
                        <a:t>1 dòng / lượt thanh toán</a:t>
                      </a:r>
                      <a:endParaRPr lang="en-US" sz="1100" dirty="0">
                        <a:latin typeface="Arial" charset="0"/>
                        <a:ea typeface="Arial" charset="0"/>
                        <a:cs typeface="Arial" charset="0"/>
                      </a:endParaRPr>
                    </a:p>
                  </a:txBody>
                  <a:tcPr>
                    <a:lnL w="12700" cap="flat" cmpd="sng" algn="ctr">
                      <a:solidFill>
                        <a:srgbClr val="E9ECF5"/>
                      </a:solidFill>
                      <a:prstDash val="solid"/>
                      <a:round/>
                      <a:headEnd type="none" w="med" len="med"/>
                      <a:tailEnd type="none" w="med" len="med"/>
                    </a:lnL>
                    <a:lnR w="12700" cap="flat" cmpd="sng" algn="ctr">
                      <a:solidFill>
                        <a:srgbClr val="E9ECF5"/>
                      </a:solidFill>
                      <a:prstDash val="solid"/>
                      <a:round/>
                      <a:headEnd type="none" w="med" len="med"/>
                      <a:tailEnd type="none" w="med" len="med"/>
                    </a:lnR>
                    <a:lnT w="12700" cap="flat" cmpd="sng" algn="ctr">
                      <a:solidFill>
                        <a:srgbClr val="E9ECF5"/>
                      </a:solidFill>
                      <a:prstDash val="solid"/>
                      <a:round/>
                      <a:headEnd type="none" w="med" len="med"/>
                      <a:tailEnd type="none" w="med" len="med"/>
                    </a:lnT>
                    <a:lnB w="12700" cap="flat" cmpd="sng" algn="ctr">
                      <a:solidFill>
                        <a:srgbClr val="E9ECF5"/>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buNone/>
                      </a:pPr>
                      <a:r>
                        <a:rPr lang="en-US" sz="1100" dirty="0">
                          <a:solidFill>
                            <a:srgbClr val="000000"/>
                          </a:solidFill>
                          <a:latin typeface="Arial" pitchFamily="34" charset="0"/>
                          <a:ea typeface="Arial" pitchFamily="34" charset="-122"/>
                          <a:cs typeface="Arial" pitchFamily="34" charset="-120"/>
                        </a:rPr>
                        <a:t>fact_reviews</a:t>
                      </a:r>
                      <a:endParaRPr lang="en-US" sz="1100" dirty="0">
                        <a:latin typeface="Arial" charset="0"/>
                        <a:ea typeface="Arial" charset="0"/>
                        <a:cs typeface="Arial" charset="0"/>
                      </a:endParaRPr>
                    </a:p>
                  </a:txBody>
                  <a:tcPr>
                    <a:lnL w="12700" cap="flat" cmpd="sng" algn="ctr">
                      <a:solidFill>
                        <a:srgbClr val="E9ECF5"/>
                      </a:solidFill>
                      <a:prstDash val="solid"/>
                      <a:round/>
                      <a:headEnd type="none" w="med" len="med"/>
                      <a:tailEnd type="none" w="med" len="med"/>
                    </a:lnL>
                    <a:lnR w="12700" cap="flat" cmpd="sng" algn="ctr">
                      <a:solidFill>
                        <a:srgbClr val="E9ECF5"/>
                      </a:solidFill>
                      <a:prstDash val="solid"/>
                      <a:round/>
                      <a:headEnd type="none" w="med" len="med"/>
                      <a:tailEnd type="none" w="med" len="med"/>
                    </a:lnR>
                    <a:lnT w="12700" cap="flat" cmpd="sng" algn="ctr">
                      <a:solidFill>
                        <a:srgbClr val="E9ECF5"/>
                      </a:solidFill>
                      <a:prstDash val="solid"/>
                      <a:round/>
                      <a:headEnd type="none" w="med" len="med"/>
                      <a:tailEnd type="none" w="med" len="med"/>
                    </a:lnT>
                    <a:lnB w="12700" cap="flat" cmpd="sng" algn="ctr">
                      <a:solidFill>
                        <a:srgbClr val="E9ECF5"/>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Arial" pitchFamily="34" charset="0"/>
                          <a:ea typeface="Arial" pitchFamily="34" charset="-122"/>
                          <a:cs typeface="Arial" pitchFamily="34" charset="-120"/>
                        </a:rPr>
                        <a:t>1 dòng / </a:t>
                      </a:r>
                      <a:r>
                        <a:rPr lang="en-US" sz="1100" dirty="0" smtClean="0">
                          <a:solidFill>
                            <a:srgbClr val="000000"/>
                          </a:solidFill>
                          <a:latin typeface="Arial" pitchFamily="34" charset="0"/>
                          <a:ea typeface="Arial" pitchFamily="34" charset="-122"/>
                          <a:cs typeface="Arial" pitchFamily="34" charset="-120"/>
                        </a:rPr>
                        <a:t>review </a:t>
                      </a:r>
                      <a:r>
                        <a:rPr lang="en-US" sz="1100" dirty="0">
                          <a:solidFill>
                            <a:srgbClr val="000000"/>
                          </a:solidFill>
                          <a:latin typeface="Arial" pitchFamily="34" charset="0"/>
                          <a:ea typeface="Arial" pitchFamily="34" charset="-122"/>
                          <a:cs typeface="Arial" pitchFamily="34" charset="-120"/>
                        </a:rPr>
                        <a:t>(</a:t>
                      </a:r>
                      <a:r>
                        <a:rPr lang="en-US" sz="1100" dirty="0" err="1">
                          <a:solidFill>
                            <a:srgbClr val="000000"/>
                          </a:solidFill>
                          <a:latin typeface="Arial" pitchFamily="34" charset="0"/>
                          <a:ea typeface="Arial" pitchFamily="34" charset="-122"/>
                          <a:cs typeface="Arial" pitchFamily="34" charset="-120"/>
                        </a:rPr>
                        <a:t>đã</a:t>
                      </a:r>
                      <a:r>
                        <a:rPr lang="en-US" sz="1100" dirty="0">
                          <a:solidFill>
                            <a:srgbClr val="000000"/>
                          </a:solidFill>
                          <a:latin typeface="Arial" pitchFamily="34" charset="0"/>
                          <a:ea typeface="Arial" pitchFamily="34" charset="-122"/>
                          <a:cs typeface="Arial" pitchFamily="34" charset="-120"/>
                        </a:rPr>
                        <a:t> </a:t>
                      </a:r>
                      <a:r>
                        <a:rPr lang="en-US" sz="1100" dirty="0" smtClean="0">
                          <a:solidFill>
                            <a:srgbClr val="000000"/>
                          </a:solidFill>
                          <a:latin typeface="Arial" pitchFamily="34" charset="0"/>
                          <a:ea typeface="Arial" pitchFamily="34" charset="-122"/>
                          <a:cs typeface="Arial" pitchFamily="34" charset="-120"/>
                        </a:rPr>
                        <a:t>deduped)</a:t>
                      </a:r>
                      <a:endParaRPr lang="en-US" sz="1100" dirty="0">
                        <a:latin typeface="Arial" charset="0"/>
                        <a:ea typeface="Arial" charset="0"/>
                        <a:cs typeface="Arial" charset="0"/>
                      </a:endParaRPr>
                    </a:p>
                  </a:txBody>
                  <a:tcPr>
                    <a:lnL w="12700" cap="flat" cmpd="sng" algn="ctr">
                      <a:solidFill>
                        <a:srgbClr val="E9ECF5"/>
                      </a:solidFill>
                      <a:prstDash val="solid"/>
                      <a:round/>
                      <a:headEnd type="none" w="med" len="med"/>
                      <a:tailEnd type="none" w="med" len="med"/>
                    </a:lnL>
                    <a:lnR w="12700" cap="flat" cmpd="sng" algn="ctr">
                      <a:solidFill>
                        <a:srgbClr val="E9ECF5"/>
                      </a:solidFill>
                      <a:prstDash val="solid"/>
                      <a:round/>
                      <a:headEnd type="none" w="med" len="med"/>
                      <a:tailEnd type="none" w="med" len="med"/>
                    </a:lnR>
                    <a:lnT w="12700" cap="flat" cmpd="sng" algn="ctr">
                      <a:solidFill>
                        <a:srgbClr val="E9ECF5"/>
                      </a:solidFill>
                      <a:prstDash val="solid"/>
                      <a:round/>
                      <a:headEnd type="none" w="med" len="med"/>
                      <a:tailEnd type="none" w="med" len="med"/>
                    </a:lnT>
                    <a:lnB w="12700" cap="flat" cmpd="sng" algn="ctr">
                      <a:solidFill>
                        <a:srgbClr val="E9ECF5"/>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8" name="Shape 14"/>
          <p:cNvSpPr/>
          <p:nvPr/>
        </p:nvSpPr>
        <p:spPr>
          <a:xfrm>
            <a:off x="548640" y="5074920"/>
            <a:ext cx="11064240" cy="1005840"/>
          </a:xfrm>
          <a:prstGeom prst="roundRect">
            <a:avLst>
              <a:gd name="adj" fmla="val 5455"/>
            </a:avLst>
          </a:prstGeom>
          <a:solidFill>
            <a:srgbClr val="1E2761"/>
          </a:solidFill>
          <a:ln/>
        </p:spPr>
      </p:sp>
      <p:sp>
        <p:nvSpPr>
          <p:cNvPr id="19" name="Text 15"/>
          <p:cNvSpPr/>
          <p:nvPr/>
        </p:nvSpPr>
        <p:spPr>
          <a:xfrm>
            <a:off x="822960" y="5212080"/>
            <a:ext cx="10515600" cy="731520"/>
          </a:xfrm>
          <a:prstGeom prst="rect">
            <a:avLst/>
          </a:prstGeom>
          <a:noFill/>
          <a:ln/>
        </p:spPr>
        <p:txBody>
          <a:bodyPr wrap="square" rtlCol="0" anchor="ctr"/>
          <a:lstStyle/>
          <a:p>
            <a:pPr marL="0" indent="0">
              <a:lnSpc>
                <a:spcPct val="125000"/>
              </a:lnSpc>
              <a:buNone/>
            </a:pPr>
            <a:r>
              <a:rPr lang="en-US" sz="1150" b="1" dirty="0" err="1" smtClean="0">
                <a:solidFill>
                  <a:srgbClr val="FFD8A8"/>
                </a:solidFill>
                <a:latin typeface="Arial" pitchFamily="34" charset="0"/>
                <a:ea typeface="Arial" pitchFamily="34" charset="-122"/>
                <a:cs typeface="Arial" pitchFamily="34" charset="-120"/>
              </a:rPr>
              <a:t>Lưu</a:t>
            </a:r>
            <a:r>
              <a:rPr lang="en-US" sz="1150" b="1" dirty="0" smtClean="0">
                <a:solidFill>
                  <a:srgbClr val="FFD8A8"/>
                </a:solidFill>
                <a:latin typeface="Arial" pitchFamily="34" charset="0"/>
                <a:ea typeface="Arial" pitchFamily="34" charset="-122"/>
                <a:cs typeface="Arial" pitchFamily="34" charset="-120"/>
              </a:rPr>
              <a:t> ý </a:t>
            </a:r>
            <a:r>
              <a:rPr lang="en-US" sz="1150" b="1" dirty="0">
                <a:solidFill>
                  <a:srgbClr val="FFD8A8"/>
                </a:solidFill>
                <a:latin typeface="Arial" pitchFamily="34" charset="0"/>
                <a:ea typeface="Arial" pitchFamily="34" charset="-122"/>
                <a:cs typeface="Arial" pitchFamily="34" charset="-120"/>
              </a:rPr>
              <a:t>quan trọng nhất:  </a:t>
            </a:r>
            <a:r>
              <a:rPr lang="en-US" sz="1150" dirty="0">
                <a:solidFill>
                  <a:srgbClr val="FFFFFF"/>
                </a:solidFill>
                <a:latin typeface="Arial" pitchFamily="34" charset="0"/>
                <a:ea typeface="Arial" pitchFamily="34" charset="-122"/>
                <a:cs typeface="Arial" pitchFamily="34" charset="-120"/>
              </a:rPr>
              <a:t>customer_id là khóa theo </a:t>
            </a:r>
            <a:r>
              <a:rPr lang="en-US" sz="1150" b="1" dirty="0">
                <a:solidFill>
                  <a:srgbClr val="FFFFFF"/>
                </a:solidFill>
                <a:latin typeface="Arial" pitchFamily="34" charset="0"/>
                <a:ea typeface="Arial" pitchFamily="34" charset="-122"/>
                <a:cs typeface="Arial" pitchFamily="34" charset="-120"/>
              </a:rPr>
              <a:t>ĐƠN HÀNG</a:t>
            </a:r>
            <a:r>
              <a:rPr lang="en-US" sz="1150" dirty="0">
                <a:solidFill>
                  <a:srgbClr val="FFFFFF"/>
                </a:solidFill>
                <a:latin typeface="Arial" pitchFamily="34" charset="0"/>
                <a:ea typeface="Arial" pitchFamily="34" charset="-122"/>
                <a:cs typeface="Arial" pitchFamily="34" charset="-120"/>
              </a:rPr>
              <a:t>, còn customer_unique_id mới là </a:t>
            </a:r>
            <a:r>
              <a:rPr lang="en-US" sz="1150" b="1" dirty="0">
                <a:solidFill>
                  <a:srgbClr val="FFFFFF"/>
                </a:solidFill>
                <a:latin typeface="Arial" pitchFamily="34" charset="0"/>
                <a:ea typeface="Arial" pitchFamily="34" charset="-122"/>
                <a:cs typeface="Arial" pitchFamily="34" charset="-120"/>
              </a:rPr>
              <a:t>KHÁCH HÀNG THẬT </a:t>
            </a:r>
            <a:r>
              <a:rPr lang="en-US" sz="1150" dirty="0">
                <a:solidFill>
                  <a:srgbClr val="FFFFFF"/>
                </a:solidFill>
                <a:latin typeface="Arial" pitchFamily="34" charset="0"/>
                <a:ea typeface="Arial" pitchFamily="34" charset="-122"/>
                <a:cs typeface="Arial" pitchFamily="34" charset="-120"/>
              </a:rPr>
              <a:t>— mọi phép đo Repeat Rate/CLV bắt buộc dùng customer_unique_id.</a:t>
            </a:r>
            <a:endParaRPr lang="en-US" sz="1150" dirty="0"/>
          </a:p>
        </p:txBody>
      </p:sp>
      <p:sp>
        <p:nvSpPr>
          <p:cNvPr id="20" name="Text 16"/>
          <p:cNvSpPr/>
          <p:nvPr/>
        </p:nvSpPr>
        <p:spPr>
          <a:xfrm>
            <a:off x="457200" y="6473952"/>
            <a:ext cx="5486400" cy="274320"/>
          </a:xfrm>
          <a:prstGeom prst="rect">
            <a:avLst/>
          </a:prstGeom>
          <a:noFill/>
          <a:ln/>
        </p:spPr>
        <p:txBody>
          <a:bodyPr wrap="square" rtlCol="0" anchor="ctr"/>
          <a:lstStyle/>
          <a:p>
            <a:pPr marL="0" indent="0" algn="l">
              <a:buNone/>
            </a:pPr>
            <a:r>
              <a:rPr lang="en-US" sz="900" dirty="0">
                <a:solidFill>
                  <a:srgbClr val="9AA3B8"/>
                </a:solidFill>
                <a:latin typeface="Arial" pitchFamily="34" charset="0"/>
                <a:ea typeface="Arial" pitchFamily="34" charset="-122"/>
                <a:cs typeface="Arial" pitchFamily="34" charset="-120"/>
              </a:rPr>
              <a:t>OLIST ECOMMERCE ANALYTICS</a:t>
            </a:r>
            <a:endParaRPr lang="en-US" sz="900" dirty="0"/>
          </a:p>
        </p:txBody>
      </p:sp>
      <p:sp>
        <p:nvSpPr>
          <p:cNvPr id="21" name="Text 17"/>
          <p:cNvSpPr/>
          <p:nvPr/>
        </p:nvSpPr>
        <p:spPr>
          <a:xfrm>
            <a:off x="8074152" y="6473952"/>
            <a:ext cx="3657600" cy="274320"/>
          </a:xfrm>
          <a:prstGeom prst="rect">
            <a:avLst/>
          </a:prstGeom>
          <a:noFill/>
          <a:ln/>
        </p:spPr>
        <p:txBody>
          <a:bodyPr wrap="square" rtlCol="0" anchor="ctr"/>
          <a:lstStyle/>
          <a:p>
            <a:pPr marL="0" indent="0" algn="r">
              <a:buNone/>
            </a:pPr>
            <a:r>
              <a:rPr lang="en-US" sz="900" dirty="0">
                <a:solidFill>
                  <a:srgbClr val="9AA3B8"/>
                </a:solidFill>
                <a:latin typeface="Arial" pitchFamily="34" charset="0"/>
                <a:ea typeface="Arial" pitchFamily="34" charset="-122"/>
                <a:cs typeface="Arial" pitchFamily="34" charset="-120"/>
              </a:rPr>
              <a:t>05</a:t>
            </a:r>
            <a:endParaRPr lang="en-US" sz="900" dirty="0"/>
          </a:p>
        </p:txBody>
      </p:sp>
    </p:spTree>
  </p:cSld>
  <p:clrMapOvr>
    <a:masterClrMapping/>
  </p:clrMapOvr>
  <p:transition spd="slow">
    <p:wip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8778240" y="-2011680"/>
            <a:ext cx="5486400" cy="5486400"/>
          </a:xfrm>
          <a:prstGeom prst="ellipse">
            <a:avLst/>
          </a:prstGeom>
          <a:solidFill>
            <a:srgbClr val="141B4D"/>
          </a:solidFill>
          <a:ln/>
        </p:spPr>
      </p:sp>
      <p:sp>
        <p:nvSpPr>
          <p:cNvPr id="3" name="Text 1"/>
          <p:cNvSpPr/>
          <p:nvPr/>
        </p:nvSpPr>
        <p:spPr>
          <a:xfrm>
            <a:off x="640080" y="2103120"/>
            <a:ext cx="10058400" cy="640080"/>
          </a:xfrm>
          <a:prstGeom prst="rect">
            <a:avLst/>
          </a:prstGeom>
          <a:noFill/>
          <a:ln/>
        </p:spPr>
        <p:txBody>
          <a:bodyPr wrap="square" rtlCol="0" anchor="ctr"/>
          <a:lstStyle/>
          <a:p>
            <a:pPr marL="0" indent="0">
              <a:buNone/>
            </a:pPr>
            <a:r>
              <a:rPr lang="en-US" sz="1600" dirty="0">
                <a:solidFill>
                  <a:srgbClr val="CADCFC"/>
                </a:solidFill>
                <a:latin typeface="Arial" pitchFamily="34" charset="0"/>
                <a:ea typeface="Arial" pitchFamily="34" charset="-122"/>
                <a:cs typeface="Arial" pitchFamily="34" charset="-120"/>
              </a:rPr>
              <a:t>DASHBOARD POWER BI</a:t>
            </a:r>
            <a:endParaRPr lang="en-US" sz="1600" dirty="0"/>
          </a:p>
        </p:txBody>
      </p:sp>
      <p:sp>
        <p:nvSpPr>
          <p:cNvPr id="4" name="Text 2"/>
          <p:cNvSpPr/>
          <p:nvPr/>
        </p:nvSpPr>
        <p:spPr>
          <a:xfrm>
            <a:off x="640080" y="2560320"/>
            <a:ext cx="10058400" cy="914400"/>
          </a:xfrm>
          <a:prstGeom prst="rect">
            <a:avLst/>
          </a:prstGeom>
          <a:noFill/>
          <a:ln/>
        </p:spPr>
        <p:txBody>
          <a:bodyPr wrap="square"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6 Trang Phân Tích Tương Tác</a:t>
            </a:r>
            <a:endParaRPr lang="en-US" sz="3800" dirty="0"/>
          </a:p>
        </p:txBody>
      </p:sp>
      <p:sp>
        <p:nvSpPr>
          <p:cNvPr id="5" name="Shape 3"/>
          <p:cNvSpPr/>
          <p:nvPr/>
        </p:nvSpPr>
        <p:spPr>
          <a:xfrm>
            <a:off x="640080" y="3931920"/>
            <a:ext cx="1783080" cy="566928"/>
          </a:xfrm>
          <a:prstGeom prst="roundRect">
            <a:avLst>
              <a:gd name="adj" fmla="val 50000"/>
            </a:avLst>
          </a:prstGeom>
          <a:solidFill>
            <a:srgbClr val="2E5EAA"/>
          </a:solidFill>
          <a:ln/>
        </p:spPr>
      </p:sp>
      <p:sp>
        <p:nvSpPr>
          <p:cNvPr id="6" name="Text 4"/>
          <p:cNvSpPr/>
          <p:nvPr/>
        </p:nvSpPr>
        <p:spPr>
          <a:xfrm>
            <a:off x="640080" y="3931920"/>
            <a:ext cx="1783080" cy="566928"/>
          </a:xfrm>
          <a:prstGeom prst="rect">
            <a:avLst/>
          </a:prstGeom>
          <a:noFill/>
          <a:ln/>
        </p:spPr>
        <p:txBody>
          <a:bodyPr wrap="square" rtlCol="0" anchor="ctr"/>
          <a:lstStyle/>
          <a:p>
            <a:pPr marL="0" indent="0" algn="ctr">
              <a:buNone/>
            </a:pPr>
            <a:r>
              <a:rPr lang="en-US" sz="1050" b="1" dirty="0">
                <a:solidFill>
                  <a:srgbClr val="FFFFFF"/>
                </a:solidFill>
                <a:latin typeface="Arial" pitchFamily="34" charset="0"/>
                <a:ea typeface="Arial" pitchFamily="34" charset="-122"/>
                <a:cs typeface="Arial" pitchFamily="34" charset="-120"/>
              </a:rPr>
              <a:t>Overview</a:t>
            </a:r>
            <a:endParaRPr lang="en-US" sz="1050" dirty="0"/>
          </a:p>
        </p:txBody>
      </p:sp>
      <p:sp>
        <p:nvSpPr>
          <p:cNvPr id="7" name="Shape 5"/>
          <p:cNvSpPr/>
          <p:nvPr/>
        </p:nvSpPr>
        <p:spPr>
          <a:xfrm>
            <a:off x="2514600" y="3931920"/>
            <a:ext cx="1783080" cy="566928"/>
          </a:xfrm>
          <a:prstGeom prst="roundRect">
            <a:avLst>
              <a:gd name="adj" fmla="val 50000"/>
            </a:avLst>
          </a:prstGeom>
          <a:solidFill>
            <a:srgbClr val="2E5EAA"/>
          </a:solidFill>
          <a:ln/>
        </p:spPr>
      </p:sp>
      <p:sp>
        <p:nvSpPr>
          <p:cNvPr id="8" name="Text 6"/>
          <p:cNvSpPr/>
          <p:nvPr/>
        </p:nvSpPr>
        <p:spPr>
          <a:xfrm>
            <a:off x="2514600" y="3931920"/>
            <a:ext cx="1783080" cy="566928"/>
          </a:xfrm>
          <a:prstGeom prst="rect">
            <a:avLst/>
          </a:prstGeom>
          <a:noFill/>
          <a:ln/>
        </p:spPr>
        <p:txBody>
          <a:bodyPr wrap="square" rtlCol="0" anchor="ctr"/>
          <a:lstStyle/>
          <a:p>
            <a:pPr marL="0" indent="0" algn="ctr">
              <a:buNone/>
            </a:pPr>
            <a:r>
              <a:rPr lang="en-US" sz="1050" b="1" dirty="0">
                <a:solidFill>
                  <a:srgbClr val="FFFFFF"/>
                </a:solidFill>
                <a:latin typeface="Arial" pitchFamily="34" charset="0"/>
                <a:ea typeface="Arial" pitchFamily="34" charset="-122"/>
                <a:cs typeface="Arial" pitchFamily="34" charset="-120"/>
              </a:rPr>
              <a:t>Product</a:t>
            </a:r>
            <a:endParaRPr lang="en-US" sz="1050" dirty="0"/>
          </a:p>
        </p:txBody>
      </p:sp>
      <p:sp>
        <p:nvSpPr>
          <p:cNvPr id="9" name="Shape 7"/>
          <p:cNvSpPr/>
          <p:nvPr/>
        </p:nvSpPr>
        <p:spPr>
          <a:xfrm>
            <a:off x="4389120" y="3931920"/>
            <a:ext cx="1783080" cy="566928"/>
          </a:xfrm>
          <a:prstGeom prst="roundRect">
            <a:avLst>
              <a:gd name="adj" fmla="val 50000"/>
            </a:avLst>
          </a:prstGeom>
          <a:solidFill>
            <a:srgbClr val="2E5EAA"/>
          </a:solidFill>
          <a:ln/>
        </p:spPr>
      </p:sp>
      <p:sp>
        <p:nvSpPr>
          <p:cNvPr id="10" name="Text 8"/>
          <p:cNvSpPr/>
          <p:nvPr/>
        </p:nvSpPr>
        <p:spPr>
          <a:xfrm>
            <a:off x="4389120" y="3931920"/>
            <a:ext cx="1783080" cy="566928"/>
          </a:xfrm>
          <a:prstGeom prst="rect">
            <a:avLst/>
          </a:prstGeom>
          <a:noFill/>
          <a:ln/>
        </p:spPr>
        <p:txBody>
          <a:bodyPr wrap="square" rtlCol="0" anchor="ctr"/>
          <a:lstStyle/>
          <a:p>
            <a:pPr marL="0" indent="0" algn="ctr">
              <a:buNone/>
            </a:pPr>
            <a:r>
              <a:rPr lang="en-US" sz="1050" b="1" dirty="0">
                <a:solidFill>
                  <a:srgbClr val="FFFFFF"/>
                </a:solidFill>
                <a:latin typeface="Arial" pitchFamily="34" charset="0"/>
                <a:ea typeface="Arial" pitchFamily="34" charset="-122"/>
                <a:cs typeface="Arial" pitchFamily="34" charset="-120"/>
              </a:rPr>
              <a:t>Customer &amp; Geolocation</a:t>
            </a:r>
            <a:endParaRPr lang="en-US" sz="1050" dirty="0"/>
          </a:p>
        </p:txBody>
      </p:sp>
      <p:sp>
        <p:nvSpPr>
          <p:cNvPr id="11" name="Shape 9"/>
          <p:cNvSpPr/>
          <p:nvPr/>
        </p:nvSpPr>
        <p:spPr>
          <a:xfrm>
            <a:off x="6263640" y="3931920"/>
            <a:ext cx="1783080" cy="566928"/>
          </a:xfrm>
          <a:prstGeom prst="roundRect">
            <a:avLst>
              <a:gd name="adj" fmla="val 50000"/>
            </a:avLst>
          </a:prstGeom>
          <a:solidFill>
            <a:srgbClr val="E8590C"/>
          </a:solidFill>
          <a:ln/>
        </p:spPr>
      </p:sp>
      <p:sp>
        <p:nvSpPr>
          <p:cNvPr id="12" name="Text 10"/>
          <p:cNvSpPr/>
          <p:nvPr/>
        </p:nvSpPr>
        <p:spPr>
          <a:xfrm>
            <a:off x="6263640" y="3931920"/>
            <a:ext cx="1783080" cy="566928"/>
          </a:xfrm>
          <a:prstGeom prst="rect">
            <a:avLst/>
          </a:prstGeom>
          <a:noFill/>
          <a:ln/>
        </p:spPr>
        <p:txBody>
          <a:bodyPr wrap="square" rtlCol="0" anchor="ctr"/>
          <a:lstStyle/>
          <a:p>
            <a:pPr marL="0" indent="0" algn="ctr">
              <a:buNone/>
            </a:pPr>
            <a:r>
              <a:rPr lang="en-US" sz="1050" b="1" dirty="0">
                <a:solidFill>
                  <a:srgbClr val="FFFFFF"/>
                </a:solidFill>
                <a:latin typeface="Arial" pitchFamily="34" charset="0"/>
                <a:ea typeface="Arial" pitchFamily="34" charset="-122"/>
                <a:cs typeface="Arial" pitchFamily="34" charset="-120"/>
              </a:rPr>
              <a:t>Logistic &amp; Satisfaction</a:t>
            </a:r>
            <a:endParaRPr lang="en-US" sz="1050" dirty="0"/>
          </a:p>
        </p:txBody>
      </p:sp>
      <p:sp>
        <p:nvSpPr>
          <p:cNvPr id="13" name="Shape 11"/>
          <p:cNvSpPr/>
          <p:nvPr/>
        </p:nvSpPr>
        <p:spPr>
          <a:xfrm>
            <a:off x="8138160" y="3931920"/>
            <a:ext cx="1783080" cy="566928"/>
          </a:xfrm>
          <a:prstGeom prst="roundRect">
            <a:avLst>
              <a:gd name="adj" fmla="val 50000"/>
            </a:avLst>
          </a:prstGeom>
          <a:solidFill>
            <a:srgbClr val="2E5EAA"/>
          </a:solidFill>
          <a:ln/>
        </p:spPr>
      </p:sp>
      <p:sp>
        <p:nvSpPr>
          <p:cNvPr id="14" name="Text 12"/>
          <p:cNvSpPr/>
          <p:nvPr/>
        </p:nvSpPr>
        <p:spPr>
          <a:xfrm>
            <a:off x="8138160" y="3931920"/>
            <a:ext cx="1783080" cy="566928"/>
          </a:xfrm>
          <a:prstGeom prst="rect">
            <a:avLst/>
          </a:prstGeom>
          <a:noFill/>
          <a:ln/>
        </p:spPr>
        <p:txBody>
          <a:bodyPr wrap="square" rtlCol="0" anchor="ctr"/>
          <a:lstStyle/>
          <a:p>
            <a:pPr marL="0" indent="0" algn="ctr">
              <a:buNone/>
            </a:pPr>
            <a:r>
              <a:rPr lang="en-US" sz="1050" b="1" dirty="0">
                <a:solidFill>
                  <a:srgbClr val="FFFFFF"/>
                </a:solidFill>
                <a:latin typeface="Arial" pitchFamily="34" charset="0"/>
                <a:ea typeface="Arial" pitchFamily="34" charset="-122"/>
                <a:cs typeface="Arial" pitchFamily="34" charset="-120"/>
              </a:rPr>
              <a:t>Payment Method</a:t>
            </a:r>
            <a:endParaRPr lang="en-US" sz="1050" dirty="0"/>
          </a:p>
        </p:txBody>
      </p:sp>
      <p:sp>
        <p:nvSpPr>
          <p:cNvPr id="15" name="Shape 13"/>
          <p:cNvSpPr/>
          <p:nvPr/>
        </p:nvSpPr>
        <p:spPr>
          <a:xfrm>
            <a:off x="10012680" y="3931920"/>
            <a:ext cx="1783080" cy="566928"/>
          </a:xfrm>
          <a:prstGeom prst="roundRect">
            <a:avLst>
              <a:gd name="adj" fmla="val 50000"/>
            </a:avLst>
          </a:prstGeom>
          <a:solidFill>
            <a:srgbClr val="2E5EAA"/>
          </a:solidFill>
          <a:ln/>
        </p:spPr>
      </p:sp>
      <p:sp>
        <p:nvSpPr>
          <p:cNvPr id="16" name="Text 14"/>
          <p:cNvSpPr/>
          <p:nvPr/>
        </p:nvSpPr>
        <p:spPr>
          <a:xfrm>
            <a:off x="10012680" y="3931920"/>
            <a:ext cx="1783080" cy="566928"/>
          </a:xfrm>
          <a:prstGeom prst="rect">
            <a:avLst/>
          </a:prstGeom>
          <a:noFill/>
          <a:ln/>
        </p:spPr>
        <p:txBody>
          <a:bodyPr wrap="square" rtlCol="0" anchor="ctr"/>
          <a:lstStyle/>
          <a:p>
            <a:pPr marL="0" indent="0" algn="ctr">
              <a:buNone/>
            </a:pPr>
            <a:r>
              <a:rPr lang="en-US" sz="1050" b="1" dirty="0">
                <a:solidFill>
                  <a:srgbClr val="FFFFFF"/>
                </a:solidFill>
                <a:latin typeface="Arial" pitchFamily="34" charset="0"/>
                <a:ea typeface="Arial" pitchFamily="34" charset="-122"/>
                <a:cs typeface="Arial" pitchFamily="34" charset="-120"/>
              </a:rPr>
              <a:t>Conclusion</a:t>
            </a:r>
            <a:endParaRPr lang="en-US" sz="1050" dirty="0"/>
          </a:p>
        </p:txBody>
      </p:sp>
      <p:sp>
        <p:nvSpPr>
          <p:cNvPr id="17" name="Text 15"/>
          <p:cNvSpPr/>
          <p:nvPr/>
        </p:nvSpPr>
        <p:spPr>
          <a:xfrm>
            <a:off x="457200" y="6473952"/>
            <a:ext cx="5486400" cy="274320"/>
          </a:xfrm>
          <a:prstGeom prst="rect">
            <a:avLst/>
          </a:prstGeom>
          <a:noFill/>
          <a:ln/>
        </p:spPr>
        <p:txBody>
          <a:bodyPr wrap="square" rtlCol="0" anchor="ctr"/>
          <a:lstStyle/>
          <a:p>
            <a:pPr marL="0" indent="0" algn="l">
              <a:buNone/>
            </a:pPr>
            <a:r>
              <a:rPr lang="en-US" sz="900" dirty="0">
                <a:solidFill>
                  <a:srgbClr val="8894C4"/>
                </a:solidFill>
                <a:latin typeface="Arial" pitchFamily="34" charset="0"/>
                <a:ea typeface="Arial" pitchFamily="34" charset="-122"/>
                <a:cs typeface="Arial" pitchFamily="34" charset="-120"/>
              </a:rPr>
              <a:t>OLIST ECOMMERCE ANALYTICS</a:t>
            </a:r>
            <a:endParaRPr lang="en-US" sz="900" dirty="0"/>
          </a:p>
        </p:txBody>
      </p:sp>
      <p:sp>
        <p:nvSpPr>
          <p:cNvPr id="18" name="Text 16"/>
          <p:cNvSpPr/>
          <p:nvPr/>
        </p:nvSpPr>
        <p:spPr>
          <a:xfrm>
            <a:off x="8074152" y="6473952"/>
            <a:ext cx="3657600" cy="274320"/>
          </a:xfrm>
          <a:prstGeom prst="rect">
            <a:avLst/>
          </a:prstGeom>
          <a:noFill/>
          <a:ln/>
        </p:spPr>
        <p:txBody>
          <a:bodyPr wrap="square" rtlCol="0" anchor="ctr"/>
          <a:lstStyle/>
          <a:p>
            <a:pPr marL="0" indent="0" algn="r">
              <a:buNone/>
            </a:pPr>
            <a:r>
              <a:rPr lang="en-US" sz="900" dirty="0">
                <a:solidFill>
                  <a:srgbClr val="8894C4"/>
                </a:solidFill>
                <a:latin typeface="Arial" pitchFamily="34" charset="0"/>
                <a:ea typeface="Arial" pitchFamily="34" charset="-122"/>
                <a:cs typeface="Arial" pitchFamily="34" charset="-120"/>
              </a:rPr>
              <a:t>06</a:t>
            </a:r>
            <a:endParaRPr lang="en-US" sz="900" dirty="0"/>
          </a:p>
        </p:txBody>
      </p:sp>
      <p:pic>
        <p:nvPicPr>
          <p:cNvPr id="19" name="Picture 1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12680" y="755420"/>
            <a:ext cx="1201396" cy="1201396"/>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C"/>
        </a:solidFill>
        <a:effectLst/>
      </p:bgPr>
    </p:bg>
    <p:spTree>
      <p:nvGrpSpPr>
        <p:cNvPr id="1" name=""/>
        <p:cNvGrpSpPr/>
        <p:nvPr/>
      </p:nvGrpSpPr>
      <p:grpSpPr>
        <a:xfrm>
          <a:off x="0" y="0"/>
          <a:ext cx="0" cy="0"/>
          <a:chOff x="0" y="0"/>
          <a:chExt cx="0" cy="0"/>
        </a:xfrm>
      </p:grpSpPr>
      <p:sp>
        <p:nvSpPr>
          <p:cNvPr id="2" name="Shape 0"/>
          <p:cNvSpPr/>
          <p:nvPr/>
        </p:nvSpPr>
        <p:spPr>
          <a:xfrm>
            <a:off x="548640" y="320040"/>
            <a:ext cx="1371600" cy="384048"/>
          </a:xfrm>
          <a:prstGeom prst="roundRect">
            <a:avLst>
              <a:gd name="adj" fmla="val 50000"/>
            </a:avLst>
          </a:prstGeom>
          <a:solidFill>
            <a:srgbClr val="2E5EAA"/>
          </a:solidFill>
          <a:ln/>
        </p:spPr>
      </p:sp>
      <p:sp>
        <p:nvSpPr>
          <p:cNvPr id="3" name="Text 1"/>
          <p:cNvSpPr/>
          <p:nvPr/>
        </p:nvSpPr>
        <p:spPr>
          <a:xfrm>
            <a:off x="548640" y="320040"/>
            <a:ext cx="1371600" cy="384048"/>
          </a:xfrm>
          <a:prstGeom prst="rect">
            <a:avLst/>
          </a:prstGeom>
          <a:noFill/>
          <a:ln/>
        </p:spPr>
        <p:txBody>
          <a:bodyPr wrap="square"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PAGE 1</a:t>
            </a:r>
            <a:endParaRPr lang="en-US" sz="1100" dirty="0"/>
          </a:p>
        </p:txBody>
      </p:sp>
      <p:sp>
        <p:nvSpPr>
          <p:cNvPr id="4" name="Text 2"/>
          <p:cNvSpPr/>
          <p:nvPr/>
        </p:nvSpPr>
        <p:spPr>
          <a:xfrm>
            <a:off x="2057400" y="292608"/>
            <a:ext cx="8686800" cy="457200"/>
          </a:xfrm>
          <a:prstGeom prst="rect">
            <a:avLst/>
          </a:prstGeom>
          <a:noFill/>
          <a:ln/>
        </p:spPr>
        <p:txBody>
          <a:bodyPr wrap="square" rtlCol="0" anchor="ctr"/>
          <a:lstStyle/>
          <a:p>
            <a:pPr marL="0" indent="0">
              <a:buNone/>
            </a:pPr>
            <a:r>
              <a:rPr lang="en-US" sz="2200" b="1" dirty="0">
                <a:solidFill>
                  <a:srgbClr val="1E2761"/>
                </a:solidFill>
                <a:latin typeface="Cambria" pitchFamily="34" charset="0"/>
                <a:ea typeface="Cambria" pitchFamily="34" charset="-122"/>
                <a:cs typeface="Cambria" pitchFamily="34" charset="-120"/>
              </a:rPr>
              <a:t>Overview — Bức tranh tổng thể</a:t>
            </a:r>
            <a:endParaRPr lang="en-US" sz="2200" dirty="0"/>
          </a:p>
        </p:txBody>
      </p:sp>
      <p:sp>
        <p:nvSpPr>
          <p:cNvPr id="6" name="Shape 3"/>
          <p:cNvSpPr/>
          <p:nvPr/>
        </p:nvSpPr>
        <p:spPr>
          <a:xfrm>
            <a:off x="548640" y="960120"/>
            <a:ext cx="6903720" cy="4232665"/>
          </a:xfrm>
          <a:prstGeom prst="roundRect">
            <a:avLst>
              <a:gd name="adj" fmla="val 706"/>
            </a:avLst>
          </a:prstGeom>
          <a:ln w="19050">
            <a:solidFill>
              <a:srgbClr val="E9ECF5"/>
            </a:solidFill>
            <a:prstDash val="solid"/>
          </a:ln>
        </p:spPr>
      </p:sp>
      <p:sp>
        <p:nvSpPr>
          <p:cNvPr id="7" name="Shape 4"/>
          <p:cNvSpPr/>
          <p:nvPr/>
        </p:nvSpPr>
        <p:spPr>
          <a:xfrm>
            <a:off x="7680960" y="292608"/>
            <a:ext cx="3977640" cy="3184829"/>
          </a:xfrm>
          <a:prstGeom prst="roundRect">
            <a:avLst>
              <a:gd name="adj" fmla="val 3243"/>
            </a:avLst>
          </a:prstGeom>
          <a:solidFill>
            <a:srgbClr val="FFFFFF"/>
          </a:solidFill>
          <a:ln w="12700">
            <a:solidFill>
              <a:srgbClr val="E9ECF5"/>
            </a:solidFill>
            <a:prstDash val="solid"/>
          </a:ln>
          <a:effectLst>
            <a:outerShdw blurRad="63500" dist="25400" dir="5400000" algn="bl" rotWithShape="0">
              <a:srgbClr val="1E2761">
                <a:alpha val="10000"/>
              </a:srgbClr>
            </a:outerShdw>
          </a:effectLst>
        </p:spPr>
      </p:sp>
      <p:sp>
        <p:nvSpPr>
          <p:cNvPr id="8" name="Shape 5"/>
          <p:cNvSpPr/>
          <p:nvPr/>
        </p:nvSpPr>
        <p:spPr>
          <a:xfrm>
            <a:off x="7845552" y="506040"/>
            <a:ext cx="384048" cy="384048"/>
          </a:xfrm>
          <a:prstGeom prst="ellipse">
            <a:avLst/>
          </a:prstGeom>
          <a:solidFill>
            <a:srgbClr val="E8590C"/>
          </a:solidFill>
          <a:ln/>
        </p:spPr>
      </p:sp>
      <p:sp>
        <p:nvSpPr>
          <p:cNvPr id="9" name="Text 6"/>
          <p:cNvSpPr/>
          <p:nvPr/>
        </p:nvSpPr>
        <p:spPr>
          <a:xfrm>
            <a:off x="7845552" y="506040"/>
            <a:ext cx="384048" cy="384048"/>
          </a:xfrm>
          <a:prstGeom prst="rect">
            <a:avLst/>
          </a:prstGeom>
          <a:noFill/>
          <a:ln/>
        </p:spPr>
        <p:txBody>
          <a:bodyPr wrap="square" rtlCol="0" anchor="ctr"/>
          <a:lstStyle/>
          <a:p>
            <a:pPr marL="0" indent="0" algn="ctr">
              <a:buNone/>
            </a:pPr>
            <a:r>
              <a:rPr lang="en-US" sz="1092" b="1" dirty="0">
                <a:solidFill>
                  <a:srgbClr val="FFFFFF"/>
                </a:solidFill>
                <a:latin typeface="Arial" pitchFamily="34" charset="0"/>
                <a:ea typeface="Arial" pitchFamily="34" charset="-122"/>
                <a:cs typeface="Arial" pitchFamily="34" charset="-120"/>
              </a:rPr>
              <a:t>1</a:t>
            </a:r>
            <a:endParaRPr lang="en-US" sz="1092" dirty="0"/>
          </a:p>
        </p:txBody>
      </p:sp>
      <p:sp>
        <p:nvSpPr>
          <p:cNvPr id="10" name="Text 7"/>
          <p:cNvSpPr/>
          <p:nvPr/>
        </p:nvSpPr>
        <p:spPr>
          <a:xfrm>
            <a:off x="8339328" y="487752"/>
            <a:ext cx="3154680" cy="457200"/>
          </a:xfrm>
          <a:prstGeom prst="rect">
            <a:avLst/>
          </a:prstGeom>
          <a:noFill/>
          <a:ln/>
        </p:spPr>
        <p:txBody>
          <a:bodyPr wrap="square" rtlCol="0" anchor="ctr"/>
          <a:lstStyle/>
          <a:p>
            <a:pPr marL="0" indent="0">
              <a:buNone/>
            </a:pPr>
            <a:r>
              <a:rPr lang="en-US" sz="1350" b="1" dirty="0">
                <a:solidFill>
                  <a:srgbClr val="1E2761"/>
                </a:solidFill>
                <a:latin typeface="Arial" pitchFamily="34" charset="0"/>
                <a:ea typeface="Arial" pitchFamily="34" charset="-122"/>
                <a:cs typeface="Arial" pitchFamily="34" charset="-120"/>
              </a:rPr>
              <a:t>Doanh thu tăng trưởng ổn định</a:t>
            </a:r>
            <a:endParaRPr lang="en-US" sz="1350" dirty="0"/>
          </a:p>
        </p:txBody>
      </p:sp>
      <p:sp>
        <p:nvSpPr>
          <p:cNvPr id="11" name="Text 8"/>
          <p:cNvSpPr/>
          <p:nvPr/>
        </p:nvSpPr>
        <p:spPr>
          <a:xfrm>
            <a:off x="7936992" y="1047331"/>
            <a:ext cx="3557016" cy="2177554"/>
          </a:xfrm>
          <a:prstGeom prst="rect">
            <a:avLst/>
          </a:prstGeom>
          <a:noFill/>
          <a:ln/>
        </p:spPr>
        <p:txBody>
          <a:bodyPr wrap="square" rtlCol="0" anchor="t"/>
          <a:lstStyle/>
          <a:p>
            <a:pPr marL="171450" indent="-171450" algn="just">
              <a:lnSpc>
                <a:spcPct val="115000"/>
              </a:lnSpc>
              <a:buFontTx/>
              <a:buChar char="-"/>
            </a:pPr>
            <a:r>
              <a:rPr lang="en-US" sz="1050" dirty="0" smtClean="0">
                <a:solidFill>
                  <a:srgbClr val="3A3F55"/>
                </a:solidFill>
                <a:latin typeface="Arial" pitchFamily="34" charset="0"/>
                <a:ea typeface="Arial" pitchFamily="34" charset="-122"/>
                <a:cs typeface="Arial" pitchFamily="34" charset="-120"/>
              </a:rPr>
              <a:t>GMV 15.84M BRL (total), 15.42M </a:t>
            </a:r>
            <a:r>
              <a:rPr lang="en-US" sz="1050" dirty="0" err="1" smtClean="0">
                <a:solidFill>
                  <a:srgbClr val="3A3F55"/>
                </a:solidFill>
                <a:latin typeface="Arial" pitchFamily="34" charset="0"/>
                <a:ea typeface="Arial" pitchFamily="34" charset="-122"/>
                <a:cs typeface="Arial" pitchFamily="34" charset="-120"/>
              </a:rPr>
              <a:t>nếu</a:t>
            </a:r>
            <a:r>
              <a:rPr lang="en-US" sz="1050" dirty="0" smtClean="0">
                <a:solidFill>
                  <a:srgbClr val="3A3F55"/>
                </a:solidFill>
                <a:latin typeface="Arial" pitchFamily="34" charset="0"/>
                <a:ea typeface="Arial" pitchFamily="34" charset="-122"/>
                <a:cs typeface="Arial" pitchFamily="34" charset="-120"/>
              </a:rPr>
              <a:t> </a:t>
            </a:r>
            <a:r>
              <a:rPr lang="en-US" sz="1050" dirty="0" err="1" smtClean="0">
                <a:solidFill>
                  <a:srgbClr val="3A3F55"/>
                </a:solidFill>
                <a:latin typeface="Arial" pitchFamily="34" charset="0"/>
                <a:ea typeface="Arial" pitchFamily="34" charset="-122"/>
                <a:cs typeface="Arial" pitchFamily="34" charset="-120"/>
              </a:rPr>
              <a:t>chỉ</a:t>
            </a:r>
            <a:r>
              <a:rPr lang="en-US" sz="1050" dirty="0" smtClean="0">
                <a:solidFill>
                  <a:srgbClr val="3A3F55"/>
                </a:solidFill>
                <a:latin typeface="Arial" pitchFamily="34" charset="0"/>
                <a:ea typeface="Arial" pitchFamily="34" charset="-122"/>
                <a:cs typeface="Arial" pitchFamily="34" charset="-120"/>
              </a:rPr>
              <a:t> </a:t>
            </a:r>
            <a:r>
              <a:rPr lang="en-US" sz="1050" dirty="0" err="1" smtClean="0">
                <a:solidFill>
                  <a:srgbClr val="3A3F55"/>
                </a:solidFill>
                <a:latin typeface="Arial" pitchFamily="34" charset="0"/>
                <a:ea typeface="Arial" pitchFamily="34" charset="-122"/>
                <a:cs typeface="Arial" pitchFamily="34" charset="-120"/>
              </a:rPr>
              <a:t>tính</a:t>
            </a:r>
            <a:r>
              <a:rPr lang="en-US" sz="1050" dirty="0" smtClean="0">
                <a:solidFill>
                  <a:srgbClr val="3A3F55"/>
                </a:solidFill>
                <a:latin typeface="Arial" pitchFamily="34" charset="0"/>
                <a:ea typeface="Arial" pitchFamily="34" charset="-122"/>
                <a:cs typeface="Arial" pitchFamily="34" charset="-120"/>
              </a:rPr>
              <a:t> </a:t>
            </a:r>
            <a:r>
              <a:rPr lang="en-US" sz="1050" dirty="0" err="1" smtClean="0">
                <a:solidFill>
                  <a:srgbClr val="3A3F55"/>
                </a:solidFill>
                <a:latin typeface="Arial" pitchFamily="34" charset="0"/>
                <a:ea typeface="Arial" pitchFamily="34" charset="-122"/>
                <a:cs typeface="Arial" pitchFamily="34" charset="-120"/>
              </a:rPr>
              <a:t>đơn</a:t>
            </a:r>
            <a:r>
              <a:rPr lang="en-US" sz="1050" dirty="0" smtClean="0">
                <a:solidFill>
                  <a:srgbClr val="3A3F55"/>
                </a:solidFill>
                <a:latin typeface="Arial" pitchFamily="34" charset="0"/>
                <a:ea typeface="Arial" pitchFamily="34" charset="-122"/>
                <a:cs typeface="Arial" pitchFamily="34" charset="-120"/>
              </a:rPr>
              <a:t> delivered.</a:t>
            </a:r>
            <a:endParaRPr lang="en-US" sz="1050" dirty="0">
              <a:solidFill>
                <a:srgbClr val="3A3F55"/>
              </a:solidFill>
              <a:latin typeface="Arial" pitchFamily="34" charset="0"/>
              <a:ea typeface="Arial" pitchFamily="34" charset="-122"/>
              <a:cs typeface="Arial" pitchFamily="34" charset="-120"/>
            </a:endParaRPr>
          </a:p>
          <a:p>
            <a:pPr marL="171450" indent="-171450" algn="just">
              <a:lnSpc>
                <a:spcPct val="115000"/>
              </a:lnSpc>
              <a:buFontTx/>
              <a:buChar char="-"/>
            </a:pPr>
            <a:r>
              <a:rPr lang="en-US" sz="1050" dirty="0" smtClean="0">
                <a:solidFill>
                  <a:srgbClr val="3A3F55"/>
                </a:solidFill>
                <a:latin typeface="Arial" pitchFamily="34" charset="0"/>
                <a:ea typeface="Arial" pitchFamily="34" charset="-122"/>
                <a:cs typeface="Arial" pitchFamily="34" charset="-120"/>
              </a:rPr>
              <a:t>AOV </a:t>
            </a:r>
            <a:r>
              <a:rPr lang="en-US" sz="1050" dirty="0">
                <a:solidFill>
                  <a:srgbClr val="3A3F55"/>
                </a:solidFill>
                <a:latin typeface="Arial" pitchFamily="34" charset="0"/>
                <a:ea typeface="Arial" pitchFamily="34" charset="-122"/>
                <a:cs typeface="Arial" pitchFamily="34" charset="-120"/>
              </a:rPr>
              <a:t>159.33 BRL. Tăng trưởng liên tục từ 2017, %MoM cao nhất tháng 3 </a:t>
            </a:r>
            <a:r>
              <a:rPr lang="en-US" sz="1050" dirty="0">
                <a:solidFill>
                  <a:srgbClr val="00B050"/>
                </a:solidFill>
                <a:latin typeface="Arial" pitchFamily="34" charset="0"/>
                <a:ea typeface="Arial" pitchFamily="34" charset="-122"/>
                <a:cs typeface="Arial" pitchFamily="34" charset="-120"/>
              </a:rPr>
              <a:t>(+79</a:t>
            </a:r>
            <a:r>
              <a:rPr lang="en-US" sz="1050" dirty="0" smtClean="0">
                <a:solidFill>
                  <a:srgbClr val="00B050"/>
                </a:solidFill>
                <a:latin typeface="Arial" pitchFamily="34" charset="0"/>
                <a:ea typeface="Arial" pitchFamily="34" charset="-122"/>
                <a:cs typeface="Arial" pitchFamily="34" charset="-120"/>
              </a:rPr>
              <a:t>%), </a:t>
            </a:r>
            <a:r>
              <a:rPr lang="en-US" sz="1050" dirty="0" err="1" smtClean="0">
                <a:solidFill>
                  <a:srgbClr val="3A3F55"/>
                </a:solidFill>
                <a:latin typeface="Arial" pitchFamily="34" charset="0"/>
                <a:ea typeface="Arial" pitchFamily="34" charset="-122"/>
                <a:cs typeface="Arial" pitchFamily="34" charset="-120"/>
              </a:rPr>
              <a:t>thấp</a:t>
            </a:r>
            <a:r>
              <a:rPr lang="en-US" sz="1050" dirty="0" smtClean="0">
                <a:solidFill>
                  <a:srgbClr val="3A3F55"/>
                </a:solidFill>
                <a:latin typeface="Arial" pitchFamily="34" charset="0"/>
                <a:ea typeface="Arial" pitchFamily="34" charset="-122"/>
                <a:cs typeface="Arial" pitchFamily="34" charset="-120"/>
              </a:rPr>
              <a:t> </a:t>
            </a:r>
            <a:r>
              <a:rPr lang="en-US" sz="1050" dirty="0" err="1" smtClean="0">
                <a:solidFill>
                  <a:srgbClr val="3A3F55"/>
                </a:solidFill>
                <a:latin typeface="Arial" pitchFamily="34" charset="0"/>
                <a:ea typeface="Arial" pitchFamily="34" charset="-122"/>
                <a:cs typeface="Arial" pitchFamily="34" charset="-120"/>
              </a:rPr>
              <a:t>nhất</a:t>
            </a:r>
            <a:r>
              <a:rPr lang="en-US" sz="1050" dirty="0" smtClean="0">
                <a:solidFill>
                  <a:srgbClr val="3A3F55"/>
                </a:solidFill>
                <a:latin typeface="Arial" pitchFamily="34" charset="0"/>
                <a:ea typeface="Arial" pitchFamily="34" charset="-122"/>
                <a:cs typeface="Arial" pitchFamily="34" charset="-120"/>
              </a:rPr>
              <a:t> </a:t>
            </a:r>
            <a:r>
              <a:rPr lang="en-US" sz="1050" dirty="0" err="1" smtClean="0">
                <a:solidFill>
                  <a:srgbClr val="3A3F55"/>
                </a:solidFill>
                <a:latin typeface="Arial" pitchFamily="34" charset="0"/>
                <a:ea typeface="Arial" pitchFamily="34" charset="-122"/>
                <a:cs typeface="Arial" pitchFamily="34" charset="-120"/>
              </a:rPr>
              <a:t>tại</a:t>
            </a:r>
            <a:r>
              <a:rPr lang="en-US" sz="1050" dirty="0" smtClean="0">
                <a:solidFill>
                  <a:srgbClr val="3A3F55"/>
                </a:solidFill>
                <a:latin typeface="Arial" pitchFamily="34" charset="0"/>
                <a:ea typeface="Arial" pitchFamily="34" charset="-122"/>
                <a:cs typeface="Arial" pitchFamily="34" charset="-120"/>
              </a:rPr>
              <a:t> </a:t>
            </a:r>
            <a:r>
              <a:rPr lang="en-US" sz="1050" dirty="0" err="1" smtClean="0">
                <a:solidFill>
                  <a:srgbClr val="3A3F55"/>
                </a:solidFill>
                <a:latin typeface="Arial" pitchFamily="34" charset="0"/>
                <a:ea typeface="Arial" pitchFamily="34" charset="-122"/>
                <a:cs typeface="Arial" pitchFamily="34" charset="-120"/>
              </a:rPr>
              <a:t>tháng</a:t>
            </a:r>
            <a:r>
              <a:rPr lang="en-US" sz="1050" dirty="0" smtClean="0">
                <a:solidFill>
                  <a:srgbClr val="3A3F55"/>
                </a:solidFill>
                <a:latin typeface="Arial" pitchFamily="34" charset="0"/>
                <a:ea typeface="Arial" pitchFamily="34" charset="-122"/>
                <a:cs typeface="Arial" pitchFamily="34" charset="-120"/>
              </a:rPr>
              <a:t> 9 </a:t>
            </a:r>
            <a:r>
              <a:rPr lang="en-US" sz="1050" dirty="0" err="1" smtClean="0">
                <a:solidFill>
                  <a:srgbClr val="3A3F55"/>
                </a:solidFill>
                <a:latin typeface="Arial" pitchFamily="34" charset="0"/>
                <a:ea typeface="Arial" pitchFamily="34" charset="-122"/>
                <a:cs typeface="Arial" pitchFamily="34" charset="-120"/>
              </a:rPr>
              <a:t>với</a:t>
            </a:r>
            <a:r>
              <a:rPr lang="en-US" sz="1050" dirty="0" smtClean="0">
                <a:solidFill>
                  <a:srgbClr val="3A3F55"/>
                </a:solidFill>
                <a:latin typeface="Arial" pitchFamily="34" charset="0"/>
                <a:ea typeface="Arial" pitchFamily="34" charset="-122"/>
                <a:cs typeface="Arial" pitchFamily="34" charset="-120"/>
              </a:rPr>
              <a:t> </a:t>
            </a:r>
            <a:r>
              <a:rPr lang="en-US" sz="1050" dirty="0" smtClean="0">
                <a:solidFill>
                  <a:srgbClr val="FF0000"/>
                </a:solidFill>
                <a:latin typeface="Arial" pitchFamily="34" charset="0"/>
                <a:ea typeface="Arial" pitchFamily="34" charset="-122"/>
                <a:cs typeface="Arial" pitchFamily="34" charset="-120"/>
              </a:rPr>
              <a:t>-52%.</a:t>
            </a:r>
            <a:endParaRPr lang="en-US" sz="1050" dirty="0">
              <a:solidFill>
                <a:srgbClr val="FF0000"/>
              </a:solidFill>
              <a:latin typeface="Arial" pitchFamily="34" charset="0"/>
              <a:ea typeface="Arial" pitchFamily="34" charset="-122"/>
              <a:cs typeface="Arial" pitchFamily="34" charset="-120"/>
            </a:endParaRPr>
          </a:p>
          <a:p>
            <a:pPr marL="171450" indent="-171450" algn="just">
              <a:lnSpc>
                <a:spcPct val="115000"/>
              </a:lnSpc>
              <a:buFontTx/>
              <a:buChar char="-"/>
            </a:pPr>
            <a:r>
              <a:rPr lang="en-US" sz="1050" dirty="0" err="1" smtClean="0">
                <a:solidFill>
                  <a:srgbClr val="3A3F55"/>
                </a:solidFill>
                <a:latin typeface="Arial" pitchFamily="34" charset="0"/>
                <a:ea typeface="Arial" pitchFamily="34" charset="-122"/>
                <a:cs typeface="Arial" pitchFamily="34" charset="-120"/>
              </a:rPr>
              <a:t>Năm</a:t>
            </a:r>
            <a:r>
              <a:rPr lang="vi-VN" sz="1050" dirty="0">
                <a:solidFill>
                  <a:srgbClr val="3A3F55"/>
                </a:solidFill>
                <a:latin typeface="Arial" pitchFamily="34" charset="0"/>
                <a:ea typeface="Arial" pitchFamily="34" charset="-122"/>
                <a:cs typeface="Arial" pitchFamily="34" charset="-120"/>
              </a:rPr>
              <a:t> 2018 đều tăng trưởng vượt </a:t>
            </a:r>
            <a:r>
              <a:rPr lang="vi-VN" sz="1050" dirty="0" smtClean="0">
                <a:solidFill>
                  <a:srgbClr val="3A3F55"/>
                </a:solidFill>
                <a:latin typeface="Arial" pitchFamily="34" charset="0"/>
                <a:ea typeface="Arial" pitchFamily="34" charset="-122"/>
                <a:cs typeface="Arial" pitchFamily="34" charset="-120"/>
              </a:rPr>
              <a:t>b</a:t>
            </a:r>
            <a:r>
              <a:rPr lang="en-US" sz="1050" dirty="0" smtClean="0">
                <a:solidFill>
                  <a:srgbClr val="3A3F55"/>
                </a:solidFill>
                <a:latin typeface="Arial" pitchFamily="34" charset="0"/>
                <a:ea typeface="Arial" pitchFamily="34" charset="-122"/>
                <a:cs typeface="Arial" pitchFamily="34" charset="-120"/>
              </a:rPr>
              <a:t>ậ</a:t>
            </a:r>
            <a:r>
              <a:rPr lang="vi-VN" sz="1050" dirty="0" smtClean="0">
                <a:solidFill>
                  <a:srgbClr val="3A3F55"/>
                </a:solidFill>
                <a:latin typeface="Arial" pitchFamily="34" charset="0"/>
                <a:ea typeface="Arial" pitchFamily="34" charset="-122"/>
                <a:cs typeface="Arial" pitchFamily="34" charset="-120"/>
              </a:rPr>
              <a:t>c</a:t>
            </a:r>
            <a:r>
              <a:rPr lang="vi-VN" sz="1050" dirty="0">
                <a:solidFill>
                  <a:srgbClr val="3A3F55"/>
                </a:solidFill>
                <a:latin typeface="Arial" pitchFamily="34" charset="0"/>
                <a:ea typeface="Arial" pitchFamily="34" charset="-122"/>
                <a:cs typeface="Arial" pitchFamily="34" charset="-120"/>
              </a:rPr>
              <a:t> so với cùng </a:t>
            </a:r>
            <a:r>
              <a:rPr lang="vi-VN" sz="1050" dirty="0" smtClean="0">
                <a:solidFill>
                  <a:srgbClr val="3A3F55"/>
                </a:solidFill>
                <a:latin typeface="Arial" pitchFamily="34" charset="0"/>
                <a:ea typeface="Arial" pitchFamily="34" charset="-122"/>
                <a:cs typeface="Arial" pitchFamily="34" charset="-120"/>
              </a:rPr>
              <a:t>kỳ</a:t>
            </a:r>
            <a:r>
              <a:rPr lang="en-US" sz="1050" dirty="0" smtClean="0">
                <a:solidFill>
                  <a:srgbClr val="3A3F55"/>
                </a:solidFill>
                <a:latin typeface="Arial" pitchFamily="34" charset="0"/>
                <a:ea typeface="Arial" pitchFamily="34" charset="-122"/>
                <a:cs typeface="Arial" pitchFamily="34" charset="-120"/>
              </a:rPr>
              <a:t>, </a:t>
            </a:r>
            <a:r>
              <a:rPr lang="vi-VN" sz="1050" dirty="0" smtClean="0">
                <a:solidFill>
                  <a:srgbClr val="3A3F55"/>
                </a:solidFill>
                <a:latin typeface="Arial" pitchFamily="34" charset="0"/>
                <a:ea typeface="Arial" pitchFamily="34" charset="-122"/>
                <a:cs typeface="Arial" pitchFamily="34" charset="-120"/>
              </a:rPr>
              <a:t>giai</a:t>
            </a:r>
            <a:r>
              <a:rPr lang="vi-VN" sz="1050" dirty="0">
                <a:solidFill>
                  <a:srgbClr val="3A3F55"/>
                </a:solidFill>
                <a:latin typeface="Arial" pitchFamily="34" charset="0"/>
                <a:ea typeface="Arial" pitchFamily="34" charset="-122"/>
                <a:cs typeface="Arial" pitchFamily="34" charset="-120"/>
              </a:rPr>
              <a:t> đoạn từ tháng 3 đến tháng 8 ghi </a:t>
            </a:r>
            <a:r>
              <a:rPr lang="vi-VN" sz="1050" dirty="0" smtClean="0">
                <a:solidFill>
                  <a:srgbClr val="3A3F55"/>
                </a:solidFill>
                <a:latin typeface="Arial" pitchFamily="34" charset="0"/>
                <a:ea typeface="Arial" pitchFamily="34" charset="-122"/>
                <a:cs typeface="Arial" pitchFamily="34" charset="-120"/>
              </a:rPr>
              <a:t>nhận</a:t>
            </a:r>
            <a:r>
              <a:rPr lang="en-US" sz="1050" dirty="0">
                <a:solidFill>
                  <a:srgbClr val="3A3F55"/>
                </a:solidFill>
                <a:latin typeface="Arial" pitchFamily="34" charset="0"/>
                <a:ea typeface="Arial" pitchFamily="34" charset="-122"/>
                <a:cs typeface="Arial" pitchFamily="34" charset="-120"/>
              </a:rPr>
              <a:t> </a:t>
            </a:r>
            <a:r>
              <a:rPr lang="vi-VN" sz="1050" dirty="0" smtClean="0">
                <a:solidFill>
                  <a:srgbClr val="3A3F55"/>
                </a:solidFill>
                <a:latin typeface="Arial" pitchFamily="34" charset="0"/>
                <a:ea typeface="Arial" pitchFamily="34" charset="-122"/>
                <a:cs typeface="Arial" pitchFamily="34" charset="-120"/>
              </a:rPr>
              <a:t>GAP</a:t>
            </a:r>
            <a:r>
              <a:rPr lang="vi-VN" sz="1050" dirty="0">
                <a:solidFill>
                  <a:srgbClr val="3A3F55"/>
                </a:solidFill>
                <a:latin typeface="Arial" pitchFamily="34" charset="0"/>
                <a:ea typeface="Arial" pitchFamily="34" charset="-122"/>
                <a:cs typeface="Arial" pitchFamily="34" charset="-120"/>
              </a:rPr>
              <a:t> </a:t>
            </a:r>
            <a:r>
              <a:rPr lang="en-US" sz="1050" dirty="0" smtClean="0">
                <a:solidFill>
                  <a:srgbClr val="3A3F55"/>
                </a:solidFill>
                <a:latin typeface="Arial" pitchFamily="34" charset="0"/>
                <a:ea typeface="Arial" pitchFamily="34" charset="-122"/>
                <a:cs typeface="Arial" pitchFamily="34" charset="-120"/>
              </a:rPr>
              <a:t>%YoY </a:t>
            </a:r>
            <a:r>
              <a:rPr lang="en-US" sz="1050" dirty="0" err="1" smtClean="0">
                <a:solidFill>
                  <a:srgbClr val="3A3F55"/>
                </a:solidFill>
                <a:latin typeface="Arial" pitchFamily="34" charset="0"/>
                <a:ea typeface="Arial" pitchFamily="34" charset="-122"/>
                <a:cs typeface="Arial" pitchFamily="34" charset="-120"/>
              </a:rPr>
              <a:t>lớn</a:t>
            </a:r>
            <a:r>
              <a:rPr lang="en-US" sz="1050" dirty="0" smtClean="0">
                <a:solidFill>
                  <a:srgbClr val="3A3F55"/>
                </a:solidFill>
                <a:latin typeface="Arial" pitchFamily="34" charset="0"/>
                <a:ea typeface="Arial" pitchFamily="34" charset="-122"/>
                <a:cs typeface="Arial" pitchFamily="34" charset="-120"/>
              </a:rPr>
              <a:t> </a:t>
            </a:r>
            <a:r>
              <a:rPr lang="en-US" sz="1050" dirty="0" err="1" smtClean="0">
                <a:solidFill>
                  <a:srgbClr val="3A3F55"/>
                </a:solidFill>
                <a:latin typeface="Arial" pitchFamily="34" charset="0"/>
                <a:ea typeface="Arial" pitchFamily="34" charset="-122"/>
                <a:cs typeface="Arial" pitchFamily="34" charset="-120"/>
              </a:rPr>
              <a:t>nhất</a:t>
            </a:r>
            <a:r>
              <a:rPr lang="en-US" sz="1050" dirty="0" smtClean="0">
                <a:solidFill>
                  <a:srgbClr val="3A3F55"/>
                </a:solidFill>
                <a:latin typeface="Arial" pitchFamily="34" charset="0"/>
                <a:ea typeface="Arial" pitchFamily="34" charset="-122"/>
                <a:cs typeface="Arial" pitchFamily="34" charset="-120"/>
              </a:rPr>
              <a:t> </a:t>
            </a:r>
            <a:r>
              <a:rPr lang="en-US" sz="1050" dirty="0" err="1" smtClean="0">
                <a:solidFill>
                  <a:srgbClr val="3A3F55"/>
                </a:solidFill>
                <a:latin typeface="Arial" pitchFamily="34" charset="0"/>
                <a:ea typeface="Arial" pitchFamily="34" charset="-122"/>
                <a:cs typeface="Arial" pitchFamily="34" charset="-120"/>
              </a:rPr>
              <a:t>và</a:t>
            </a:r>
            <a:r>
              <a:rPr lang="en-US" sz="1050" dirty="0" smtClean="0">
                <a:solidFill>
                  <a:srgbClr val="3A3F55"/>
                </a:solidFill>
                <a:latin typeface="Arial" pitchFamily="34" charset="0"/>
                <a:ea typeface="Arial" pitchFamily="34" charset="-122"/>
                <a:cs typeface="Arial" pitchFamily="34" charset="-120"/>
              </a:rPr>
              <a:t> </a:t>
            </a:r>
            <a:r>
              <a:rPr lang="vi-VN" sz="1050" dirty="0" smtClean="0">
                <a:solidFill>
                  <a:srgbClr val="3A3F55"/>
                </a:solidFill>
                <a:latin typeface="Arial" pitchFamily="34" charset="0"/>
                <a:ea typeface="Arial" pitchFamily="34" charset="-122"/>
                <a:cs typeface="Arial" pitchFamily="34" charset="-120"/>
              </a:rPr>
              <a:t>đỉnh</a:t>
            </a:r>
            <a:r>
              <a:rPr lang="vi-VN" sz="1050" dirty="0">
                <a:solidFill>
                  <a:srgbClr val="3A3F55"/>
                </a:solidFill>
                <a:latin typeface="Arial" pitchFamily="34" charset="0"/>
                <a:ea typeface="Arial" pitchFamily="34" charset="-122"/>
                <a:cs typeface="Arial" pitchFamily="34" charset="-120"/>
              </a:rPr>
              <a:t> điểm </a:t>
            </a:r>
            <a:r>
              <a:rPr lang="en-US" sz="1050" dirty="0" err="1" smtClean="0">
                <a:solidFill>
                  <a:srgbClr val="3A3F55"/>
                </a:solidFill>
                <a:latin typeface="Arial" pitchFamily="34" charset="0"/>
                <a:ea typeface="Arial" pitchFamily="34" charset="-122"/>
                <a:cs typeface="Arial" pitchFamily="34" charset="-120"/>
              </a:rPr>
              <a:t>tại</a:t>
            </a:r>
            <a:r>
              <a:rPr lang="vi-VN" sz="1050" dirty="0">
                <a:solidFill>
                  <a:srgbClr val="3A3F55"/>
                </a:solidFill>
                <a:latin typeface="Arial" pitchFamily="34" charset="0"/>
                <a:ea typeface="Arial" pitchFamily="34" charset="-122"/>
                <a:cs typeface="Arial" pitchFamily="34" charset="-120"/>
              </a:rPr>
              <a:t> tháng </a:t>
            </a:r>
            <a:r>
              <a:rPr lang="vi-VN" sz="1050" dirty="0" smtClean="0">
                <a:solidFill>
                  <a:srgbClr val="3A3F55"/>
                </a:solidFill>
                <a:latin typeface="Arial" pitchFamily="34" charset="0"/>
                <a:ea typeface="Arial" pitchFamily="34" charset="-122"/>
                <a:cs typeface="Arial" pitchFamily="34" charset="-120"/>
              </a:rPr>
              <a:t>8.</a:t>
            </a:r>
            <a:endParaRPr lang="en-US" sz="1050" dirty="0" smtClean="0">
              <a:solidFill>
                <a:srgbClr val="3A3F55"/>
              </a:solidFill>
              <a:latin typeface="Arial" pitchFamily="34" charset="0"/>
              <a:ea typeface="Arial" pitchFamily="34" charset="-122"/>
              <a:cs typeface="Arial" pitchFamily="34" charset="-120"/>
            </a:endParaRPr>
          </a:p>
          <a:p>
            <a:pPr algn="just">
              <a:lnSpc>
                <a:spcPct val="115000"/>
              </a:lnSpc>
            </a:pPr>
            <a:endParaRPr lang="en-US" sz="1050" dirty="0" smtClean="0">
              <a:solidFill>
                <a:srgbClr val="3A3F55"/>
              </a:solidFill>
              <a:latin typeface="Arial" pitchFamily="34" charset="0"/>
              <a:ea typeface="Arial" pitchFamily="34" charset="-122"/>
              <a:cs typeface="Arial" pitchFamily="34" charset="-120"/>
            </a:endParaRPr>
          </a:p>
          <a:p>
            <a:pPr algn="just">
              <a:lnSpc>
                <a:spcPct val="115000"/>
              </a:lnSpc>
            </a:pPr>
            <a:r>
              <a:rPr lang="en-US" sz="1000" i="1" dirty="0">
                <a:solidFill>
                  <a:srgbClr val="3A3F55"/>
                </a:solidFill>
                <a:latin typeface="Arial" pitchFamily="34" charset="0"/>
                <a:ea typeface="Arial" pitchFamily="34" charset="-122"/>
                <a:cs typeface="Arial" pitchFamily="34" charset="-120"/>
              </a:rPr>
              <a:t>*</a:t>
            </a:r>
            <a:r>
              <a:rPr lang="en-US" sz="1000" i="1" dirty="0" err="1" smtClean="0">
                <a:solidFill>
                  <a:srgbClr val="3A3F55"/>
                </a:solidFill>
                <a:latin typeface="Arial" pitchFamily="34" charset="0"/>
                <a:ea typeface="Arial" pitchFamily="34" charset="-122"/>
                <a:cs typeface="Arial" pitchFamily="34" charset="-120"/>
              </a:rPr>
              <a:t>Dữ</a:t>
            </a:r>
            <a:r>
              <a:rPr lang="en-US" sz="1000" i="1" dirty="0" smtClean="0">
                <a:solidFill>
                  <a:srgbClr val="3A3F55"/>
                </a:solidFill>
                <a:latin typeface="Arial" pitchFamily="34" charset="0"/>
                <a:ea typeface="Arial" pitchFamily="34" charset="-122"/>
                <a:cs typeface="Arial" pitchFamily="34" charset="-120"/>
              </a:rPr>
              <a:t> </a:t>
            </a:r>
            <a:r>
              <a:rPr lang="en-US" sz="1000" i="1" dirty="0" err="1" smtClean="0">
                <a:solidFill>
                  <a:srgbClr val="3A3F55"/>
                </a:solidFill>
                <a:latin typeface="Arial" pitchFamily="34" charset="0"/>
                <a:ea typeface="Arial" pitchFamily="34" charset="-122"/>
                <a:cs typeface="Arial" pitchFamily="34" charset="-120"/>
              </a:rPr>
              <a:t>liệu</a:t>
            </a:r>
            <a:r>
              <a:rPr lang="en-US" sz="1000" i="1" dirty="0" smtClean="0">
                <a:solidFill>
                  <a:srgbClr val="3A3F55"/>
                </a:solidFill>
                <a:latin typeface="Arial" pitchFamily="34" charset="0"/>
                <a:ea typeface="Arial" pitchFamily="34" charset="-122"/>
                <a:cs typeface="Arial" pitchFamily="34" charset="-120"/>
              </a:rPr>
              <a:t> </a:t>
            </a:r>
            <a:r>
              <a:rPr lang="en-US" sz="1000" i="1" dirty="0" err="1" smtClean="0">
                <a:solidFill>
                  <a:srgbClr val="3A3F55"/>
                </a:solidFill>
                <a:latin typeface="Arial" pitchFamily="34" charset="0"/>
                <a:ea typeface="Arial" pitchFamily="34" charset="-122"/>
                <a:cs typeface="Arial" pitchFamily="34" charset="-120"/>
              </a:rPr>
              <a:t>từ</a:t>
            </a:r>
            <a:r>
              <a:rPr lang="en-US" sz="1000" i="1" dirty="0" smtClean="0">
                <a:solidFill>
                  <a:srgbClr val="3A3F55"/>
                </a:solidFill>
                <a:latin typeface="Arial" pitchFamily="34" charset="0"/>
                <a:ea typeface="Arial" pitchFamily="34" charset="-122"/>
                <a:cs typeface="Arial" pitchFamily="34" charset="-120"/>
              </a:rPr>
              <a:t> </a:t>
            </a:r>
            <a:r>
              <a:rPr lang="en-US" sz="1000" i="1" dirty="0" err="1" smtClean="0">
                <a:solidFill>
                  <a:srgbClr val="3A3F55"/>
                </a:solidFill>
                <a:latin typeface="Arial" pitchFamily="34" charset="0"/>
                <a:ea typeface="Arial" pitchFamily="34" charset="-122"/>
                <a:cs typeface="Arial" pitchFamily="34" charset="-120"/>
              </a:rPr>
              <a:t>tháng</a:t>
            </a:r>
            <a:r>
              <a:rPr lang="en-US" sz="1000" i="1" dirty="0" smtClean="0">
                <a:solidFill>
                  <a:srgbClr val="3A3F55"/>
                </a:solidFill>
                <a:latin typeface="Arial" pitchFamily="34" charset="0"/>
                <a:ea typeface="Arial" pitchFamily="34" charset="-122"/>
                <a:cs typeface="Arial" pitchFamily="34" charset="-120"/>
              </a:rPr>
              <a:t> 9 – 12/2018 </a:t>
            </a:r>
            <a:r>
              <a:rPr lang="en-US" sz="1000" i="1" dirty="0" err="1" smtClean="0">
                <a:solidFill>
                  <a:srgbClr val="3A3F55"/>
                </a:solidFill>
                <a:latin typeface="Arial" pitchFamily="34" charset="0"/>
                <a:ea typeface="Arial" pitchFamily="34" charset="-122"/>
                <a:cs typeface="Arial" pitchFamily="34" charset="-120"/>
              </a:rPr>
              <a:t>không</a:t>
            </a:r>
            <a:r>
              <a:rPr lang="en-US" sz="1000" i="1" dirty="0" smtClean="0">
                <a:solidFill>
                  <a:srgbClr val="3A3F55"/>
                </a:solidFill>
                <a:latin typeface="Arial" pitchFamily="34" charset="0"/>
                <a:ea typeface="Arial" pitchFamily="34" charset="-122"/>
                <a:cs typeface="Arial" pitchFamily="34" charset="-120"/>
              </a:rPr>
              <a:t> </a:t>
            </a:r>
            <a:r>
              <a:rPr lang="en-US" sz="1000" i="1" dirty="0" err="1" smtClean="0">
                <a:solidFill>
                  <a:srgbClr val="3A3F55"/>
                </a:solidFill>
                <a:latin typeface="Arial" pitchFamily="34" charset="0"/>
                <a:ea typeface="Arial" pitchFamily="34" charset="-122"/>
                <a:cs typeface="Arial" pitchFamily="34" charset="-120"/>
              </a:rPr>
              <a:t>đầy</a:t>
            </a:r>
            <a:r>
              <a:rPr lang="en-US" sz="1000" i="1" dirty="0" smtClean="0">
                <a:solidFill>
                  <a:srgbClr val="3A3F55"/>
                </a:solidFill>
                <a:latin typeface="Arial" pitchFamily="34" charset="0"/>
                <a:ea typeface="Arial" pitchFamily="34" charset="-122"/>
                <a:cs typeface="Arial" pitchFamily="34" charset="-120"/>
              </a:rPr>
              <a:t> </a:t>
            </a:r>
            <a:r>
              <a:rPr lang="en-US" sz="1000" i="1" dirty="0" err="1" smtClean="0">
                <a:solidFill>
                  <a:srgbClr val="3A3F55"/>
                </a:solidFill>
                <a:latin typeface="Arial" pitchFamily="34" charset="0"/>
                <a:ea typeface="Arial" pitchFamily="34" charset="-122"/>
                <a:cs typeface="Arial" pitchFamily="34" charset="-120"/>
              </a:rPr>
              <a:t>đủ</a:t>
            </a:r>
            <a:r>
              <a:rPr lang="en-US" sz="1000" i="1" dirty="0" smtClean="0">
                <a:solidFill>
                  <a:srgbClr val="3A3F55"/>
                </a:solidFill>
                <a:latin typeface="Arial" pitchFamily="34" charset="0"/>
                <a:ea typeface="Arial" pitchFamily="34" charset="-122"/>
                <a:cs typeface="Arial" pitchFamily="34" charset="-120"/>
              </a:rPr>
              <a:t> do </a:t>
            </a:r>
            <a:r>
              <a:rPr lang="en-US" sz="1000" i="1" dirty="0" err="1" smtClean="0">
                <a:solidFill>
                  <a:srgbClr val="3A3F55"/>
                </a:solidFill>
                <a:latin typeface="Arial" pitchFamily="34" charset="0"/>
                <a:ea typeface="Arial" pitchFamily="34" charset="-122"/>
                <a:cs typeface="Arial" pitchFamily="34" charset="-120"/>
              </a:rPr>
              <a:t>giới</a:t>
            </a:r>
            <a:r>
              <a:rPr lang="en-US" sz="1000" i="1" dirty="0" smtClean="0">
                <a:solidFill>
                  <a:srgbClr val="3A3F55"/>
                </a:solidFill>
                <a:latin typeface="Arial" pitchFamily="34" charset="0"/>
                <a:ea typeface="Arial" pitchFamily="34" charset="-122"/>
                <a:cs typeface="Arial" pitchFamily="34" charset="-120"/>
              </a:rPr>
              <a:t> </a:t>
            </a:r>
            <a:r>
              <a:rPr lang="en-US" sz="1000" i="1" dirty="0" err="1" smtClean="0">
                <a:solidFill>
                  <a:srgbClr val="3A3F55"/>
                </a:solidFill>
                <a:latin typeface="Arial" pitchFamily="34" charset="0"/>
                <a:ea typeface="Arial" pitchFamily="34" charset="-122"/>
                <a:cs typeface="Arial" pitchFamily="34" charset="-120"/>
              </a:rPr>
              <a:t>hạn</a:t>
            </a:r>
            <a:r>
              <a:rPr lang="en-US" sz="1000" i="1" dirty="0" smtClean="0">
                <a:solidFill>
                  <a:srgbClr val="3A3F55"/>
                </a:solidFill>
                <a:latin typeface="Arial" pitchFamily="34" charset="0"/>
                <a:ea typeface="Arial" pitchFamily="34" charset="-122"/>
                <a:cs typeface="Arial" pitchFamily="34" charset="-120"/>
              </a:rPr>
              <a:t> </a:t>
            </a:r>
            <a:r>
              <a:rPr lang="en-US" sz="1000" i="1" dirty="0" err="1" smtClean="0">
                <a:solidFill>
                  <a:srgbClr val="3A3F55"/>
                </a:solidFill>
                <a:latin typeface="Arial" pitchFamily="34" charset="0"/>
                <a:ea typeface="Arial" pitchFamily="34" charset="-122"/>
                <a:cs typeface="Arial" pitchFamily="34" charset="-120"/>
              </a:rPr>
              <a:t>thu</a:t>
            </a:r>
            <a:r>
              <a:rPr lang="en-US" sz="1000" i="1" dirty="0" smtClean="0">
                <a:solidFill>
                  <a:srgbClr val="3A3F55"/>
                </a:solidFill>
                <a:latin typeface="Arial" pitchFamily="34" charset="0"/>
                <a:ea typeface="Arial" pitchFamily="34" charset="-122"/>
                <a:cs typeface="Arial" pitchFamily="34" charset="-120"/>
              </a:rPr>
              <a:t> </a:t>
            </a:r>
            <a:r>
              <a:rPr lang="en-US" sz="1000" i="1" dirty="0" err="1" smtClean="0">
                <a:solidFill>
                  <a:srgbClr val="3A3F55"/>
                </a:solidFill>
                <a:latin typeface="Arial" pitchFamily="34" charset="0"/>
                <a:ea typeface="Arial" pitchFamily="34" charset="-122"/>
                <a:cs typeface="Arial" pitchFamily="34" charset="-120"/>
              </a:rPr>
              <a:t>thập</a:t>
            </a:r>
            <a:r>
              <a:rPr lang="en-US" sz="1000" i="1" dirty="0" smtClean="0">
                <a:solidFill>
                  <a:srgbClr val="3A3F55"/>
                </a:solidFill>
                <a:latin typeface="Arial" pitchFamily="34" charset="0"/>
                <a:ea typeface="Arial" pitchFamily="34" charset="-122"/>
                <a:cs typeface="Arial" pitchFamily="34" charset="-120"/>
              </a:rPr>
              <a:t> data </a:t>
            </a:r>
            <a:r>
              <a:rPr lang="en-US" sz="1000" i="1" dirty="0" err="1" smtClean="0">
                <a:solidFill>
                  <a:srgbClr val="3A3F55"/>
                </a:solidFill>
                <a:latin typeface="Arial" pitchFamily="34" charset="0"/>
                <a:ea typeface="Arial" pitchFamily="34" charset="-122"/>
                <a:cs typeface="Arial" pitchFamily="34" charset="-120"/>
              </a:rPr>
              <a:t>nên</a:t>
            </a:r>
            <a:r>
              <a:rPr lang="en-US" sz="1000" i="1" dirty="0" smtClean="0">
                <a:solidFill>
                  <a:srgbClr val="3A3F55"/>
                </a:solidFill>
                <a:latin typeface="Arial" pitchFamily="34" charset="0"/>
                <a:ea typeface="Arial" pitchFamily="34" charset="-122"/>
                <a:cs typeface="Arial" pitchFamily="34" charset="-120"/>
              </a:rPr>
              <a:t> </a:t>
            </a:r>
            <a:r>
              <a:rPr lang="en-US" sz="1000" i="1" dirty="0" err="1" smtClean="0">
                <a:solidFill>
                  <a:srgbClr val="3A3F55"/>
                </a:solidFill>
                <a:latin typeface="Arial" pitchFamily="34" charset="0"/>
                <a:ea typeface="Arial" pitchFamily="34" charset="-122"/>
                <a:cs typeface="Arial" pitchFamily="34" charset="-120"/>
              </a:rPr>
              <a:t>không</a:t>
            </a:r>
            <a:r>
              <a:rPr lang="en-US" sz="1000" i="1" dirty="0" smtClean="0">
                <a:solidFill>
                  <a:srgbClr val="3A3F55"/>
                </a:solidFill>
                <a:latin typeface="Arial" pitchFamily="34" charset="0"/>
                <a:ea typeface="Arial" pitchFamily="34" charset="-122"/>
                <a:cs typeface="Arial" pitchFamily="34" charset="-120"/>
              </a:rPr>
              <a:t> </a:t>
            </a:r>
            <a:r>
              <a:rPr lang="en-US" sz="1000" i="1" dirty="0" err="1" smtClean="0">
                <a:solidFill>
                  <a:srgbClr val="3A3F55"/>
                </a:solidFill>
                <a:latin typeface="Arial" pitchFamily="34" charset="0"/>
                <a:ea typeface="Arial" pitchFamily="34" charset="-122"/>
                <a:cs typeface="Arial" pitchFamily="34" charset="-120"/>
              </a:rPr>
              <a:t>phản</a:t>
            </a:r>
            <a:r>
              <a:rPr lang="en-US" sz="1000" i="1" dirty="0" smtClean="0">
                <a:solidFill>
                  <a:srgbClr val="3A3F55"/>
                </a:solidFill>
                <a:latin typeface="Arial" pitchFamily="34" charset="0"/>
                <a:ea typeface="Arial" pitchFamily="34" charset="-122"/>
                <a:cs typeface="Arial" pitchFamily="34" charset="-120"/>
              </a:rPr>
              <a:t> </a:t>
            </a:r>
            <a:r>
              <a:rPr lang="en-US" sz="1000" i="1" dirty="0" err="1" smtClean="0">
                <a:solidFill>
                  <a:srgbClr val="3A3F55"/>
                </a:solidFill>
                <a:latin typeface="Arial" pitchFamily="34" charset="0"/>
                <a:ea typeface="Arial" pitchFamily="34" charset="-122"/>
                <a:cs typeface="Arial" pitchFamily="34" charset="-120"/>
              </a:rPr>
              <a:t>ánh</a:t>
            </a:r>
            <a:r>
              <a:rPr lang="en-US" sz="1000" i="1" dirty="0" smtClean="0">
                <a:solidFill>
                  <a:srgbClr val="3A3F55"/>
                </a:solidFill>
                <a:latin typeface="Arial" pitchFamily="34" charset="0"/>
                <a:ea typeface="Arial" pitchFamily="34" charset="-122"/>
                <a:cs typeface="Arial" pitchFamily="34" charset="-120"/>
              </a:rPr>
              <a:t> </a:t>
            </a:r>
            <a:r>
              <a:rPr lang="en-US" sz="1000" i="1" dirty="0" err="1" smtClean="0">
                <a:solidFill>
                  <a:srgbClr val="3A3F55"/>
                </a:solidFill>
                <a:latin typeface="Arial" pitchFamily="34" charset="0"/>
                <a:ea typeface="Arial" pitchFamily="34" charset="-122"/>
                <a:cs typeface="Arial" pitchFamily="34" charset="-120"/>
              </a:rPr>
              <a:t>xu</a:t>
            </a:r>
            <a:r>
              <a:rPr lang="en-US" sz="1000" i="1" dirty="0" smtClean="0">
                <a:solidFill>
                  <a:srgbClr val="3A3F55"/>
                </a:solidFill>
                <a:latin typeface="Arial" pitchFamily="34" charset="0"/>
                <a:ea typeface="Arial" pitchFamily="34" charset="-122"/>
                <a:cs typeface="Arial" pitchFamily="34" charset="-120"/>
              </a:rPr>
              <a:t> </a:t>
            </a:r>
            <a:r>
              <a:rPr lang="en-US" sz="1000" i="1" dirty="0" err="1" smtClean="0">
                <a:solidFill>
                  <a:srgbClr val="3A3F55"/>
                </a:solidFill>
                <a:latin typeface="Arial" pitchFamily="34" charset="0"/>
                <a:ea typeface="Arial" pitchFamily="34" charset="-122"/>
                <a:cs typeface="Arial" pitchFamily="34" charset="-120"/>
              </a:rPr>
              <a:t>hướng</a:t>
            </a:r>
            <a:r>
              <a:rPr lang="en-US" sz="1000" i="1" dirty="0" smtClean="0">
                <a:solidFill>
                  <a:srgbClr val="3A3F55"/>
                </a:solidFill>
                <a:latin typeface="Arial" pitchFamily="34" charset="0"/>
                <a:ea typeface="Arial" pitchFamily="34" charset="-122"/>
                <a:cs typeface="Arial" pitchFamily="34" charset="-120"/>
              </a:rPr>
              <a:t> </a:t>
            </a:r>
            <a:r>
              <a:rPr lang="en-US" sz="1000" i="1" dirty="0" err="1" smtClean="0">
                <a:solidFill>
                  <a:srgbClr val="3A3F55"/>
                </a:solidFill>
                <a:latin typeface="Arial" pitchFamily="34" charset="0"/>
                <a:ea typeface="Arial" pitchFamily="34" charset="-122"/>
                <a:cs typeface="Arial" pitchFamily="34" charset="-120"/>
              </a:rPr>
              <a:t>kinh</a:t>
            </a:r>
            <a:r>
              <a:rPr lang="en-US" sz="1000" i="1" dirty="0" smtClean="0">
                <a:solidFill>
                  <a:srgbClr val="3A3F55"/>
                </a:solidFill>
                <a:latin typeface="Arial" pitchFamily="34" charset="0"/>
                <a:ea typeface="Arial" pitchFamily="34" charset="-122"/>
                <a:cs typeface="Arial" pitchFamily="34" charset="-120"/>
              </a:rPr>
              <a:t> </a:t>
            </a:r>
            <a:r>
              <a:rPr lang="en-US" sz="1000" i="1" dirty="0" err="1" smtClean="0">
                <a:solidFill>
                  <a:srgbClr val="3A3F55"/>
                </a:solidFill>
                <a:latin typeface="Arial" pitchFamily="34" charset="0"/>
                <a:ea typeface="Arial" pitchFamily="34" charset="-122"/>
                <a:cs typeface="Arial" pitchFamily="34" charset="-120"/>
              </a:rPr>
              <a:t>doanh</a:t>
            </a:r>
            <a:r>
              <a:rPr lang="en-US" sz="1000" i="1" dirty="0" smtClean="0">
                <a:solidFill>
                  <a:srgbClr val="3A3F55"/>
                </a:solidFill>
                <a:latin typeface="Arial" pitchFamily="34" charset="0"/>
                <a:ea typeface="Arial" pitchFamily="34" charset="-122"/>
                <a:cs typeface="Arial" pitchFamily="34" charset="-120"/>
              </a:rPr>
              <a:t> </a:t>
            </a:r>
            <a:r>
              <a:rPr lang="en-US" sz="1000" i="1" dirty="0" err="1" smtClean="0">
                <a:solidFill>
                  <a:srgbClr val="3A3F55"/>
                </a:solidFill>
                <a:latin typeface="Arial" pitchFamily="34" charset="0"/>
                <a:ea typeface="Arial" pitchFamily="34" charset="-122"/>
                <a:cs typeface="Arial" pitchFamily="34" charset="-120"/>
              </a:rPr>
              <a:t>toàn</a:t>
            </a:r>
            <a:r>
              <a:rPr lang="en-US" sz="1000" i="1" dirty="0" smtClean="0">
                <a:solidFill>
                  <a:srgbClr val="3A3F55"/>
                </a:solidFill>
                <a:latin typeface="Arial" pitchFamily="34" charset="0"/>
                <a:ea typeface="Arial" pitchFamily="34" charset="-122"/>
                <a:cs typeface="Arial" pitchFamily="34" charset="-120"/>
              </a:rPr>
              <a:t> </a:t>
            </a:r>
            <a:r>
              <a:rPr lang="en-US" sz="1000" i="1" dirty="0" err="1" smtClean="0">
                <a:solidFill>
                  <a:srgbClr val="3A3F55"/>
                </a:solidFill>
                <a:latin typeface="Arial" pitchFamily="34" charset="0"/>
                <a:ea typeface="Arial" pitchFamily="34" charset="-122"/>
                <a:cs typeface="Arial" pitchFamily="34" charset="-120"/>
              </a:rPr>
              <a:t>bộ</a:t>
            </a:r>
            <a:r>
              <a:rPr lang="en-US" sz="1000" i="1" dirty="0" smtClean="0">
                <a:solidFill>
                  <a:srgbClr val="3A3F55"/>
                </a:solidFill>
                <a:latin typeface="Arial" pitchFamily="34" charset="0"/>
                <a:ea typeface="Arial" pitchFamily="34" charset="-122"/>
                <a:cs typeface="Arial" pitchFamily="34" charset="-120"/>
              </a:rPr>
              <a:t> </a:t>
            </a:r>
            <a:r>
              <a:rPr lang="en-US" sz="1000" i="1" dirty="0" err="1" smtClean="0">
                <a:solidFill>
                  <a:srgbClr val="3A3F55"/>
                </a:solidFill>
                <a:latin typeface="Arial" pitchFamily="34" charset="0"/>
                <a:ea typeface="Arial" pitchFamily="34" charset="-122"/>
                <a:cs typeface="Arial" pitchFamily="34" charset="-120"/>
              </a:rPr>
              <a:t>cho</a:t>
            </a:r>
            <a:r>
              <a:rPr lang="en-US" sz="1000" i="1" dirty="0" smtClean="0">
                <a:solidFill>
                  <a:srgbClr val="3A3F55"/>
                </a:solidFill>
                <a:latin typeface="Arial" pitchFamily="34" charset="0"/>
                <a:ea typeface="Arial" pitchFamily="34" charset="-122"/>
                <a:cs typeface="Arial" pitchFamily="34" charset="-120"/>
              </a:rPr>
              <a:t> </a:t>
            </a:r>
            <a:r>
              <a:rPr lang="en-US" sz="1000" i="1" dirty="0" err="1" smtClean="0">
                <a:solidFill>
                  <a:srgbClr val="3A3F55"/>
                </a:solidFill>
                <a:latin typeface="Arial" pitchFamily="34" charset="0"/>
                <a:ea typeface="Arial" pitchFamily="34" charset="-122"/>
                <a:cs typeface="Arial" pitchFamily="34" charset="-120"/>
              </a:rPr>
              <a:t>năm</a:t>
            </a:r>
            <a:r>
              <a:rPr lang="en-US" sz="1000" i="1" dirty="0" smtClean="0">
                <a:solidFill>
                  <a:srgbClr val="3A3F55"/>
                </a:solidFill>
                <a:latin typeface="Arial" pitchFamily="34" charset="0"/>
                <a:ea typeface="Arial" pitchFamily="34" charset="-122"/>
                <a:cs typeface="Arial" pitchFamily="34" charset="-120"/>
              </a:rPr>
              <a:t> 2018</a:t>
            </a:r>
          </a:p>
          <a:p>
            <a:pPr marL="171450" indent="-171450" algn="just">
              <a:lnSpc>
                <a:spcPct val="115000"/>
              </a:lnSpc>
              <a:buFontTx/>
              <a:buChar char="-"/>
            </a:pPr>
            <a:endParaRPr lang="vi-VN" sz="1050" dirty="0">
              <a:solidFill>
                <a:srgbClr val="3A3F55"/>
              </a:solidFill>
              <a:latin typeface="Arial" pitchFamily="34" charset="0"/>
              <a:ea typeface="Arial" pitchFamily="34" charset="-122"/>
              <a:cs typeface="Arial" pitchFamily="34" charset="-120"/>
            </a:endParaRPr>
          </a:p>
        </p:txBody>
      </p:sp>
      <p:sp>
        <p:nvSpPr>
          <p:cNvPr id="12" name="Shape 9"/>
          <p:cNvSpPr/>
          <p:nvPr/>
        </p:nvSpPr>
        <p:spPr>
          <a:xfrm>
            <a:off x="7680960" y="3583790"/>
            <a:ext cx="3977640" cy="1281544"/>
          </a:xfrm>
          <a:prstGeom prst="roundRect">
            <a:avLst>
              <a:gd name="adj" fmla="val 3243"/>
            </a:avLst>
          </a:prstGeom>
          <a:solidFill>
            <a:srgbClr val="FFFFFF"/>
          </a:solidFill>
          <a:ln w="12700">
            <a:solidFill>
              <a:srgbClr val="E9ECF5"/>
            </a:solidFill>
            <a:prstDash val="solid"/>
          </a:ln>
          <a:effectLst>
            <a:outerShdw blurRad="63500" dist="25400" dir="5400000" algn="bl" rotWithShape="0">
              <a:srgbClr val="1E2761">
                <a:alpha val="10000"/>
              </a:srgbClr>
            </a:outerShdw>
          </a:effectLst>
        </p:spPr>
      </p:sp>
      <p:sp>
        <p:nvSpPr>
          <p:cNvPr id="13" name="Shape 10"/>
          <p:cNvSpPr/>
          <p:nvPr/>
        </p:nvSpPr>
        <p:spPr>
          <a:xfrm>
            <a:off x="7845552" y="3748382"/>
            <a:ext cx="384048" cy="384048"/>
          </a:xfrm>
          <a:prstGeom prst="ellipse">
            <a:avLst/>
          </a:prstGeom>
          <a:solidFill>
            <a:srgbClr val="2E5EAA"/>
          </a:solidFill>
          <a:ln/>
        </p:spPr>
      </p:sp>
      <p:sp>
        <p:nvSpPr>
          <p:cNvPr id="14" name="Text 11"/>
          <p:cNvSpPr/>
          <p:nvPr/>
        </p:nvSpPr>
        <p:spPr>
          <a:xfrm>
            <a:off x="7845552" y="3748382"/>
            <a:ext cx="384048" cy="384048"/>
          </a:xfrm>
          <a:prstGeom prst="rect">
            <a:avLst/>
          </a:prstGeom>
          <a:noFill/>
          <a:ln/>
        </p:spPr>
        <p:txBody>
          <a:bodyPr wrap="square" rtlCol="0" anchor="ctr"/>
          <a:lstStyle/>
          <a:p>
            <a:pPr marL="0" indent="0" algn="ctr">
              <a:buNone/>
            </a:pPr>
            <a:r>
              <a:rPr lang="en-US" sz="1092" b="1" dirty="0">
                <a:solidFill>
                  <a:srgbClr val="FFFFFF"/>
                </a:solidFill>
                <a:latin typeface="Arial" pitchFamily="34" charset="0"/>
                <a:ea typeface="Arial" pitchFamily="34" charset="-122"/>
                <a:cs typeface="Arial" pitchFamily="34" charset="-120"/>
              </a:rPr>
              <a:t>2</a:t>
            </a:r>
            <a:endParaRPr lang="en-US" sz="1092" dirty="0"/>
          </a:p>
        </p:txBody>
      </p:sp>
      <p:sp>
        <p:nvSpPr>
          <p:cNvPr id="15" name="Text 12"/>
          <p:cNvSpPr/>
          <p:nvPr/>
        </p:nvSpPr>
        <p:spPr>
          <a:xfrm>
            <a:off x="8339328" y="3730094"/>
            <a:ext cx="3154680" cy="457200"/>
          </a:xfrm>
          <a:prstGeom prst="rect">
            <a:avLst/>
          </a:prstGeom>
          <a:noFill/>
          <a:ln/>
        </p:spPr>
        <p:txBody>
          <a:bodyPr wrap="square" rtlCol="0" anchor="ctr"/>
          <a:lstStyle/>
          <a:p>
            <a:pPr marL="0" indent="0">
              <a:buNone/>
            </a:pPr>
            <a:r>
              <a:rPr lang="en-US" sz="1350" b="1" dirty="0">
                <a:solidFill>
                  <a:srgbClr val="1E2761"/>
                </a:solidFill>
                <a:latin typeface="Arial" pitchFamily="34" charset="0"/>
                <a:ea typeface="Arial" pitchFamily="34" charset="-122"/>
                <a:cs typeface="Arial" pitchFamily="34" charset="-120"/>
              </a:rPr>
              <a:t>Vận hành ổn định, ít rủi ro hủy đơn</a:t>
            </a:r>
            <a:endParaRPr lang="en-US" sz="1350" dirty="0"/>
          </a:p>
        </p:txBody>
      </p:sp>
      <p:sp>
        <p:nvSpPr>
          <p:cNvPr id="16" name="Text 13"/>
          <p:cNvSpPr/>
          <p:nvPr/>
        </p:nvSpPr>
        <p:spPr>
          <a:xfrm>
            <a:off x="7982712" y="4262513"/>
            <a:ext cx="3465576" cy="435537"/>
          </a:xfrm>
          <a:prstGeom prst="rect">
            <a:avLst/>
          </a:prstGeom>
          <a:noFill/>
          <a:ln/>
        </p:spPr>
        <p:txBody>
          <a:bodyPr wrap="square" rtlCol="0" anchor="t"/>
          <a:lstStyle/>
          <a:p>
            <a:pPr marL="171450" indent="-171450" algn="just">
              <a:lnSpc>
                <a:spcPct val="115000"/>
              </a:lnSpc>
              <a:buFontTx/>
              <a:buChar char="-"/>
            </a:pPr>
            <a:r>
              <a:rPr lang="en-US" sz="1050" dirty="0">
                <a:solidFill>
                  <a:srgbClr val="00B050"/>
                </a:solidFill>
                <a:latin typeface="Arial" pitchFamily="34" charset="0"/>
                <a:ea typeface="Arial" pitchFamily="34" charset="-122"/>
                <a:cs typeface="Arial" pitchFamily="34" charset="-120"/>
              </a:rPr>
              <a:t>97.02% </a:t>
            </a:r>
            <a:r>
              <a:rPr lang="en-US" sz="1050" dirty="0">
                <a:solidFill>
                  <a:srgbClr val="3A3F55"/>
                </a:solidFill>
                <a:latin typeface="Arial" pitchFamily="34" charset="0"/>
                <a:ea typeface="Arial" pitchFamily="34" charset="-122"/>
                <a:cs typeface="Arial" pitchFamily="34" charset="-120"/>
              </a:rPr>
              <a:t>đơn giao thành công, chỉ </a:t>
            </a:r>
            <a:r>
              <a:rPr lang="en-US" sz="1050" dirty="0">
                <a:solidFill>
                  <a:srgbClr val="FF0000"/>
                </a:solidFill>
                <a:latin typeface="Arial" pitchFamily="34" charset="0"/>
                <a:ea typeface="Arial" pitchFamily="34" charset="-122"/>
                <a:cs typeface="Arial" pitchFamily="34" charset="-120"/>
              </a:rPr>
              <a:t>0.63%</a:t>
            </a:r>
            <a:r>
              <a:rPr lang="en-US" sz="1050" dirty="0">
                <a:solidFill>
                  <a:srgbClr val="3A3F55"/>
                </a:solidFill>
                <a:latin typeface="Arial" pitchFamily="34" charset="0"/>
                <a:ea typeface="Arial" pitchFamily="34" charset="-122"/>
                <a:cs typeface="Arial" pitchFamily="34" charset="-120"/>
              </a:rPr>
              <a:t> bị hủy — cho thấy vận hành lõi </a:t>
            </a:r>
            <a:r>
              <a:rPr lang="en-US" sz="1050" dirty="0" err="1">
                <a:solidFill>
                  <a:srgbClr val="3A3F55"/>
                </a:solidFill>
                <a:latin typeface="Arial" pitchFamily="34" charset="0"/>
                <a:ea typeface="Arial" pitchFamily="34" charset="-122"/>
                <a:cs typeface="Arial" pitchFamily="34" charset="-120"/>
              </a:rPr>
              <a:t>khá</a:t>
            </a:r>
            <a:r>
              <a:rPr lang="en-US" sz="1050" dirty="0">
                <a:solidFill>
                  <a:srgbClr val="3A3F55"/>
                </a:solidFill>
                <a:latin typeface="Arial" pitchFamily="34" charset="0"/>
                <a:ea typeface="Arial" pitchFamily="34" charset="-122"/>
                <a:cs typeface="Arial" pitchFamily="34" charset="-120"/>
              </a:rPr>
              <a:t> </a:t>
            </a:r>
            <a:r>
              <a:rPr lang="en-US" sz="1050" dirty="0" err="1" smtClean="0">
                <a:solidFill>
                  <a:srgbClr val="3A3F55"/>
                </a:solidFill>
                <a:latin typeface="Arial" pitchFamily="34" charset="0"/>
                <a:ea typeface="Arial" pitchFamily="34" charset="-122"/>
                <a:cs typeface="Arial" pitchFamily="34" charset="-120"/>
              </a:rPr>
              <a:t>tốt</a:t>
            </a:r>
            <a:r>
              <a:rPr lang="en-US" sz="1050" dirty="0" smtClean="0">
                <a:solidFill>
                  <a:srgbClr val="3A3F55"/>
                </a:solidFill>
                <a:latin typeface="Arial" pitchFamily="34" charset="0"/>
                <a:ea typeface="Arial" pitchFamily="34" charset="-122"/>
                <a:cs typeface="Arial" pitchFamily="34" charset="-120"/>
              </a:rPr>
              <a:t>.</a:t>
            </a:r>
          </a:p>
        </p:txBody>
      </p:sp>
      <p:sp>
        <p:nvSpPr>
          <p:cNvPr id="17" name="Shape 14"/>
          <p:cNvSpPr/>
          <p:nvPr/>
        </p:nvSpPr>
        <p:spPr>
          <a:xfrm>
            <a:off x="7680960" y="4995417"/>
            <a:ext cx="3977640" cy="1494318"/>
          </a:xfrm>
          <a:prstGeom prst="roundRect">
            <a:avLst>
              <a:gd name="adj" fmla="val 3243"/>
            </a:avLst>
          </a:prstGeom>
          <a:solidFill>
            <a:srgbClr val="FFFFFF"/>
          </a:solidFill>
          <a:ln w="12700">
            <a:solidFill>
              <a:srgbClr val="E9ECF5"/>
            </a:solidFill>
            <a:prstDash val="solid"/>
          </a:ln>
          <a:effectLst>
            <a:outerShdw blurRad="63500" dist="25400" dir="5400000" algn="bl" rotWithShape="0">
              <a:srgbClr val="1E2761">
                <a:alpha val="10000"/>
              </a:srgbClr>
            </a:outerShdw>
          </a:effectLst>
        </p:spPr>
      </p:sp>
      <p:sp>
        <p:nvSpPr>
          <p:cNvPr id="18" name="Shape 15"/>
          <p:cNvSpPr/>
          <p:nvPr/>
        </p:nvSpPr>
        <p:spPr>
          <a:xfrm>
            <a:off x="7845552" y="5084174"/>
            <a:ext cx="384048" cy="384048"/>
          </a:xfrm>
          <a:prstGeom prst="ellipse">
            <a:avLst/>
          </a:prstGeom>
          <a:solidFill>
            <a:srgbClr val="2E5EAA"/>
          </a:solidFill>
          <a:ln/>
        </p:spPr>
      </p:sp>
      <p:sp>
        <p:nvSpPr>
          <p:cNvPr id="19" name="Text 16"/>
          <p:cNvSpPr/>
          <p:nvPr/>
        </p:nvSpPr>
        <p:spPr>
          <a:xfrm>
            <a:off x="7845552" y="5084174"/>
            <a:ext cx="384048" cy="384048"/>
          </a:xfrm>
          <a:prstGeom prst="rect">
            <a:avLst/>
          </a:prstGeom>
          <a:noFill/>
          <a:ln/>
        </p:spPr>
        <p:txBody>
          <a:bodyPr wrap="square" rtlCol="0" anchor="ctr"/>
          <a:lstStyle/>
          <a:p>
            <a:pPr marL="0" indent="0" algn="ctr">
              <a:buNone/>
            </a:pPr>
            <a:r>
              <a:rPr lang="en-US" sz="1092" b="1" dirty="0">
                <a:solidFill>
                  <a:srgbClr val="FFFFFF"/>
                </a:solidFill>
                <a:latin typeface="Arial" pitchFamily="34" charset="0"/>
                <a:ea typeface="Arial" pitchFamily="34" charset="-122"/>
                <a:cs typeface="Arial" pitchFamily="34" charset="-120"/>
              </a:rPr>
              <a:t>3</a:t>
            </a:r>
            <a:endParaRPr lang="en-US" sz="1092" dirty="0"/>
          </a:p>
        </p:txBody>
      </p:sp>
      <p:sp>
        <p:nvSpPr>
          <p:cNvPr id="20" name="Text 17"/>
          <p:cNvSpPr/>
          <p:nvPr/>
        </p:nvSpPr>
        <p:spPr>
          <a:xfrm>
            <a:off x="8339328" y="5065886"/>
            <a:ext cx="3154680" cy="457200"/>
          </a:xfrm>
          <a:prstGeom prst="rect">
            <a:avLst/>
          </a:prstGeom>
          <a:noFill/>
          <a:ln/>
        </p:spPr>
        <p:txBody>
          <a:bodyPr wrap="square" rtlCol="0" anchor="ctr"/>
          <a:lstStyle/>
          <a:p>
            <a:pPr marL="0" indent="0">
              <a:buNone/>
            </a:pPr>
            <a:r>
              <a:rPr lang="en-US" sz="1350" b="1" dirty="0">
                <a:solidFill>
                  <a:srgbClr val="1E2761"/>
                </a:solidFill>
                <a:latin typeface="Arial" pitchFamily="34" charset="0"/>
                <a:ea typeface="Arial" pitchFamily="34" charset="-122"/>
                <a:cs typeface="Arial" pitchFamily="34" charset="-120"/>
              </a:rPr>
              <a:t>Vẫn còn 14% đánh giá tiêu cực</a:t>
            </a:r>
            <a:endParaRPr lang="en-US" sz="1350" dirty="0"/>
          </a:p>
        </p:txBody>
      </p:sp>
      <p:sp>
        <p:nvSpPr>
          <p:cNvPr id="21" name="Text 18"/>
          <p:cNvSpPr/>
          <p:nvPr/>
        </p:nvSpPr>
        <p:spPr>
          <a:xfrm>
            <a:off x="7936992" y="5632814"/>
            <a:ext cx="3465576" cy="777240"/>
          </a:xfrm>
          <a:prstGeom prst="rect">
            <a:avLst/>
          </a:prstGeom>
          <a:noFill/>
          <a:ln/>
        </p:spPr>
        <p:txBody>
          <a:bodyPr wrap="square" rtlCol="0" anchor="t"/>
          <a:lstStyle/>
          <a:p>
            <a:pPr marL="171450" indent="-171450" algn="just">
              <a:lnSpc>
                <a:spcPct val="115000"/>
              </a:lnSpc>
              <a:buFontTx/>
              <a:buChar char="-"/>
            </a:pPr>
            <a:r>
              <a:rPr lang="en-US" sz="1050" dirty="0" err="1" smtClean="0">
                <a:solidFill>
                  <a:srgbClr val="3A3F55"/>
                </a:solidFill>
                <a:latin typeface="Arial" pitchFamily="34" charset="0"/>
                <a:ea typeface="Arial" pitchFamily="34" charset="-122"/>
                <a:cs typeface="Arial" pitchFamily="34" charset="-120"/>
              </a:rPr>
              <a:t>Hơn</a:t>
            </a:r>
            <a:r>
              <a:rPr lang="en-US" sz="1050" dirty="0" smtClean="0">
                <a:solidFill>
                  <a:srgbClr val="3A3F55"/>
                </a:solidFill>
                <a:latin typeface="Arial" pitchFamily="34" charset="0"/>
                <a:ea typeface="Arial" pitchFamily="34" charset="-122"/>
                <a:cs typeface="Arial" pitchFamily="34" charset="-120"/>
              </a:rPr>
              <a:t> </a:t>
            </a:r>
            <a:r>
              <a:rPr lang="en-US" sz="1050" dirty="0">
                <a:solidFill>
                  <a:srgbClr val="00B050"/>
                </a:solidFill>
                <a:latin typeface="Arial" pitchFamily="34" charset="0"/>
                <a:ea typeface="Arial" pitchFamily="34" charset="-122"/>
                <a:cs typeface="Arial" pitchFamily="34" charset="-120"/>
              </a:rPr>
              <a:t>76%</a:t>
            </a:r>
            <a:r>
              <a:rPr lang="en-US" sz="1050" dirty="0">
                <a:solidFill>
                  <a:srgbClr val="3A3F55"/>
                </a:solidFill>
                <a:latin typeface="Arial" pitchFamily="34" charset="0"/>
                <a:ea typeface="Arial" pitchFamily="34" charset="-122"/>
                <a:cs typeface="Arial" pitchFamily="34" charset="-120"/>
              </a:rPr>
              <a:t> đánh giá tích </a:t>
            </a:r>
            <a:r>
              <a:rPr lang="en-US" sz="1050" dirty="0" err="1">
                <a:solidFill>
                  <a:srgbClr val="3A3F55"/>
                </a:solidFill>
                <a:latin typeface="Arial" pitchFamily="34" charset="0"/>
                <a:ea typeface="Arial" pitchFamily="34" charset="-122"/>
                <a:cs typeface="Arial" pitchFamily="34" charset="-120"/>
              </a:rPr>
              <a:t>cực</a:t>
            </a:r>
            <a:r>
              <a:rPr lang="en-US" sz="1050" dirty="0">
                <a:solidFill>
                  <a:srgbClr val="3A3F55"/>
                </a:solidFill>
                <a:latin typeface="Arial" pitchFamily="34" charset="0"/>
                <a:ea typeface="Arial" pitchFamily="34" charset="-122"/>
                <a:cs typeface="Arial" pitchFamily="34" charset="-120"/>
              </a:rPr>
              <a:t> </a:t>
            </a:r>
            <a:r>
              <a:rPr lang="en-US" sz="1050" dirty="0" smtClean="0">
                <a:solidFill>
                  <a:srgbClr val="3A3F55"/>
                </a:solidFill>
                <a:latin typeface="Arial" pitchFamily="34" charset="0"/>
                <a:ea typeface="Arial" pitchFamily="34" charset="-122"/>
                <a:cs typeface="Arial" pitchFamily="34" charset="-120"/>
              </a:rPr>
              <a:t>(3-5 </a:t>
            </a:r>
            <a:r>
              <a:rPr lang="en-US" sz="1050" dirty="0" err="1">
                <a:solidFill>
                  <a:srgbClr val="3A3F55"/>
                </a:solidFill>
                <a:latin typeface="Arial" pitchFamily="34" charset="0"/>
                <a:ea typeface="Arial" pitchFamily="34" charset="-122"/>
                <a:cs typeface="Arial" pitchFamily="34" charset="-120"/>
              </a:rPr>
              <a:t>sao</a:t>
            </a:r>
            <a:r>
              <a:rPr lang="en-US" sz="1050" dirty="0" smtClean="0">
                <a:solidFill>
                  <a:srgbClr val="3A3F55"/>
                </a:solidFill>
                <a:latin typeface="Arial" pitchFamily="34" charset="0"/>
                <a:ea typeface="Arial" pitchFamily="34" charset="-122"/>
                <a:cs typeface="Arial" pitchFamily="34" charset="-120"/>
              </a:rPr>
              <a:t>), </a:t>
            </a:r>
            <a:r>
              <a:rPr lang="en-US" sz="1050" dirty="0" err="1" smtClean="0">
                <a:solidFill>
                  <a:srgbClr val="3A3F55"/>
                </a:solidFill>
                <a:latin typeface="Arial" pitchFamily="34" charset="0"/>
                <a:ea typeface="Arial" pitchFamily="34" charset="-122"/>
                <a:cs typeface="Arial" pitchFamily="34" charset="-120"/>
              </a:rPr>
              <a:t>tuy</a:t>
            </a:r>
            <a:r>
              <a:rPr lang="en-US" sz="1050" dirty="0" smtClean="0">
                <a:solidFill>
                  <a:srgbClr val="3A3F55"/>
                </a:solidFill>
                <a:latin typeface="Arial" pitchFamily="34" charset="0"/>
                <a:ea typeface="Arial" pitchFamily="34" charset="-122"/>
                <a:cs typeface="Arial" pitchFamily="34" charset="-120"/>
              </a:rPr>
              <a:t> </a:t>
            </a:r>
            <a:r>
              <a:rPr lang="en-US" sz="1050" dirty="0" err="1" smtClean="0">
                <a:solidFill>
                  <a:srgbClr val="3A3F55"/>
                </a:solidFill>
                <a:latin typeface="Arial" pitchFamily="34" charset="0"/>
                <a:ea typeface="Arial" pitchFamily="34" charset="-122"/>
                <a:cs typeface="Arial" pitchFamily="34" charset="-120"/>
              </a:rPr>
              <a:t>nhiên</a:t>
            </a:r>
            <a:r>
              <a:rPr lang="en-US" sz="1050" dirty="0" smtClean="0">
                <a:solidFill>
                  <a:srgbClr val="3A3F55"/>
                </a:solidFill>
                <a:latin typeface="Arial" pitchFamily="34" charset="0"/>
                <a:ea typeface="Arial" pitchFamily="34" charset="-122"/>
                <a:cs typeface="Arial" pitchFamily="34" charset="-120"/>
              </a:rPr>
              <a:t> </a:t>
            </a:r>
            <a:r>
              <a:rPr lang="en-US" sz="1050" dirty="0" err="1" smtClean="0">
                <a:solidFill>
                  <a:srgbClr val="3A3F55"/>
                </a:solidFill>
                <a:latin typeface="Arial" pitchFamily="34" charset="0"/>
                <a:ea typeface="Arial" pitchFamily="34" charset="-122"/>
                <a:cs typeface="Arial" pitchFamily="34" charset="-120"/>
              </a:rPr>
              <a:t>vẫn</a:t>
            </a:r>
            <a:r>
              <a:rPr lang="en-US" sz="1050" dirty="0" smtClean="0">
                <a:solidFill>
                  <a:srgbClr val="3A3F55"/>
                </a:solidFill>
                <a:latin typeface="Arial" pitchFamily="34" charset="0"/>
                <a:ea typeface="Arial" pitchFamily="34" charset="-122"/>
                <a:cs typeface="Arial" pitchFamily="34" charset="-120"/>
              </a:rPr>
              <a:t> </a:t>
            </a:r>
            <a:r>
              <a:rPr lang="en-US" sz="1050" dirty="0" err="1" smtClean="0">
                <a:solidFill>
                  <a:srgbClr val="3A3F55"/>
                </a:solidFill>
                <a:latin typeface="Arial" pitchFamily="34" charset="0"/>
                <a:ea typeface="Arial" pitchFamily="34" charset="-122"/>
                <a:cs typeface="Arial" pitchFamily="34" charset="-120"/>
              </a:rPr>
              <a:t>còn</a:t>
            </a:r>
            <a:r>
              <a:rPr lang="en-US" sz="1050" dirty="0" smtClean="0">
                <a:solidFill>
                  <a:srgbClr val="3A3F55"/>
                </a:solidFill>
                <a:latin typeface="Arial" pitchFamily="34" charset="0"/>
                <a:ea typeface="Arial" pitchFamily="34" charset="-122"/>
                <a:cs typeface="Arial" pitchFamily="34" charset="-120"/>
              </a:rPr>
              <a:t> ~11 </a:t>
            </a:r>
            <a:r>
              <a:rPr lang="en-US" sz="1050" dirty="0" err="1" smtClean="0">
                <a:solidFill>
                  <a:srgbClr val="3A3F55"/>
                </a:solidFill>
                <a:latin typeface="Arial" pitchFamily="34" charset="0"/>
                <a:ea typeface="Arial" pitchFamily="34" charset="-122"/>
                <a:cs typeface="Arial" pitchFamily="34" charset="-120"/>
              </a:rPr>
              <a:t>nghìn</a:t>
            </a:r>
            <a:r>
              <a:rPr lang="en-US" sz="1050" dirty="0" smtClean="0">
                <a:solidFill>
                  <a:srgbClr val="3A3F55"/>
                </a:solidFill>
                <a:latin typeface="Arial" pitchFamily="34" charset="0"/>
                <a:ea typeface="Arial" pitchFamily="34" charset="-122"/>
                <a:cs typeface="Arial" pitchFamily="34" charset="-120"/>
              </a:rPr>
              <a:t> </a:t>
            </a:r>
            <a:r>
              <a:rPr lang="en-US" sz="1050" dirty="0" err="1" smtClean="0">
                <a:solidFill>
                  <a:srgbClr val="3A3F55"/>
                </a:solidFill>
                <a:latin typeface="Arial" pitchFamily="34" charset="0"/>
                <a:ea typeface="Arial" pitchFamily="34" charset="-122"/>
                <a:cs typeface="Arial" pitchFamily="34" charset="-120"/>
              </a:rPr>
              <a:t>bình</a:t>
            </a:r>
            <a:r>
              <a:rPr lang="en-US" sz="1050" dirty="0" smtClean="0">
                <a:solidFill>
                  <a:srgbClr val="3A3F55"/>
                </a:solidFill>
                <a:latin typeface="Arial" pitchFamily="34" charset="0"/>
                <a:ea typeface="Arial" pitchFamily="34" charset="-122"/>
                <a:cs typeface="Arial" pitchFamily="34" charset="-120"/>
              </a:rPr>
              <a:t> </a:t>
            </a:r>
            <a:r>
              <a:rPr lang="en-US" sz="1050" dirty="0" err="1" smtClean="0">
                <a:solidFill>
                  <a:srgbClr val="3A3F55"/>
                </a:solidFill>
                <a:latin typeface="Arial" pitchFamily="34" charset="0"/>
                <a:ea typeface="Arial" pitchFamily="34" charset="-122"/>
                <a:cs typeface="Arial" pitchFamily="34" charset="-120"/>
              </a:rPr>
              <a:t>luận</a:t>
            </a:r>
            <a:r>
              <a:rPr lang="en-US" sz="1050" dirty="0">
                <a:solidFill>
                  <a:srgbClr val="3A3F55"/>
                </a:solidFill>
                <a:latin typeface="Arial" pitchFamily="34" charset="0"/>
                <a:ea typeface="Arial" pitchFamily="34" charset="-122"/>
                <a:cs typeface="Arial" pitchFamily="34" charset="-120"/>
              </a:rPr>
              <a:t> </a:t>
            </a:r>
            <a:r>
              <a:rPr lang="en-US" sz="1050" dirty="0" err="1" smtClean="0">
                <a:solidFill>
                  <a:srgbClr val="3A3F55"/>
                </a:solidFill>
                <a:latin typeface="Arial" pitchFamily="34" charset="0"/>
                <a:ea typeface="Arial" pitchFamily="34" charset="-122"/>
                <a:cs typeface="Arial" pitchFamily="34" charset="-120"/>
              </a:rPr>
              <a:t>tương</a:t>
            </a:r>
            <a:r>
              <a:rPr lang="en-US" sz="1050" dirty="0" smtClean="0">
                <a:solidFill>
                  <a:srgbClr val="3A3F55"/>
                </a:solidFill>
                <a:latin typeface="Arial" pitchFamily="34" charset="0"/>
                <a:ea typeface="Arial" pitchFamily="34" charset="-122"/>
                <a:cs typeface="Arial" pitchFamily="34" charset="-120"/>
              </a:rPr>
              <a:t> </a:t>
            </a:r>
            <a:r>
              <a:rPr lang="en-US" sz="1050" dirty="0" err="1" smtClean="0">
                <a:solidFill>
                  <a:srgbClr val="3A3F55"/>
                </a:solidFill>
                <a:latin typeface="Arial" pitchFamily="34" charset="0"/>
                <a:ea typeface="Arial" pitchFamily="34" charset="-122"/>
                <a:cs typeface="Arial" pitchFamily="34" charset="-120"/>
              </a:rPr>
              <a:t>đương</a:t>
            </a:r>
            <a:r>
              <a:rPr lang="en-US" sz="1050" dirty="0" smtClean="0">
                <a:solidFill>
                  <a:srgbClr val="3A3F55"/>
                </a:solidFill>
                <a:latin typeface="Arial" pitchFamily="34" charset="0"/>
                <a:ea typeface="Arial" pitchFamily="34" charset="-122"/>
                <a:cs typeface="Arial" pitchFamily="34" charset="-120"/>
              </a:rPr>
              <a:t> </a:t>
            </a:r>
            <a:r>
              <a:rPr lang="en-US" sz="1050" dirty="0">
                <a:solidFill>
                  <a:srgbClr val="FF0000"/>
                </a:solidFill>
                <a:latin typeface="Arial" pitchFamily="34" charset="0"/>
                <a:ea typeface="Arial" pitchFamily="34" charset="-122"/>
                <a:cs typeface="Arial" pitchFamily="34" charset="-120"/>
              </a:rPr>
              <a:t>14%</a:t>
            </a:r>
            <a:r>
              <a:rPr lang="en-US" sz="1050" dirty="0" smtClean="0">
                <a:solidFill>
                  <a:srgbClr val="3A3F55"/>
                </a:solidFill>
                <a:latin typeface="Arial" pitchFamily="34" charset="0"/>
                <a:ea typeface="Arial" pitchFamily="34" charset="-122"/>
                <a:cs typeface="Arial" pitchFamily="34" charset="-120"/>
              </a:rPr>
              <a:t>  </a:t>
            </a:r>
            <a:r>
              <a:rPr lang="en-US" sz="1050" dirty="0">
                <a:solidFill>
                  <a:srgbClr val="3A3F55"/>
                </a:solidFill>
                <a:latin typeface="Arial" pitchFamily="34" charset="0"/>
                <a:ea typeface="Arial" pitchFamily="34" charset="-122"/>
                <a:cs typeface="Arial" pitchFamily="34" charset="-120"/>
              </a:rPr>
              <a:t>đánh giá 1-2 sao là dấu hiệu cần đào sâu ở trang Logistic</a:t>
            </a:r>
            <a:r>
              <a:rPr lang="en-US" sz="1050" dirty="0" smtClean="0">
                <a:solidFill>
                  <a:srgbClr val="3A3F55"/>
                </a:solidFill>
                <a:latin typeface="Arial" pitchFamily="34" charset="0"/>
                <a:ea typeface="Arial" pitchFamily="34" charset="-122"/>
                <a:cs typeface="Arial" pitchFamily="34" charset="-120"/>
              </a:rPr>
              <a:t>.</a:t>
            </a:r>
          </a:p>
          <a:p>
            <a:pPr algn="just">
              <a:lnSpc>
                <a:spcPct val="115000"/>
              </a:lnSpc>
            </a:pPr>
            <a:endParaRPr lang="en-US" sz="1050" dirty="0"/>
          </a:p>
          <a:p>
            <a:pPr marL="0" indent="0" algn="just">
              <a:lnSpc>
                <a:spcPct val="115000"/>
              </a:lnSpc>
              <a:buNone/>
            </a:pPr>
            <a:endParaRPr lang="en-US" sz="1050" dirty="0" smtClean="0">
              <a:solidFill>
                <a:srgbClr val="3A3F55"/>
              </a:solidFill>
              <a:latin typeface="Arial" pitchFamily="34" charset="0"/>
              <a:ea typeface="Arial" pitchFamily="34" charset="-122"/>
              <a:cs typeface="Arial" pitchFamily="34" charset="-120"/>
            </a:endParaRPr>
          </a:p>
        </p:txBody>
      </p:sp>
      <p:sp>
        <p:nvSpPr>
          <p:cNvPr id="22" name="Text 19"/>
          <p:cNvSpPr/>
          <p:nvPr/>
        </p:nvSpPr>
        <p:spPr>
          <a:xfrm>
            <a:off x="457200" y="6473952"/>
            <a:ext cx="5486400" cy="274320"/>
          </a:xfrm>
          <a:prstGeom prst="rect">
            <a:avLst/>
          </a:prstGeom>
          <a:noFill/>
          <a:ln/>
        </p:spPr>
        <p:txBody>
          <a:bodyPr wrap="square" rtlCol="0" anchor="ctr"/>
          <a:lstStyle/>
          <a:p>
            <a:pPr marL="0" indent="0" algn="l">
              <a:buNone/>
            </a:pPr>
            <a:r>
              <a:rPr lang="en-US" sz="900" dirty="0">
                <a:solidFill>
                  <a:srgbClr val="9AA3B8"/>
                </a:solidFill>
                <a:latin typeface="Arial" pitchFamily="34" charset="0"/>
                <a:ea typeface="Arial" pitchFamily="34" charset="-122"/>
                <a:cs typeface="Arial" pitchFamily="34" charset="-120"/>
              </a:rPr>
              <a:t>OLIST ECOMMERCE ANALYTICS</a:t>
            </a:r>
            <a:endParaRPr lang="en-US" sz="900" dirty="0"/>
          </a:p>
        </p:txBody>
      </p:sp>
      <p:sp>
        <p:nvSpPr>
          <p:cNvPr id="23" name="Text 20"/>
          <p:cNvSpPr/>
          <p:nvPr/>
        </p:nvSpPr>
        <p:spPr>
          <a:xfrm>
            <a:off x="8074152" y="6550950"/>
            <a:ext cx="3657600" cy="274320"/>
          </a:xfrm>
          <a:prstGeom prst="rect">
            <a:avLst/>
          </a:prstGeom>
          <a:noFill/>
          <a:ln/>
        </p:spPr>
        <p:txBody>
          <a:bodyPr wrap="square" rtlCol="0" anchor="ctr"/>
          <a:lstStyle/>
          <a:p>
            <a:pPr marL="0" indent="0" algn="r">
              <a:buNone/>
            </a:pPr>
            <a:r>
              <a:rPr lang="en-US" sz="900" dirty="0">
                <a:solidFill>
                  <a:srgbClr val="9AA3B8"/>
                </a:solidFill>
                <a:latin typeface="Arial" pitchFamily="34" charset="0"/>
                <a:ea typeface="Arial" pitchFamily="34" charset="-122"/>
                <a:cs typeface="Arial" pitchFamily="34" charset="-120"/>
              </a:rPr>
              <a:t>07</a:t>
            </a:r>
            <a:endParaRPr lang="en-US" sz="900" dirty="0"/>
          </a:p>
        </p:txBody>
      </p:sp>
      <p:pic>
        <p:nvPicPr>
          <p:cNvPr id="24" name="Picture 23"/>
          <p:cNvPicPr>
            <a:picLocks noChangeAspect="1"/>
          </p:cNvPicPr>
          <p:nvPr/>
        </p:nvPicPr>
        <p:blipFill>
          <a:blip r:embed="rId3"/>
          <a:stretch>
            <a:fillRect/>
          </a:stretch>
        </p:blipFill>
        <p:spPr>
          <a:xfrm>
            <a:off x="643604" y="1005840"/>
            <a:ext cx="6708172" cy="4078334"/>
          </a:xfrm>
          <a:prstGeom prst="rect">
            <a:avLst/>
          </a:prstGeom>
        </p:spPr>
      </p:pic>
    </p:spTree>
  </p:cSld>
  <p:clrMapOvr>
    <a:masterClrMapping/>
  </p:clrMapOvr>
  <p:transition spd="slow">
    <p:wip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C"/>
        </a:solidFill>
        <a:effectLst/>
      </p:bgPr>
    </p:bg>
    <p:spTree>
      <p:nvGrpSpPr>
        <p:cNvPr id="1" name=""/>
        <p:cNvGrpSpPr/>
        <p:nvPr/>
      </p:nvGrpSpPr>
      <p:grpSpPr>
        <a:xfrm>
          <a:off x="0" y="0"/>
          <a:ext cx="0" cy="0"/>
          <a:chOff x="0" y="0"/>
          <a:chExt cx="0" cy="0"/>
        </a:xfrm>
      </p:grpSpPr>
      <p:sp>
        <p:nvSpPr>
          <p:cNvPr id="2" name="Shape 0"/>
          <p:cNvSpPr/>
          <p:nvPr/>
        </p:nvSpPr>
        <p:spPr>
          <a:xfrm>
            <a:off x="548640" y="320040"/>
            <a:ext cx="1371600" cy="384048"/>
          </a:xfrm>
          <a:prstGeom prst="roundRect">
            <a:avLst>
              <a:gd name="adj" fmla="val 50000"/>
            </a:avLst>
          </a:prstGeom>
          <a:solidFill>
            <a:srgbClr val="2E5EAA"/>
          </a:solidFill>
          <a:ln/>
        </p:spPr>
      </p:sp>
      <p:sp>
        <p:nvSpPr>
          <p:cNvPr id="3" name="Text 1"/>
          <p:cNvSpPr/>
          <p:nvPr/>
        </p:nvSpPr>
        <p:spPr>
          <a:xfrm>
            <a:off x="548640" y="320040"/>
            <a:ext cx="1371600" cy="384048"/>
          </a:xfrm>
          <a:prstGeom prst="rect">
            <a:avLst/>
          </a:prstGeom>
          <a:noFill/>
          <a:ln/>
        </p:spPr>
        <p:txBody>
          <a:bodyPr wrap="square"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PAGE 2</a:t>
            </a:r>
            <a:endParaRPr lang="en-US" sz="1100" dirty="0"/>
          </a:p>
        </p:txBody>
      </p:sp>
      <p:sp>
        <p:nvSpPr>
          <p:cNvPr id="4" name="Text 2"/>
          <p:cNvSpPr/>
          <p:nvPr/>
        </p:nvSpPr>
        <p:spPr>
          <a:xfrm>
            <a:off x="2057400" y="292608"/>
            <a:ext cx="8686800" cy="457200"/>
          </a:xfrm>
          <a:prstGeom prst="rect">
            <a:avLst/>
          </a:prstGeom>
          <a:noFill/>
          <a:ln/>
        </p:spPr>
        <p:txBody>
          <a:bodyPr wrap="square" rtlCol="0" anchor="ctr"/>
          <a:lstStyle/>
          <a:p>
            <a:pPr marL="0" indent="0">
              <a:buNone/>
            </a:pPr>
            <a:r>
              <a:rPr lang="en-US" sz="2200" b="1" dirty="0">
                <a:solidFill>
                  <a:srgbClr val="1E2761"/>
                </a:solidFill>
                <a:latin typeface="Cambria" pitchFamily="34" charset="0"/>
                <a:ea typeface="Cambria" pitchFamily="34" charset="-122"/>
                <a:cs typeface="Cambria" pitchFamily="34" charset="-120"/>
              </a:rPr>
              <a:t>Product — Hiệu suất ngành hàng</a:t>
            </a:r>
            <a:endParaRPr lang="en-US" sz="2200" dirty="0"/>
          </a:p>
        </p:txBody>
      </p:sp>
      <p:sp>
        <p:nvSpPr>
          <p:cNvPr id="6" name="Shape 3"/>
          <p:cNvSpPr/>
          <p:nvPr/>
        </p:nvSpPr>
        <p:spPr>
          <a:xfrm>
            <a:off x="548640" y="960120"/>
            <a:ext cx="6903720" cy="4299777"/>
          </a:xfrm>
          <a:prstGeom prst="roundRect">
            <a:avLst>
              <a:gd name="adj" fmla="val 706"/>
            </a:avLst>
          </a:prstGeom>
          <a:ln w="19050">
            <a:solidFill>
              <a:srgbClr val="E9ECF5"/>
            </a:solidFill>
            <a:prstDash val="solid"/>
          </a:ln>
        </p:spPr>
      </p:sp>
      <p:sp>
        <p:nvSpPr>
          <p:cNvPr id="7" name="Shape 4"/>
          <p:cNvSpPr/>
          <p:nvPr/>
        </p:nvSpPr>
        <p:spPr>
          <a:xfrm>
            <a:off x="7680960" y="896112"/>
            <a:ext cx="3977640" cy="2194560"/>
          </a:xfrm>
          <a:prstGeom prst="roundRect">
            <a:avLst>
              <a:gd name="adj" fmla="val 2222"/>
            </a:avLst>
          </a:prstGeom>
          <a:solidFill>
            <a:srgbClr val="FFFFFF"/>
          </a:solidFill>
          <a:ln w="12700">
            <a:solidFill>
              <a:srgbClr val="E9ECF5"/>
            </a:solidFill>
            <a:prstDash val="solid"/>
          </a:ln>
          <a:effectLst>
            <a:outerShdw blurRad="63500" dist="25400" dir="5400000" algn="bl" rotWithShape="0">
              <a:srgbClr val="1E2761">
                <a:alpha val="10000"/>
              </a:srgbClr>
            </a:outerShdw>
          </a:effectLst>
        </p:spPr>
      </p:sp>
      <p:sp>
        <p:nvSpPr>
          <p:cNvPr id="8" name="Shape 5"/>
          <p:cNvSpPr/>
          <p:nvPr/>
        </p:nvSpPr>
        <p:spPr>
          <a:xfrm>
            <a:off x="7845552" y="1124712"/>
            <a:ext cx="384048" cy="384048"/>
          </a:xfrm>
          <a:prstGeom prst="ellipse">
            <a:avLst/>
          </a:prstGeom>
          <a:solidFill>
            <a:srgbClr val="E8590C"/>
          </a:solidFill>
          <a:ln/>
        </p:spPr>
      </p:sp>
      <p:sp>
        <p:nvSpPr>
          <p:cNvPr id="9" name="Text 6"/>
          <p:cNvSpPr/>
          <p:nvPr/>
        </p:nvSpPr>
        <p:spPr>
          <a:xfrm>
            <a:off x="7845552" y="1124712"/>
            <a:ext cx="384048" cy="384048"/>
          </a:xfrm>
          <a:prstGeom prst="rect">
            <a:avLst/>
          </a:prstGeom>
          <a:noFill/>
          <a:ln/>
        </p:spPr>
        <p:txBody>
          <a:bodyPr wrap="square" rtlCol="0" anchor="ctr"/>
          <a:lstStyle/>
          <a:p>
            <a:pPr marL="0" indent="0" algn="ctr">
              <a:buNone/>
            </a:pPr>
            <a:r>
              <a:rPr lang="en-US" sz="1092" b="1" dirty="0">
                <a:solidFill>
                  <a:srgbClr val="FFFFFF"/>
                </a:solidFill>
                <a:latin typeface="Arial" pitchFamily="34" charset="0"/>
                <a:ea typeface="Arial" pitchFamily="34" charset="-122"/>
                <a:cs typeface="Arial" pitchFamily="34" charset="-120"/>
              </a:rPr>
              <a:t>1</a:t>
            </a:r>
            <a:endParaRPr lang="en-US" sz="1092" dirty="0"/>
          </a:p>
        </p:txBody>
      </p:sp>
      <p:sp>
        <p:nvSpPr>
          <p:cNvPr id="10" name="Text 7"/>
          <p:cNvSpPr/>
          <p:nvPr/>
        </p:nvSpPr>
        <p:spPr>
          <a:xfrm>
            <a:off x="8339328" y="1106424"/>
            <a:ext cx="3154680" cy="457200"/>
          </a:xfrm>
          <a:prstGeom prst="rect">
            <a:avLst/>
          </a:prstGeom>
          <a:noFill/>
          <a:ln/>
        </p:spPr>
        <p:txBody>
          <a:bodyPr wrap="square" rtlCol="0" anchor="ctr"/>
          <a:lstStyle/>
          <a:p>
            <a:pPr marL="0" indent="0">
              <a:buNone/>
            </a:pPr>
            <a:r>
              <a:rPr lang="en-US" sz="1350" b="1" dirty="0">
                <a:solidFill>
                  <a:srgbClr val="1E2761"/>
                </a:solidFill>
                <a:latin typeface="Arial" pitchFamily="34" charset="0"/>
                <a:ea typeface="Arial" pitchFamily="34" charset="-122"/>
                <a:cs typeface="Arial" pitchFamily="34" charset="-120"/>
              </a:rPr>
              <a:t>Hiện tượng Long-tail rõ rệt</a:t>
            </a:r>
            <a:endParaRPr lang="en-US" sz="1350" dirty="0"/>
          </a:p>
        </p:txBody>
      </p:sp>
      <p:sp>
        <p:nvSpPr>
          <p:cNvPr id="11" name="Text 8"/>
          <p:cNvSpPr/>
          <p:nvPr/>
        </p:nvSpPr>
        <p:spPr>
          <a:xfrm>
            <a:off x="7936992" y="1673352"/>
            <a:ext cx="3465576" cy="1554480"/>
          </a:xfrm>
          <a:prstGeom prst="rect">
            <a:avLst/>
          </a:prstGeom>
          <a:noFill/>
          <a:ln/>
        </p:spPr>
        <p:txBody>
          <a:bodyPr wrap="square" rtlCol="0" anchor="t"/>
          <a:lstStyle/>
          <a:p>
            <a:pPr marL="171450" indent="-171450" algn="just">
              <a:lnSpc>
                <a:spcPct val="115000"/>
              </a:lnSpc>
              <a:buFontTx/>
              <a:buChar char="-"/>
            </a:pPr>
            <a:r>
              <a:rPr lang="en-US" sz="1050" dirty="0" smtClean="0">
                <a:solidFill>
                  <a:srgbClr val="3A3F55"/>
                </a:solidFill>
                <a:latin typeface="Arial" pitchFamily="34" charset="0"/>
                <a:ea typeface="Arial" pitchFamily="34" charset="-122"/>
                <a:cs typeface="Arial" pitchFamily="34" charset="-120"/>
              </a:rPr>
              <a:t>Top </a:t>
            </a:r>
            <a:r>
              <a:rPr lang="en-US" sz="1050" dirty="0">
                <a:solidFill>
                  <a:srgbClr val="3A3F55"/>
                </a:solidFill>
                <a:latin typeface="Arial" pitchFamily="34" charset="0"/>
                <a:ea typeface="Arial" pitchFamily="34" charset="-122"/>
                <a:cs typeface="Arial" pitchFamily="34" charset="-120"/>
              </a:rPr>
              <a:t>5/74 category (Health Beauty, Watches Gifts, Bed Bath Table, Sports Leisure, Computers Accessories) chiếm 39.16% </a:t>
            </a:r>
            <a:r>
              <a:rPr lang="en-US" sz="1050" dirty="0" err="1">
                <a:solidFill>
                  <a:srgbClr val="3A3F55"/>
                </a:solidFill>
                <a:latin typeface="Arial" pitchFamily="34" charset="0"/>
                <a:ea typeface="Arial" pitchFamily="34" charset="-122"/>
                <a:cs typeface="Arial" pitchFamily="34" charset="-120"/>
              </a:rPr>
              <a:t>tổng</a:t>
            </a:r>
            <a:r>
              <a:rPr lang="en-US" sz="1050" dirty="0">
                <a:solidFill>
                  <a:srgbClr val="3A3F55"/>
                </a:solidFill>
                <a:latin typeface="Arial" pitchFamily="34" charset="0"/>
                <a:ea typeface="Arial" pitchFamily="34" charset="-122"/>
                <a:cs typeface="Arial" pitchFamily="34" charset="-120"/>
              </a:rPr>
              <a:t> </a:t>
            </a:r>
            <a:r>
              <a:rPr lang="en-US" sz="1050" dirty="0" smtClean="0">
                <a:solidFill>
                  <a:srgbClr val="3A3F55"/>
                </a:solidFill>
                <a:latin typeface="Arial" pitchFamily="34" charset="0"/>
                <a:ea typeface="Arial" pitchFamily="34" charset="-122"/>
                <a:cs typeface="Arial" pitchFamily="34" charset="-120"/>
              </a:rPr>
              <a:t>GMV </a:t>
            </a:r>
            <a:r>
              <a:rPr lang="en-US" sz="1050" dirty="0" err="1" smtClean="0">
                <a:solidFill>
                  <a:srgbClr val="3A3F55"/>
                </a:solidFill>
                <a:latin typeface="Arial" pitchFamily="34" charset="0"/>
                <a:ea typeface="Arial" pitchFamily="34" charset="-122"/>
                <a:cs typeface="Arial" pitchFamily="34" charset="-120"/>
              </a:rPr>
              <a:t>toàn</a:t>
            </a:r>
            <a:r>
              <a:rPr lang="en-US" sz="1050" dirty="0" smtClean="0">
                <a:solidFill>
                  <a:srgbClr val="3A3F55"/>
                </a:solidFill>
                <a:latin typeface="Arial" pitchFamily="34" charset="0"/>
                <a:ea typeface="Arial" pitchFamily="34" charset="-122"/>
                <a:cs typeface="Arial" pitchFamily="34" charset="-120"/>
              </a:rPr>
              <a:t> </a:t>
            </a:r>
            <a:r>
              <a:rPr lang="en-US" sz="1050" dirty="0" err="1" smtClean="0">
                <a:solidFill>
                  <a:srgbClr val="3A3F55"/>
                </a:solidFill>
                <a:latin typeface="Arial" pitchFamily="34" charset="0"/>
                <a:ea typeface="Arial" pitchFamily="34" charset="-122"/>
                <a:cs typeface="Arial" pitchFamily="34" charset="-120"/>
              </a:rPr>
              <a:t>sản</a:t>
            </a:r>
            <a:r>
              <a:rPr lang="en-US" sz="1050" dirty="0" smtClean="0">
                <a:solidFill>
                  <a:srgbClr val="3A3F55"/>
                </a:solidFill>
                <a:latin typeface="Arial" pitchFamily="34" charset="0"/>
                <a:ea typeface="Arial" pitchFamily="34" charset="-122"/>
                <a:cs typeface="Arial" pitchFamily="34" charset="-120"/>
              </a:rPr>
              <a:t>.</a:t>
            </a:r>
          </a:p>
          <a:p>
            <a:pPr marL="171450" indent="-171450" algn="just">
              <a:lnSpc>
                <a:spcPct val="115000"/>
              </a:lnSpc>
              <a:buFontTx/>
              <a:buChar char="-"/>
            </a:pPr>
            <a:r>
              <a:rPr lang="en-US" sz="1050" dirty="0" err="1" smtClean="0">
                <a:solidFill>
                  <a:srgbClr val="3A3F55"/>
                </a:solidFill>
                <a:latin typeface="Arial" pitchFamily="34" charset="0"/>
                <a:ea typeface="Arial" pitchFamily="34" charset="-122"/>
                <a:cs typeface="Arial" pitchFamily="34" charset="-120"/>
              </a:rPr>
              <a:t>Các</a:t>
            </a:r>
            <a:r>
              <a:rPr lang="en-US" sz="1050" dirty="0" smtClean="0">
                <a:solidFill>
                  <a:srgbClr val="3A3F55"/>
                </a:solidFill>
                <a:latin typeface="Arial" pitchFamily="34" charset="0"/>
                <a:ea typeface="Arial" pitchFamily="34" charset="-122"/>
                <a:cs typeface="Arial" pitchFamily="34" charset="-120"/>
              </a:rPr>
              <a:t> categories </a:t>
            </a:r>
            <a:r>
              <a:rPr lang="en-US" sz="1050" dirty="0" err="1" smtClean="0">
                <a:solidFill>
                  <a:srgbClr val="3A3F55"/>
                </a:solidFill>
                <a:latin typeface="Arial" pitchFamily="34" charset="0"/>
                <a:ea typeface="Arial" pitchFamily="34" charset="-122"/>
                <a:cs typeface="Arial" pitchFamily="34" charset="-120"/>
              </a:rPr>
              <a:t>còn</a:t>
            </a:r>
            <a:r>
              <a:rPr lang="en-US" sz="1050" dirty="0" smtClean="0">
                <a:solidFill>
                  <a:srgbClr val="3A3F55"/>
                </a:solidFill>
                <a:latin typeface="Arial" pitchFamily="34" charset="0"/>
                <a:ea typeface="Arial" pitchFamily="34" charset="-122"/>
                <a:cs typeface="Arial" pitchFamily="34" charset="-120"/>
              </a:rPr>
              <a:t> </a:t>
            </a:r>
            <a:r>
              <a:rPr lang="en-US" sz="1050" dirty="0" err="1" smtClean="0">
                <a:solidFill>
                  <a:srgbClr val="3A3F55"/>
                </a:solidFill>
                <a:latin typeface="Arial" pitchFamily="34" charset="0"/>
                <a:ea typeface="Arial" pitchFamily="34" charset="-122"/>
                <a:cs typeface="Arial" pitchFamily="34" charset="-120"/>
              </a:rPr>
              <a:t>lại</a:t>
            </a:r>
            <a:r>
              <a:rPr lang="en-US" sz="1050" dirty="0" smtClean="0">
                <a:solidFill>
                  <a:srgbClr val="3A3F55"/>
                </a:solidFill>
                <a:latin typeface="Arial" pitchFamily="34" charset="0"/>
                <a:ea typeface="Arial" pitchFamily="34" charset="-122"/>
                <a:cs typeface="Arial" pitchFamily="34" charset="-120"/>
              </a:rPr>
              <a:t> </a:t>
            </a:r>
            <a:r>
              <a:rPr lang="en-US" sz="1050" dirty="0" err="1" smtClean="0">
                <a:solidFill>
                  <a:srgbClr val="3A3F55"/>
                </a:solidFill>
                <a:latin typeface="Arial" pitchFamily="34" charset="0"/>
                <a:ea typeface="Arial" pitchFamily="34" charset="-122"/>
                <a:cs typeface="Arial" pitchFamily="34" charset="-120"/>
              </a:rPr>
              <a:t>hầu</a:t>
            </a:r>
            <a:r>
              <a:rPr lang="en-US" sz="1050" dirty="0" smtClean="0">
                <a:solidFill>
                  <a:srgbClr val="3A3F55"/>
                </a:solidFill>
                <a:latin typeface="Arial" pitchFamily="34" charset="0"/>
                <a:ea typeface="Arial" pitchFamily="34" charset="-122"/>
                <a:cs typeface="Arial" pitchFamily="34" charset="-120"/>
              </a:rPr>
              <a:t> </a:t>
            </a:r>
            <a:r>
              <a:rPr lang="en-US" sz="1050" dirty="0" err="1" smtClean="0">
                <a:solidFill>
                  <a:srgbClr val="3A3F55"/>
                </a:solidFill>
                <a:latin typeface="Arial" pitchFamily="34" charset="0"/>
                <a:ea typeface="Arial" pitchFamily="34" charset="-122"/>
                <a:cs typeface="Arial" pitchFamily="34" charset="-120"/>
              </a:rPr>
              <a:t>như</a:t>
            </a:r>
            <a:r>
              <a:rPr lang="en-US" sz="1050" dirty="0" smtClean="0">
                <a:solidFill>
                  <a:srgbClr val="3A3F55"/>
                </a:solidFill>
                <a:latin typeface="Arial" pitchFamily="34" charset="0"/>
                <a:ea typeface="Arial" pitchFamily="34" charset="-122"/>
                <a:cs typeface="Arial" pitchFamily="34" charset="-120"/>
              </a:rPr>
              <a:t> </a:t>
            </a:r>
            <a:r>
              <a:rPr lang="en-US" sz="1050" dirty="0" err="1" smtClean="0">
                <a:solidFill>
                  <a:srgbClr val="3A3F55"/>
                </a:solidFill>
                <a:latin typeface="Arial" pitchFamily="34" charset="0"/>
                <a:ea typeface="Arial" pitchFamily="34" charset="-122"/>
                <a:cs typeface="Arial" pitchFamily="34" charset="-120"/>
              </a:rPr>
              <a:t>lượt</a:t>
            </a:r>
            <a:r>
              <a:rPr lang="en-US" sz="1050" dirty="0" smtClean="0">
                <a:solidFill>
                  <a:srgbClr val="3A3F55"/>
                </a:solidFill>
                <a:latin typeface="Arial" pitchFamily="34" charset="0"/>
                <a:ea typeface="Arial" pitchFamily="34" charset="-122"/>
                <a:cs typeface="Arial" pitchFamily="34" charset="-120"/>
              </a:rPr>
              <a:t> </a:t>
            </a:r>
            <a:r>
              <a:rPr lang="en-US" sz="1050" dirty="0" err="1" smtClean="0">
                <a:solidFill>
                  <a:srgbClr val="3A3F55"/>
                </a:solidFill>
                <a:latin typeface="Arial" pitchFamily="34" charset="0"/>
                <a:ea typeface="Arial" pitchFamily="34" charset="-122"/>
                <a:cs typeface="Arial" pitchFamily="34" charset="-120"/>
              </a:rPr>
              <a:t>bán</a:t>
            </a:r>
            <a:r>
              <a:rPr lang="en-US" sz="1050" dirty="0" smtClean="0">
                <a:solidFill>
                  <a:srgbClr val="3A3F55"/>
                </a:solidFill>
                <a:latin typeface="Arial" pitchFamily="34" charset="0"/>
                <a:ea typeface="Arial" pitchFamily="34" charset="-122"/>
                <a:cs typeface="Arial" pitchFamily="34" charset="-120"/>
              </a:rPr>
              <a:t> </a:t>
            </a:r>
            <a:r>
              <a:rPr lang="en-US" sz="1050" dirty="0" err="1" smtClean="0">
                <a:solidFill>
                  <a:srgbClr val="3A3F55"/>
                </a:solidFill>
                <a:latin typeface="Arial" pitchFamily="34" charset="0"/>
                <a:ea typeface="Arial" pitchFamily="34" charset="-122"/>
                <a:cs typeface="Arial" pitchFamily="34" charset="-120"/>
              </a:rPr>
              <a:t>và</a:t>
            </a:r>
            <a:r>
              <a:rPr lang="en-US" sz="1050" dirty="0" smtClean="0">
                <a:solidFill>
                  <a:srgbClr val="3A3F55"/>
                </a:solidFill>
                <a:latin typeface="Arial" pitchFamily="34" charset="0"/>
                <a:ea typeface="Arial" pitchFamily="34" charset="-122"/>
                <a:cs typeface="Arial" pitchFamily="34" charset="-120"/>
              </a:rPr>
              <a:t> </a:t>
            </a:r>
            <a:r>
              <a:rPr lang="en-US" sz="1050" dirty="0" err="1" smtClean="0">
                <a:solidFill>
                  <a:srgbClr val="3A3F55"/>
                </a:solidFill>
                <a:latin typeface="Arial" pitchFamily="34" charset="0"/>
                <a:ea typeface="Arial" pitchFamily="34" charset="-122"/>
                <a:cs typeface="Arial" pitchFamily="34" charset="-120"/>
              </a:rPr>
              <a:t>doanh</a:t>
            </a:r>
            <a:r>
              <a:rPr lang="en-US" sz="1050" dirty="0" smtClean="0">
                <a:solidFill>
                  <a:srgbClr val="3A3F55"/>
                </a:solidFill>
                <a:latin typeface="Arial" pitchFamily="34" charset="0"/>
                <a:ea typeface="Arial" pitchFamily="34" charset="-122"/>
                <a:cs typeface="Arial" pitchFamily="34" charset="-120"/>
              </a:rPr>
              <a:t> </a:t>
            </a:r>
            <a:r>
              <a:rPr lang="en-US" sz="1050" dirty="0" err="1" smtClean="0">
                <a:solidFill>
                  <a:srgbClr val="3A3F55"/>
                </a:solidFill>
                <a:latin typeface="Arial" pitchFamily="34" charset="0"/>
                <a:ea typeface="Arial" pitchFamily="34" charset="-122"/>
                <a:cs typeface="Arial" pitchFamily="34" charset="-120"/>
              </a:rPr>
              <a:t>thu</a:t>
            </a:r>
            <a:r>
              <a:rPr lang="en-US" sz="1050" dirty="0" smtClean="0">
                <a:solidFill>
                  <a:srgbClr val="3A3F55"/>
                </a:solidFill>
                <a:latin typeface="Arial" pitchFamily="34" charset="0"/>
                <a:ea typeface="Arial" pitchFamily="34" charset="-122"/>
                <a:cs typeface="Arial" pitchFamily="34" charset="-120"/>
              </a:rPr>
              <a:t> </a:t>
            </a:r>
            <a:r>
              <a:rPr lang="en-US" sz="1050" dirty="0" err="1" smtClean="0">
                <a:solidFill>
                  <a:srgbClr val="3A3F55"/>
                </a:solidFill>
                <a:latin typeface="Arial" pitchFamily="34" charset="0"/>
                <a:ea typeface="Arial" pitchFamily="34" charset="-122"/>
                <a:cs typeface="Arial" pitchFamily="34" charset="-120"/>
              </a:rPr>
              <a:t>rất</a:t>
            </a:r>
            <a:r>
              <a:rPr lang="en-US" sz="1050" dirty="0" smtClean="0">
                <a:solidFill>
                  <a:srgbClr val="3A3F55"/>
                </a:solidFill>
                <a:latin typeface="Arial" pitchFamily="34" charset="0"/>
                <a:ea typeface="Arial" pitchFamily="34" charset="-122"/>
                <a:cs typeface="Arial" pitchFamily="34" charset="-120"/>
              </a:rPr>
              <a:t> </a:t>
            </a:r>
            <a:r>
              <a:rPr lang="en-US" sz="1050" dirty="0" err="1" smtClean="0">
                <a:solidFill>
                  <a:srgbClr val="3A3F55"/>
                </a:solidFill>
                <a:latin typeface="Arial" pitchFamily="34" charset="0"/>
                <a:ea typeface="Arial" pitchFamily="34" charset="-122"/>
                <a:cs typeface="Arial" pitchFamily="34" charset="-120"/>
              </a:rPr>
              <a:t>ít</a:t>
            </a:r>
            <a:r>
              <a:rPr lang="en-US" sz="1050" dirty="0" smtClean="0">
                <a:solidFill>
                  <a:srgbClr val="3A3F55"/>
                </a:solidFill>
                <a:latin typeface="Arial" pitchFamily="34" charset="0"/>
                <a:ea typeface="Arial" pitchFamily="34" charset="-122"/>
                <a:cs typeface="Arial" pitchFamily="34" charset="-120"/>
              </a:rPr>
              <a:t>, </a:t>
            </a:r>
            <a:r>
              <a:rPr lang="en-US" sz="1050" dirty="0" err="1" smtClean="0">
                <a:solidFill>
                  <a:srgbClr val="3A3F55"/>
                </a:solidFill>
                <a:latin typeface="Arial" pitchFamily="34" charset="0"/>
                <a:ea typeface="Arial" pitchFamily="34" charset="-122"/>
                <a:cs typeface="Arial" pitchFamily="34" charset="-120"/>
              </a:rPr>
              <a:t>điển</a:t>
            </a:r>
            <a:r>
              <a:rPr lang="en-US" sz="1050" dirty="0" smtClean="0">
                <a:solidFill>
                  <a:srgbClr val="3A3F55"/>
                </a:solidFill>
                <a:latin typeface="Arial" pitchFamily="34" charset="0"/>
                <a:ea typeface="Arial" pitchFamily="34" charset="-122"/>
                <a:cs typeface="Arial" pitchFamily="34" charset="-120"/>
              </a:rPr>
              <a:t> </a:t>
            </a:r>
            <a:r>
              <a:rPr lang="en-US" sz="1050" dirty="0" err="1" smtClean="0">
                <a:solidFill>
                  <a:srgbClr val="3A3F55"/>
                </a:solidFill>
                <a:latin typeface="Arial" pitchFamily="34" charset="0"/>
                <a:ea typeface="Arial" pitchFamily="34" charset="-122"/>
                <a:cs typeface="Arial" pitchFamily="34" charset="-120"/>
              </a:rPr>
              <a:t>hình</a:t>
            </a:r>
            <a:r>
              <a:rPr lang="en-US" sz="1050" dirty="0" smtClean="0">
                <a:solidFill>
                  <a:srgbClr val="3A3F55"/>
                </a:solidFill>
                <a:latin typeface="Arial" pitchFamily="34" charset="0"/>
                <a:ea typeface="Arial" pitchFamily="34" charset="-122"/>
                <a:cs typeface="Arial" pitchFamily="34" charset="-120"/>
              </a:rPr>
              <a:t> 1 </a:t>
            </a:r>
            <a:r>
              <a:rPr lang="en-US" sz="1050" dirty="0" err="1" smtClean="0">
                <a:solidFill>
                  <a:srgbClr val="3A3F55"/>
                </a:solidFill>
                <a:latin typeface="Arial" pitchFamily="34" charset="0"/>
                <a:ea typeface="Arial" pitchFamily="34" charset="-122"/>
                <a:cs typeface="Arial" pitchFamily="34" charset="-120"/>
              </a:rPr>
              <a:t>vài</a:t>
            </a:r>
            <a:r>
              <a:rPr lang="en-US" sz="1050" dirty="0" smtClean="0">
                <a:solidFill>
                  <a:srgbClr val="3A3F55"/>
                </a:solidFill>
                <a:latin typeface="Arial" pitchFamily="34" charset="0"/>
                <a:ea typeface="Arial" pitchFamily="34" charset="-122"/>
                <a:cs typeface="Arial" pitchFamily="34" charset="-120"/>
              </a:rPr>
              <a:t> </a:t>
            </a:r>
            <a:r>
              <a:rPr lang="en-US" sz="1050" dirty="0" err="1" smtClean="0">
                <a:solidFill>
                  <a:srgbClr val="3A3F55"/>
                </a:solidFill>
                <a:latin typeface="Arial" pitchFamily="34" charset="0"/>
                <a:ea typeface="Arial" pitchFamily="34" charset="-122"/>
                <a:cs typeface="Arial" pitchFamily="34" charset="-120"/>
              </a:rPr>
              <a:t>sản</a:t>
            </a:r>
            <a:r>
              <a:rPr lang="en-US" sz="1050" dirty="0" smtClean="0">
                <a:solidFill>
                  <a:srgbClr val="3A3F55"/>
                </a:solidFill>
                <a:latin typeface="Arial" pitchFamily="34" charset="0"/>
                <a:ea typeface="Arial" pitchFamily="34" charset="-122"/>
                <a:cs typeface="Arial" pitchFamily="34" charset="-120"/>
              </a:rPr>
              <a:t> </a:t>
            </a:r>
            <a:r>
              <a:rPr lang="en-US" sz="1050" dirty="0" err="1" smtClean="0">
                <a:solidFill>
                  <a:srgbClr val="3A3F55"/>
                </a:solidFill>
                <a:latin typeface="Arial" pitchFamily="34" charset="0"/>
                <a:ea typeface="Arial" pitchFamily="34" charset="-122"/>
                <a:cs typeface="Arial" pitchFamily="34" charset="-120"/>
              </a:rPr>
              <a:t>phẩm</a:t>
            </a:r>
            <a:r>
              <a:rPr lang="en-US" sz="1050" dirty="0" smtClean="0">
                <a:solidFill>
                  <a:srgbClr val="3A3F55"/>
                </a:solidFill>
                <a:latin typeface="Arial" pitchFamily="34" charset="0"/>
                <a:ea typeface="Arial" pitchFamily="34" charset="-122"/>
                <a:cs typeface="Arial" pitchFamily="34" charset="-120"/>
              </a:rPr>
              <a:t> bottom </a:t>
            </a:r>
            <a:r>
              <a:rPr lang="en-US" sz="1050" dirty="0" err="1" smtClean="0">
                <a:solidFill>
                  <a:srgbClr val="3A3F55"/>
                </a:solidFill>
                <a:latin typeface="Arial" pitchFamily="34" charset="0"/>
                <a:ea typeface="Arial" pitchFamily="34" charset="-122"/>
                <a:cs typeface="Arial" pitchFamily="34" charset="-120"/>
              </a:rPr>
              <a:t>như</a:t>
            </a:r>
            <a:r>
              <a:rPr lang="en-US" sz="1050" dirty="0" smtClean="0">
                <a:solidFill>
                  <a:srgbClr val="3A3F55"/>
                </a:solidFill>
                <a:latin typeface="Arial" pitchFamily="34" charset="0"/>
                <a:ea typeface="Arial" pitchFamily="34" charset="-122"/>
                <a:cs typeface="Arial" pitchFamily="34" charset="-120"/>
              </a:rPr>
              <a:t> Security Services, Fashion Children Cloths.</a:t>
            </a:r>
            <a:endParaRPr lang="en-US" sz="1050" dirty="0">
              <a:solidFill>
                <a:srgbClr val="3A3F55"/>
              </a:solidFill>
              <a:latin typeface="Arial" pitchFamily="34" charset="0"/>
              <a:ea typeface="Arial" pitchFamily="34" charset="-122"/>
              <a:cs typeface="Arial" pitchFamily="34" charset="-120"/>
            </a:endParaRPr>
          </a:p>
        </p:txBody>
      </p:sp>
      <p:sp>
        <p:nvSpPr>
          <p:cNvPr id="12" name="Shape 9"/>
          <p:cNvSpPr/>
          <p:nvPr/>
        </p:nvSpPr>
        <p:spPr>
          <a:xfrm>
            <a:off x="7680960" y="3257828"/>
            <a:ext cx="3977640" cy="1433130"/>
          </a:xfrm>
          <a:prstGeom prst="roundRect">
            <a:avLst>
              <a:gd name="adj" fmla="val 2222"/>
            </a:avLst>
          </a:prstGeom>
          <a:solidFill>
            <a:srgbClr val="FFFFFF"/>
          </a:solidFill>
          <a:ln w="12700">
            <a:solidFill>
              <a:srgbClr val="E9ECF5"/>
            </a:solidFill>
            <a:prstDash val="solid"/>
          </a:ln>
          <a:effectLst>
            <a:outerShdw blurRad="63500" dist="25400" dir="5400000" algn="bl" rotWithShape="0">
              <a:srgbClr val="1E2761">
                <a:alpha val="10000"/>
              </a:srgbClr>
            </a:outerShdw>
          </a:effectLst>
        </p:spPr>
      </p:sp>
      <p:sp>
        <p:nvSpPr>
          <p:cNvPr id="13" name="Shape 10"/>
          <p:cNvSpPr/>
          <p:nvPr/>
        </p:nvSpPr>
        <p:spPr>
          <a:xfrm>
            <a:off x="7845552" y="3422420"/>
            <a:ext cx="384048" cy="384048"/>
          </a:xfrm>
          <a:prstGeom prst="ellipse">
            <a:avLst/>
          </a:prstGeom>
          <a:solidFill>
            <a:srgbClr val="2E5EAA"/>
          </a:solidFill>
          <a:ln/>
        </p:spPr>
      </p:sp>
      <p:sp>
        <p:nvSpPr>
          <p:cNvPr id="14" name="Text 11"/>
          <p:cNvSpPr/>
          <p:nvPr/>
        </p:nvSpPr>
        <p:spPr>
          <a:xfrm>
            <a:off x="7845552" y="3422420"/>
            <a:ext cx="384048" cy="384048"/>
          </a:xfrm>
          <a:prstGeom prst="rect">
            <a:avLst/>
          </a:prstGeom>
          <a:noFill/>
          <a:ln/>
        </p:spPr>
        <p:txBody>
          <a:bodyPr wrap="square" rtlCol="0" anchor="ctr"/>
          <a:lstStyle/>
          <a:p>
            <a:pPr marL="0" indent="0" algn="ctr">
              <a:buNone/>
            </a:pPr>
            <a:r>
              <a:rPr lang="en-US" sz="1092" b="1" dirty="0">
                <a:solidFill>
                  <a:srgbClr val="FFFFFF"/>
                </a:solidFill>
                <a:latin typeface="Arial" pitchFamily="34" charset="0"/>
                <a:ea typeface="Arial" pitchFamily="34" charset="-122"/>
                <a:cs typeface="Arial" pitchFamily="34" charset="-120"/>
              </a:rPr>
              <a:t>2</a:t>
            </a:r>
            <a:endParaRPr lang="en-US" sz="1092" dirty="0"/>
          </a:p>
        </p:txBody>
      </p:sp>
      <p:sp>
        <p:nvSpPr>
          <p:cNvPr id="15" name="Text 12"/>
          <p:cNvSpPr/>
          <p:nvPr/>
        </p:nvSpPr>
        <p:spPr>
          <a:xfrm>
            <a:off x="8339328" y="3404132"/>
            <a:ext cx="3154680" cy="457200"/>
          </a:xfrm>
          <a:prstGeom prst="rect">
            <a:avLst/>
          </a:prstGeom>
          <a:noFill/>
          <a:ln/>
        </p:spPr>
        <p:txBody>
          <a:bodyPr wrap="square" rtlCol="0" anchor="ctr"/>
          <a:lstStyle/>
          <a:p>
            <a:pPr marL="0" indent="0">
              <a:buNone/>
            </a:pPr>
            <a:r>
              <a:rPr lang="en-US" sz="1350" b="1" dirty="0">
                <a:solidFill>
                  <a:srgbClr val="1E2761"/>
                </a:solidFill>
                <a:latin typeface="Arial" pitchFamily="34" charset="0"/>
                <a:ea typeface="Arial" pitchFamily="34" charset="-122"/>
                <a:cs typeface="Arial" pitchFamily="34" charset="-120"/>
              </a:rPr>
              <a:t>Rủi ro tập trung doanh thu</a:t>
            </a:r>
            <a:endParaRPr lang="en-US" sz="1350" dirty="0"/>
          </a:p>
        </p:txBody>
      </p:sp>
      <p:sp>
        <p:nvSpPr>
          <p:cNvPr id="16" name="Text 13"/>
          <p:cNvSpPr/>
          <p:nvPr/>
        </p:nvSpPr>
        <p:spPr>
          <a:xfrm>
            <a:off x="7936992" y="3895877"/>
            <a:ext cx="3465576" cy="667512"/>
          </a:xfrm>
          <a:prstGeom prst="rect">
            <a:avLst/>
          </a:prstGeom>
          <a:noFill/>
          <a:ln/>
        </p:spPr>
        <p:txBody>
          <a:bodyPr wrap="square" rtlCol="0" anchor="t"/>
          <a:lstStyle/>
          <a:p>
            <a:pPr marL="171450" indent="-171450" algn="just">
              <a:lnSpc>
                <a:spcPct val="115000"/>
              </a:lnSpc>
              <a:buFontTx/>
              <a:buChar char="-"/>
            </a:pPr>
            <a:r>
              <a:rPr lang="en-US" sz="1050" dirty="0" err="1" smtClean="0">
                <a:solidFill>
                  <a:srgbClr val="3A3F55"/>
                </a:solidFill>
                <a:latin typeface="Arial" pitchFamily="34" charset="0"/>
                <a:ea typeface="Arial" pitchFamily="34" charset="-122"/>
                <a:cs typeface="Arial" pitchFamily="34" charset="-120"/>
              </a:rPr>
              <a:t>Phụ</a:t>
            </a:r>
            <a:r>
              <a:rPr lang="en-US" sz="1050" dirty="0" smtClean="0">
                <a:solidFill>
                  <a:srgbClr val="3A3F55"/>
                </a:solidFill>
                <a:latin typeface="Arial" pitchFamily="34" charset="0"/>
                <a:ea typeface="Arial" pitchFamily="34" charset="-122"/>
                <a:cs typeface="Arial" pitchFamily="34" charset="-120"/>
              </a:rPr>
              <a:t> </a:t>
            </a:r>
            <a:r>
              <a:rPr lang="en-US" sz="1050" dirty="0">
                <a:solidFill>
                  <a:srgbClr val="3A3F55"/>
                </a:solidFill>
                <a:latin typeface="Arial" pitchFamily="34" charset="0"/>
                <a:ea typeface="Arial" pitchFamily="34" charset="-122"/>
                <a:cs typeface="Arial" pitchFamily="34" charset="-120"/>
              </a:rPr>
              <a:t>thuộc cao vào nhóm ít ngành hàng — nếu 1 category gặp vấn đề nguồn hàng, ảnh hưởng đáng kể đến tổng </a:t>
            </a:r>
            <a:r>
              <a:rPr lang="en-US" sz="1050" dirty="0" err="1">
                <a:solidFill>
                  <a:srgbClr val="3A3F55"/>
                </a:solidFill>
                <a:latin typeface="Arial" pitchFamily="34" charset="0"/>
                <a:ea typeface="Arial" pitchFamily="34" charset="-122"/>
                <a:cs typeface="Arial" pitchFamily="34" charset="-120"/>
              </a:rPr>
              <a:t>doanh</a:t>
            </a:r>
            <a:r>
              <a:rPr lang="en-US" sz="1050" dirty="0">
                <a:solidFill>
                  <a:srgbClr val="3A3F55"/>
                </a:solidFill>
                <a:latin typeface="Arial" pitchFamily="34" charset="0"/>
                <a:ea typeface="Arial" pitchFamily="34" charset="-122"/>
                <a:cs typeface="Arial" pitchFamily="34" charset="-120"/>
              </a:rPr>
              <a:t> </a:t>
            </a:r>
            <a:r>
              <a:rPr lang="en-US" sz="1050" dirty="0" err="1" smtClean="0">
                <a:solidFill>
                  <a:srgbClr val="3A3F55"/>
                </a:solidFill>
                <a:latin typeface="Arial" pitchFamily="34" charset="0"/>
                <a:ea typeface="Arial" pitchFamily="34" charset="-122"/>
                <a:cs typeface="Arial" pitchFamily="34" charset="-120"/>
              </a:rPr>
              <a:t>thu</a:t>
            </a:r>
            <a:r>
              <a:rPr lang="en-US" sz="1050" dirty="0" smtClean="0">
                <a:solidFill>
                  <a:srgbClr val="3A3F55"/>
                </a:solidFill>
                <a:latin typeface="Arial" pitchFamily="34" charset="0"/>
                <a:ea typeface="Arial" pitchFamily="34" charset="-122"/>
                <a:cs typeface="Arial" pitchFamily="34" charset="-120"/>
              </a:rPr>
              <a:t> </a:t>
            </a:r>
            <a:r>
              <a:rPr lang="en-US" sz="1050" dirty="0" err="1" smtClean="0">
                <a:solidFill>
                  <a:srgbClr val="3A3F55"/>
                </a:solidFill>
                <a:latin typeface="Arial" pitchFamily="34" charset="0"/>
                <a:ea typeface="Arial" pitchFamily="34" charset="-122"/>
                <a:cs typeface="Arial" pitchFamily="34" charset="-120"/>
              </a:rPr>
              <a:t>của</a:t>
            </a:r>
            <a:r>
              <a:rPr lang="en-US" sz="1050" dirty="0" smtClean="0">
                <a:solidFill>
                  <a:srgbClr val="3A3F55"/>
                </a:solidFill>
                <a:latin typeface="Arial" pitchFamily="34" charset="0"/>
                <a:ea typeface="Arial" pitchFamily="34" charset="-122"/>
                <a:cs typeface="Arial" pitchFamily="34" charset="-120"/>
              </a:rPr>
              <a:t> </a:t>
            </a:r>
            <a:r>
              <a:rPr lang="en-US" sz="1050" dirty="0" err="1" smtClean="0">
                <a:solidFill>
                  <a:srgbClr val="3A3F55"/>
                </a:solidFill>
                <a:latin typeface="Arial" pitchFamily="34" charset="0"/>
                <a:ea typeface="Arial" pitchFamily="34" charset="-122"/>
                <a:cs typeface="Arial" pitchFamily="34" charset="-120"/>
              </a:rPr>
              <a:t>sàn</a:t>
            </a:r>
            <a:r>
              <a:rPr lang="en-US" sz="1050" dirty="0" smtClean="0">
                <a:solidFill>
                  <a:srgbClr val="3A3F55"/>
                </a:solidFill>
                <a:latin typeface="Arial" pitchFamily="34" charset="0"/>
                <a:ea typeface="Arial" pitchFamily="34" charset="-122"/>
                <a:cs typeface="Arial" pitchFamily="34" charset="-120"/>
              </a:rPr>
              <a:t>.</a:t>
            </a:r>
          </a:p>
        </p:txBody>
      </p:sp>
      <p:sp>
        <p:nvSpPr>
          <p:cNvPr id="17" name="Text 14"/>
          <p:cNvSpPr/>
          <p:nvPr/>
        </p:nvSpPr>
        <p:spPr>
          <a:xfrm>
            <a:off x="457200" y="6473952"/>
            <a:ext cx="5486400" cy="274320"/>
          </a:xfrm>
          <a:prstGeom prst="rect">
            <a:avLst/>
          </a:prstGeom>
          <a:noFill/>
          <a:ln/>
        </p:spPr>
        <p:txBody>
          <a:bodyPr wrap="square" rtlCol="0" anchor="ctr"/>
          <a:lstStyle/>
          <a:p>
            <a:pPr marL="0" indent="0" algn="l">
              <a:buNone/>
            </a:pPr>
            <a:r>
              <a:rPr lang="en-US" sz="900" dirty="0">
                <a:solidFill>
                  <a:srgbClr val="9AA3B8"/>
                </a:solidFill>
                <a:latin typeface="Arial" pitchFamily="34" charset="0"/>
                <a:ea typeface="Arial" pitchFamily="34" charset="-122"/>
                <a:cs typeface="Arial" pitchFamily="34" charset="-120"/>
              </a:rPr>
              <a:t>OLIST ECOMMERCE ANALYTICS</a:t>
            </a:r>
            <a:endParaRPr lang="en-US" sz="900" dirty="0"/>
          </a:p>
        </p:txBody>
      </p:sp>
      <p:pic>
        <p:nvPicPr>
          <p:cNvPr id="19" name="Picture 18"/>
          <p:cNvPicPr>
            <a:picLocks noChangeAspect="1"/>
          </p:cNvPicPr>
          <p:nvPr/>
        </p:nvPicPr>
        <p:blipFill>
          <a:blip r:embed="rId3"/>
          <a:stretch>
            <a:fillRect/>
          </a:stretch>
        </p:blipFill>
        <p:spPr>
          <a:xfrm>
            <a:off x="663808" y="1062675"/>
            <a:ext cx="6689965" cy="4094666"/>
          </a:xfrm>
          <a:prstGeom prst="rect">
            <a:avLst/>
          </a:prstGeom>
        </p:spPr>
      </p:pic>
      <p:sp>
        <p:nvSpPr>
          <p:cNvPr id="20" name="Shape 14"/>
          <p:cNvSpPr/>
          <p:nvPr/>
        </p:nvSpPr>
        <p:spPr>
          <a:xfrm>
            <a:off x="7680960" y="4887940"/>
            <a:ext cx="3977640" cy="1691640"/>
          </a:xfrm>
          <a:prstGeom prst="roundRect">
            <a:avLst>
              <a:gd name="adj" fmla="val 3243"/>
            </a:avLst>
          </a:prstGeom>
          <a:solidFill>
            <a:srgbClr val="FFFFFF"/>
          </a:solidFill>
          <a:ln w="12700">
            <a:solidFill>
              <a:srgbClr val="E9ECF5"/>
            </a:solidFill>
            <a:prstDash val="solid"/>
          </a:ln>
          <a:effectLst>
            <a:outerShdw blurRad="63500" dist="25400" dir="5400000" algn="bl" rotWithShape="0">
              <a:srgbClr val="1E2761">
                <a:alpha val="10000"/>
              </a:srgbClr>
            </a:outerShdw>
          </a:effectLst>
        </p:spPr>
      </p:sp>
      <p:sp>
        <p:nvSpPr>
          <p:cNvPr id="21" name="Shape 15"/>
          <p:cNvSpPr/>
          <p:nvPr/>
        </p:nvSpPr>
        <p:spPr>
          <a:xfrm>
            <a:off x="7845552" y="5007569"/>
            <a:ext cx="384048" cy="384048"/>
          </a:xfrm>
          <a:prstGeom prst="ellipse">
            <a:avLst/>
          </a:prstGeom>
          <a:solidFill>
            <a:srgbClr val="2E5EAA"/>
          </a:solidFill>
          <a:ln/>
        </p:spPr>
      </p:sp>
      <p:sp>
        <p:nvSpPr>
          <p:cNvPr id="22" name="Text 16"/>
          <p:cNvSpPr/>
          <p:nvPr/>
        </p:nvSpPr>
        <p:spPr>
          <a:xfrm>
            <a:off x="7845552" y="5007569"/>
            <a:ext cx="384048" cy="384048"/>
          </a:xfrm>
          <a:prstGeom prst="rect">
            <a:avLst/>
          </a:prstGeom>
          <a:noFill/>
          <a:ln/>
        </p:spPr>
        <p:txBody>
          <a:bodyPr wrap="square" rtlCol="0" anchor="ctr"/>
          <a:lstStyle/>
          <a:p>
            <a:pPr marL="0" indent="0" algn="ctr">
              <a:buNone/>
            </a:pPr>
            <a:r>
              <a:rPr lang="en-US" sz="1092" b="1" dirty="0">
                <a:solidFill>
                  <a:srgbClr val="FFFFFF"/>
                </a:solidFill>
                <a:latin typeface="Arial" pitchFamily="34" charset="0"/>
                <a:ea typeface="Arial" pitchFamily="34" charset="-122"/>
                <a:cs typeface="Arial" pitchFamily="34" charset="-120"/>
              </a:rPr>
              <a:t>3</a:t>
            </a:r>
            <a:endParaRPr lang="en-US" sz="1092" dirty="0"/>
          </a:p>
        </p:txBody>
      </p:sp>
      <p:sp>
        <p:nvSpPr>
          <p:cNvPr id="23" name="Text 17"/>
          <p:cNvSpPr/>
          <p:nvPr/>
        </p:nvSpPr>
        <p:spPr>
          <a:xfrm>
            <a:off x="8339328" y="4989281"/>
            <a:ext cx="3154680" cy="457200"/>
          </a:xfrm>
          <a:prstGeom prst="rect">
            <a:avLst/>
          </a:prstGeom>
          <a:noFill/>
          <a:ln/>
        </p:spPr>
        <p:txBody>
          <a:bodyPr wrap="square" rtlCol="0" anchor="ctr"/>
          <a:lstStyle/>
          <a:p>
            <a:pPr marL="0" indent="0">
              <a:buNone/>
            </a:pPr>
            <a:r>
              <a:rPr lang="en-US" sz="1350" b="1" dirty="0" err="1" smtClean="0">
                <a:solidFill>
                  <a:srgbClr val="1E2761"/>
                </a:solidFill>
                <a:latin typeface="Arial" pitchFamily="34" charset="0"/>
                <a:ea typeface="Arial" pitchFamily="34" charset="-122"/>
                <a:cs typeface="Arial" pitchFamily="34" charset="-120"/>
              </a:rPr>
              <a:t>Frieght</a:t>
            </a:r>
            <a:r>
              <a:rPr lang="en-US" sz="1350" b="1" dirty="0" smtClean="0">
                <a:solidFill>
                  <a:srgbClr val="1E2761"/>
                </a:solidFill>
                <a:latin typeface="Arial" pitchFamily="34" charset="0"/>
                <a:ea typeface="Arial" pitchFamily="34" charset="-122"/>
                <a:cs typeface="Arial" pitchFamily="34" charset="-120"/>
              </a:rPr>
              <a:t> Cost </a:t>
            </a:r>
            <a:r>
              <a:rPr lang="en-US" sz="1350" b="1" dirty="0" err="1" smtClean="0">
                <a:solidFill>
                  <a:srgbClr val="1E2761"/>
                </a:solidFill>
                <a:latin typeface="Arial" pitchFamily="34" charset="0"/>
                <a:ea typeface="Arial" pitchFamily="34" charset="-122"/>
                <a:cs typeface="Arial" pitchFamily="34" charset="-120"/>
              </a:rPr>
              <a:t>cao</a:t>
            </a:r>
            <a:r>
              <a:rPr lang="en-US" sz="1350" b="1" dirty="0" smtClean="0">
                <a:solidFill>
                  <a:srgbClr val="1E2761"/>
                </a:solidFill>
                <a:latin typeface="Arial" pitchFamily="34" charset="0"/>
                <a:ea typeface="Arial" pitchFamily="34" charset="-122"/>
                <a:cs typeface="Arial" pitchFamily="34" charset="-120"/>
              </a:rPr>
              <a:t>!</a:t>
            </a:r>
            <a:endParaRPr lang="en-US" sz="1350" dirty="0"/>
          </a:p>
        </p:txBody>
      </p:sp>
      <p:sp>
        <p:nvSpPr>
          <p:cNvPr id="24" name="Text 18"/>
          <p:cNvSpPr/>
          <p:nvPr/>
        </p:nvSpPr>
        <p:spPr>
          <a:xfrm>
            <a:off x="7936992" y="5537042"/>
            <a:ext cx="3465576" cy="846348"/>
          </a:xfrm>
          <a:prstGeom prst="rect">
            <a:avLst/>
          </a:prstGeom>
          <a:noFill/>
          <a:ln/>
        </p:spPr>
        <p:txBody>
          <a:bodyPr wrap="square" rtlCol="0" anchor="t"/>
          <a:lstStyle/>
          <a:p>
            <a:pPr marL="171450" indent="-171450" algn="just">
              <a:lnSpc>
                <a:spcPct val="115000"/>
              </a:lnSpc>
              <a:buFontTx/>
              <a:buChar char="-"/>
            </a:pPr>
            <a:r>
              <a:rPr lang="vi-VN" sz="1050" dirty="0" smtClean="0">
                <a:solidFill>
                  <a:srgbClr val="3A3F55"/>
                </a:solidFill>
                <a:latin typeface="Arial" pitchFamily="34" charset="0"/>
                <a:ea typeface="Arial" pitchFamily="34" charset="-122"/>
                <a:cs typeface="Arial" pitchFamily="34" charset="-120"/>
              </a:rPr>
              <a:t>Phí </a:t>
            </a:r>
            <a:r>
              <a:rPr lang="vi-VN" sz="1050" dirty="0">
                <a:solidFill>
                  <a:srgbClr val="3A3F55"/>
                </a:solidFill>
                <a:latin typeface="Arial" pitchFamily="34" charset="0"/>
                <a:ea typeface="Arial" pitchFamily="34" charset="-122"/>
                <a:cs typeface="Arial" pitchFamily="34" charset="-120"/>
              </a:rPr>
              <a:t>Freight hiện đang khá cao, chiếm tỷ trọng </a:t>
            </a:r>
            <a:r>
              <a:rPr lang="en-US" sz="1050" dirty="0" err="1">
                <a:solidFill>
                  <a:srgbClr val="3A3F55"/>
                </a:solidFill>
                <a:latin typeface="Arial" pitchFamily="34" charset="0"/>
                <a:ea typeface="Arial" pitchFamily="34" charset="-122"/>
                <a:cs typeface="Arial" pitchFamily="34" charset="-120"/>
              </a:rPr>
              <a:t>trung</a:t>
            </a:r>
            <a:r>
              <a:rPr lang="en-US" sz="1050" dirty="0">
                <a:solidFill>
                  <a:srgbClr val="3A3F55"/>
                </a:solidFill>
                <a:latin typeface="Arial" pitchFamily="34" charset="0"/>
                <a:ea typeface="Arial" pitchFamily="34" charset="-122"/>
                <a:cs typeface="Arial" pitchFamily="34" charset="-120"/>
              </a:rPr>
              <a:t> </a:t>
            </a:r>
            <a:r>
              <a:rPr lang="en-US" sz="1050" dirty="0" err="1">
                <a:solidFill>
                  <a:srgbClr val="3A3F55"/>
                </a:solidFill>
                <a:latin typeface="Arial" pitchFamily="34" charset="0"/>
                <a:ea typeface="Arial" pitchFamily="34" charset="-122"/>
                <a:cs typeface="Arial" pitchFamily="34" charset="-120"/>
              </a:rPr>
              <a:t>bình</a:t>
            </a:r>
            <a:r>
              <a:rPr lang="en-US" sz="1050" dirty="0">
                <a:solidFill>
                  <a:srgbClr val="3A3F55"/>
                </a:solidFill>
                <a:latin typeface="Arial" pitchFamily="34" charset="0"/>
                <a:ea typeface="Arial" pitchFamily="34" charset="-122"/>
                <a:cs typeface="Arial" pitchFamily="34" charset="-120"/>
              </a:rPr>
              <a:t> </a:t>
            </a:r>
            <a:r>
              <a:rPr lang="en-US" sz="1050" dirty="0" err="1">
                <a:solidFill>
                  <a:srgbClr val="3A3F55"/>
                </a:solidFill>
                <a:latin typeface="Arial" pitchFamily="34" charset="0"/>
                <a:ea typeface="Arial" pitchFamily="34" charset="-122"/>
                <a:cs typeface="Arial" pitchFamily="34" charset="-120"/>
              </a:rPr>
              <a:t>hơn</a:t>
            </a:r>
            <a:r>
              <a:rPr lang="en-US" sz="1050" dirty="0">
                <a:solidFill>
                  <a:srgbClr val="3A3F55"/>
                </a:solidFill>
                <a:latin typeface="Arial" pitchFamily="34" charset="0"/>
                <a:ea typeface="Arial" pitchFamily="34" charset="-122"/>
                <a:cs typeface="Arial" pitchFamily="34" charset="-120"/>
              </a:rPr>
              <a:t> 15% </a:t>
            </a:r>
            <a:r>
              <a:rPr lang="en-US" sz="1050" dirty="0" err="1">
                <a:solidFill>
                  <a:srgbClr val="3A3F55"/>
                </a:solidFill>
                <a:latin typeface="Arial" pitchFamily="34" charset="0"/>
                <a:ea typeface="Arial" pitchFamily="34" charset="-122"/>
                <a:cs typeface="Arial" pitchFamily="34" charset="-120"/>
              </a:rPr>
              <a:t>giá</a:t>
            </a:r>
            <a:r>
              <a:rPr lang="en-US" sz="1050" dirty="0">
                <a:solidFill>
                  <a:srgbClr val="3A3F55"/>
                </a:solidFill>
                <a:latin typeface="Arial" pitchFamily="34" charset="0"/>
                <a:ea typeface="Arial" pitchFamily="34" charset="-122"/>
                <a:cs typeface="Arial" pitchFamily="34" charset="-120"/>
              </a:rPr>
              <a:t> </a:t>
            </a:r>
            <a:r>
              <a:rPr lang="en-US" sz="1050" dirty="0" err="1">
                <a:solidFill>
                  <a:srgbClr val="3A3F55"/>
                </a:solidFill>
                <a:latin typeface="Arial" pitchFamily="34" charset="0"/>
                <a:ea typeface="Arial" pitchFamily="34" charset="-122"/>
                <a:cs typeface="Arial" pitchFamily="34" charset="-120"/>
              </a:rPr>
              <a:t>trị</a:t>
            </a:r>
            <a:r>
              <a:rPr lang="en-US" sz="1050" dirty="0">
                <a:solidFill>
                  <a:srgbClr val="3A3F55"/>
                </a:solidFill>
                <a:latin typeface="Arial" pitchFamily="34" charset="0"/>
                <a:ea typeface="Arial" pitchFamily="34" charset="-122"/>
                <a:cs typeface="Arial" pitchFamily="34" charset="-120"/>
              </a:rPr>
              <a:t> </a:t>
            </a:r>
            <a:r>
              <a:rPr lang="en-US" sz="1050" dirty="0" err="1">
                <a:solidFill>
                  <a:srgbClr val="3A3F55"/>
                </a:solidFill>
                <a:latin typeface="Arial" pitchFamily="34" charset="0"/>
                <a:ea typeface="Arial" pitchFamily="34" charset="-122"/>
                <a:cs typeface="Arial" pitchFamily="34" charset="-120"/>
              </a:rPr>
              <a:t>đơn</a:t>
            </a:r>
            <a:r>
              <a:rPr lang="en-US" sz="1050" dirty="0">
                <a:solidFill>
                  <a:srgbClr val="3A3F55"/>
                </a:solidFill>
                <a:latin typeface="Arial" pitchFamily="34" charset="0"/>
                <a:ea typeface="Arial" pitchFamily="34" charset="-122"/>
                <a:cs typeface="Arial" pitchFamily="34" charset="-120"/>
              </a:rPr>
              <a:t> </a:t>
            </a:r>
            <a:r>
              <a:rPr lang="vi-VN" sz="1050" dirty="0">
                <a:solidFill>
                  <a:srgbClr val="3A3F55"/>
                </a:solidFill>
                <a:latin typeface="Arial" pitchFamily="34" charset="0"/>
                <a:ea typeface="Arial" pitchFamily="34" charset="-122"/>
                <a:cs typeface="Arial" pitchFamily="34" charset="-120"/>
              </a:rPr>
              <a:t>hàng. Việc tối ưu hoá logistics sẽ làm giảm đáng kể chi phí vận chuyển </a:t>
            </a:r>
            <a:r>
              <a:rPr lang="en-US" sz="1050" dirty="0" err="1">
                <a:solidFill>
                  <a:srgbClr val="3A3F55"/>
                </a:solidFill>
                <a:latin typeface="Arial" pitchFamily="34" charset="0"/>
                <a:ea typeface="Arial" pitchFamily="34" charset="-122"/>
                <a:cs typeface="Arial" pitchFamily="34" charset="-120"/>
              </a:rPr>
              <a:t>và</a:t>
            </a:r>
            <a:r>
              <a:rPr lang="en-US" sz="1050" dirty="0">
                <a:solidFill>
                  <a:srgbClr val="3A3F55"/>
                </a:solidFill>
                <a:latin typeface="Arial" pitchFamily="34" charset="0"/>
                <a:ea typeface="Arial" pitchFamily="34" charset="-122"/>
                <a:cs typeface="Arial" pitchFamily="34" charset="-120"/>
              </a:rPr>
              <a:t> </a:t>
            </a:r>
            <a:r>
              <a:rPr lang="en-US" sz="1050" dirty="0" err="1">
                <a:solidFill>
                  <a:srgbClr val="3A3F55"/>
                </a:solidFill>
                <a:latin typeface="Arial" pitchFamily="34" charset="0"/>
                <a:ea typeface="Arial" pitchFamily="34" charset="-122"/>
                <a:cs typeface="Arial" pitchFamily="34" charset="-120"/>
              </a:rPr>
              <a:t>cải</a:t>
            </a:r>
            <a:r>
              <a:rPr lang="en-US" sz="1050" dirty="0">
                <a:solidFill>
                  <a:srgbClr val="3A3F55"/>
                </a:solidFill>
                <a:latin typeface="Arial" pitchFamily="34" charset="0"/>
                <a:ea typeface="Arial" pitchFamily="34" charset="-122"/>
                <a:cs typeface="Arial" pitchFamily="34" charset="-120"/>
              </a:rPr>
              <a:t> </a:t>
            </a:r>
            <a:r>
              <a:rPr lang="en-US" sz="1050" dirty="0" err="1">
                <a:solidFill>
                  <a:srgbClr val="3A3F55"/>
                </a:solidFill>
                <a:latin typeface="Arial" pitchFamily="34" charset="0"/>
                <a:ea typeface="Arial" pitchFamily="34" charset="-122"/>
                <a:cs typeface="Arial" pitchFamily="34" charset="-120"/>
              </a:rPr>
              <a:t>thiện</a:t>
            </a:r>
            <a:r>
              <a:rPr lang="vi-VN" sz="1050" dirty="0">
                <a:solidFill>
                  <a:srgbClr val="3A3F55"/>
                </a:solidFill>
                <a:latin typeface="Arial" pitchFamily="34" charset="0"/>
                <a:ea typeface="Arial" pitchFamily="34" charset="-122"/>
                <a:cs typeface="Arial" pitchFamily="34" charset="-120"/>
              </a:rPr>
              <a:t> hiệu suất giao hàng</a:t>
            </a:r>
            <a:r>
              <a:rPr lang="vi-VN" sz="1050" dirty="0" smtClean="0">
                <a:solidFill>
                  <a:srgbClr val="3A3F55"/>
                </a:solidFill>
                <a:latin typeface="Arial" pitchFamily="34" charset="0"/>
                <a:ea typeface="Arial" pitchFamily="34" charset="-122"/>
                <a:cs typeface="Arial" pitchFamily="34" charset="-120"/>
              </a:rPr>
              <a:t>.</a:t>
            </a:r>
            <a:endParaRPr lang="en-US" sz="1050" dirty="0">
              <a:solidFill>
                <a:srgbClr val="3A3F55"/>
              </a:solidFill>
              <a:latin typeface="Arial" pitchFamily="34" charset="0"/>
              <a:ea typeface="Arial" pitchFamily="34" charset="-122"/>
              <a:cs typeface="Arial" pitchFamily="34" charset="-120"/>
            </a:endParaRPr>
          </a:p>
          <a:p>
            <a:pPr algn="just">
              <a:lnSpc>
                <a:spcPct val="115000"/>
              </a:lnSpc>
            </a:pPr>
            <a:endParaRPr lang="en-US" sz="1050" dirty="0">
              <a:solidFill>
                <a:srgbClr val="3A3F55"/>
              </a:solidFill>
              <a:latin typeface="Arial" pitchFamily="34" charset="0"/>
              <a:ea typeface="Arial" pitchFamily="34" charset="-122"/>
              <a:cs typeface="Arial" pitchFamily="34" charset="-120"/>
            </a:endParaRPr>
          </a:p>
        </p:txBody>
      </p:sp>
      <p:sp>
        <p:nvSpPr>
          <p:cNvPr id="25" name="Text 20"/>
          <p:cNvSpPr/>
          <p:nvPr/>
        </p:nvSpPr>
        <p:spPr>
          <a:xfrm>
            <a:off x="8384193" y="6473952"/>
            <a:ext cx="3657600" cy="274320"/>
          </a:xfrm>
          <a:prstGeom prst="rect">
            <a:avLst/>
          </a:prstGeom>
          <a:noFill/>
          <a:ln/>
        </p:spPr>
        <p:txBody>
          <a:bodyPr wrap="square" rtlCol="0" anchor="ctr"/>
          <a:lstStyle/>
          <a:p>
            <a:pPr marL="0" indent="0" algn="r">
              <a:buNone/>
            </a:pPr>
            <a:r>
              <a:rPr lang="en-US" sz="900" dirty="0" smtClean="0">
                <a:solidFill>
                  <a:srgbClr val="9AA3B8"/>
                </a:solidFill>
                <a:latin typeface="Arial" pitchFamily="34" charset="0"/>
                <a:ea typeface="Arial" pitchFamily="34" charset="-122"/>
                <a:cs typeface="Arial" pitchFamily="34" charset="-120"/>
              </a:rPr>
              <a:t>08</a:t>
            </a:r>
            <a:endParaRPr lang="en-US" sz="900" dirty="0"/>
          </a:p>
        </p:txBody>
      </p:sp>
    </p:spTree>
  </p:cSld>
  <p:clrMapOvr>
    <a:masterClrMapping/>
  </p:clrMapOvr>
  <p:transition spd="slow">
    <p:wip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C"/>
        </a:solidFill>
        <a:effectLst/>
      </p:bgPr>
    </p:bg>
    <p:spTree>
      <p:nvGrpSpPr>
        <p:cNvPr id="1" name=""/>
        <p:cNvGrpSpPr/>
        <p:nvPr/>
      </p:nvGrpSpPr>
      <p:grpSpPr>
        <a:xfrm>
          <a:off x="0" y="0"/>
          <a:ext cx="0" cy="0"/>
          <a:chOff x="0" y="0"/>
          <a:chExt cx="0" cy="0"/>
        </a:xfrm>
      </p:grpSpPr>
      <p:sp>
        <p:nvSpPr>
          <p:cNvPr id="2" name="Shape 0"/>
          <p:cNvSpPr/>
          <p:nvPr/>
        </p:nvSpPr>
        <p:spPr>
          <a:xfrm>
            <a:off x="548640" y="320040"/>
            <a:ext cx="1371600" cy="384048"/>
          </a:xfrm>
          <a:prstGeom prst="roundRect">
            <a:avLst>
              <a:gd name="adj" fmla="val 50000"/>
            </a:avLst>
          </a:prstGeom>
          <a:solidFill>
            <a:srgbClr val="2E5EAA"/>
          </a:solidFill>
          <a:ln/>
        </p:spPr>
      </p:sp>
      <p:sp>
        <p:nvSpPr>
          <p:cNvPr id="3" name="Text 1"/>
          <p:cNvSpPr/>
          <p:nvPr/>
        </p:nvSpPr>
        <p:spPr>
          <a:xfrm>
            <a:off x="548640" y="320040"/>
            <a:ext cx="1371600" cy="384048"/>
          </a:xfrm>
          <a:prstGeom prst="rect">
            <a:avLst/>
          </a:prstGeom>
          <a:noFill/>
          <a:ln/>
        </p:spPr>
        <p:txBody>
          <a:bodyPr wrap="square"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PAGE 3</a:t>
            </a:r>
            <a:endParaRPr lang="en-US" sz="1100" dirty="0"/>
          </a:p>
        </p:txBody>
      </p:sp>
      <p:sp>
        <p:nvSpPr>
          <p:cNvPr id="4" name="Text 2"/>
          <p:cNvSpPr/>
          <p:nvPr/>
        </p:nvSpPr>
        <p:spPr>
          <a:xfrm>
            <a:off x="2057400" y="292608"/>
            <a:ext cx="8686800" cy="457200"/>
          </a:xfrm>
          <a:prstGeom prst="rect">
            <a:avLst/>
          </a:prstGeom>
          <a:noFill/>
          <a:ln/>
        </p:spPr>
        <p:txBody>
          <a:bodyPr wrap="square" rtlCol="0" anchor="ctr"/>
          <a:lstStyle/>
          <a:p>
            <a:pPr marL="0" indent="0">
              <a:buNone/>
            </a:pPr>
            <a:r>
              <a:rPr lang="en-US" sz="2200" b="1" dirty="0">
                <a:solidFill>
                  <a:srgbClr val="1E2761"/>
                </a:solidFill>
                <a:latin typeface="Cambria" pitchFamily="34" charset="0"/>
                <a:ea typeface="Cambria" pitchFamily="34" charset="-122"/>
                <a:cs typeface="Cambria" pitchFamily="34" charset="-120"/>
              </a:rPr>
              <a:t>Customer &amp; Geolocation — Chân dung khách hàng</a:t>
            </a:r>
            <a:endParaRPr lang="en-US" sz="2200" dirty="0"/>
          </a:p>
        </p:txBody>
      </p:sp>
      <p:sp>
        <p:nvSpPr>
          <p:cNvPr id="7" name="Shape 4"/>
          <p:cNvSpPr/>
          <p:nvPr/>
        </p:nvSpPr>
        <p:spPr>
          <a:xfrm>
            <a:off x="7680960" y="960120"/>
            <a:ext cx="3977640" cy="1691640"/>
          </a:xfrm>
          <a:prstGeom prst="roundRect">
            <a:avLst>
              <a:gd name="adj" fmla="val 3243"/>
            </a:avLst>
          </a:prstGeom>
          <a:solidFill>
            <a:srgbClr val="FFFFFF"/>
          </a:solidFill>
          <a:ln w="12700">
            <a:solidFill>
              <a:srgbClr val="E9ECF5"/>
            </a:solidFill>
            <a:prstDash val="solid"/>
          </a:ln>
          <a:effectLst>
            <a:outerShdw blurRad="63500" dist="25400" dir="5400000" algn="bl" rotWithShape="0">
              <a:srgbClr val="1E2761">
                <a:alpha val="10000"/>
              </a:srgbClr>
            </a:outerShdw>
          </a:effectLst>
        </p:spPr>
      </p:sp>
      <p:sp>
        <p:nvSpPr>
          <p:cNvPr id="8" name="Shape 5"/>
          <p:cNvSpPr/>
          <p:nvPr/>
        </p:nvSpPr>
        <p:spPr>
          <a:xfrm>
            <a:off x="7845552" y="1124712"/>
            <a:ext cx="384048" cy="384048"/>
          </a:xfrm>
          <a:prstGeom prst="ellipse">
            <a:avLst/>
          </a:prstGeom>
          <a:solidFill>
            <a:srgbClr val="E8590C"/>
          </a:solidFill>
          <a:ln/>
        </p:spPr>
      </p:sp>
      <p:sp>
        <p:nvSpPr>
          <p:cNvPr id="9" name="Text 6"/>
          <p:cNvSpPr/>
          <p:nvPr/>
        </p:nvSpPr>
        <p:spPr>
          <a:xfrm>
            <a:off x="7845552" y="1124712"/>
            <a:ext cx="384048" cy="384048"/>
          </a:xfrm>
          <a:prstGeom prst="rect">
            <a:avLst/>
          </a:prstGeom>
          <a:noFill/>
          <a:ln/>
        </p:spPr>
        <p:txBody>
          <a:bodyPr wrap="square" rtlCol="0" anchor="ctr"/>
          <a:lstStyle/>
          <a:p>
            <a:pPr marL="0" indent="0" algn="ctr">
              <a:buNone/>
            </a:pPr>
            <a:r>
              <a:rPr lang="en-US" sz="1092" b="1" dirty="0">
                <a:solidFill>
                  <a:srgbClr val="FFFFFF"/>
                </a:solidFill>
                <a:latin typeface="Arial" pitchFamily="34" charset="0"/>
                <a:ea typeface="Arial" pitchFamily="34" charset="-122"/>
                <a:cs typeface="Arial" pitchFamily="34" charset="-120"/>
              </a:rPr>
              <a:t>1</a:t>
            </a:r>
            <a:endParaRPr lang="en-US" sz="1092" dirty="0"/>
          </a:p>
        </p:txBody>
      </p:sp>
      <p:sp>
        <p:nvSpPr>
          <p:cNvPr id="10" name="Text 7"/>
          <p:cNvSpPr/>
          <p:nvPr/>
        </p:nvSpPr>
        <p:spPr>
          <a:xfrm>
            <a:off x="8339328" y="1106424"/>
            <a:ext cx="3154680" cy="457200"/>
          </a:xfrm>
          <a:prstGeom prst="rect">
            <a:avLst/>
          </a:prstGeom>
          <a:noFill/>
          <a:ln/>
        </p:spPr>
        <p:txBody>
          <a:bodyPr wrap="square" rtlCol="0" anchor="ctr"/>
          <a:lstStyle/>
          <a:p>
            <a:pPr marL="0" indent="0">
              <a:buNone/>
            </a:pPr>
            <a:r>
              <a:rPr lang="en-US" sz="1350" b="1" dirty="0">
                <a:solidFill>
                  <a:srgbClr val="1E2761"/>
                </a:solidFill>
                <a:latin typeface="Arial" pitchFamily="34" charset="0"/>
                <a:ea typeface="Arial" pitchFamily="34" charset="-122"/>
                <a:cs typeface="Arial" pitchFamily="34" charset="-120"/>
              </a:rPr>
              <a:t>Khách hàng tập trung tại Đông Nam Brazil</a:t>
            </a:r>
            <a:endParaRPr lang="en-US" sz="1350" dirty="0"/>
          </a:p>
        </p:txBody>
      </p:sp>
      <p:sp>
        <p:nvSpPr>
          <p:cNvPr id="11" name="Text 8"/>
          <p:cNvSpPr/>
          <p:nvPr/>
        </p:nvSpPr>
        <p:spPr>
          <a:xfrm>
            <a:off x="7936992" y="1673352"/>
            <a:ext cx="3465576" cy="777240"/>
          </a:xfrm>
          <a:prstGeom prst="rect">
            <a:avLst/>
          </a:prstGeom>
          <a:noFill/>
          <a:ln/>
        </p:spPr>
        <p:txBody>
          <a:bodyPr wrap="square" rtlCol="0" anchor="t"/>
          <a:lstStyle/>
          <a:p>
            <a:pPr marL="0" indent="0" algn="just">
              <a:lnSpc>
                <a:spcPct val="115000"/>
              </a:lnSpc>
              <a:buNone/>
            </a:pPr>
            <a:r>
              <a:rPr lang="en-US" sz="1050" dirty="0">
                <a:solidFill>
                  <a:srgbClr val="3A3F55"/>
                </a:solidFill>
                <a:latin typeface="Arial" pitchFamily="34" charset="0"/>
                <a:ea typeface="Arial" pitchFamily="34" charset="-122"/>
                <a:cs typeface="Arial" pitchFamily="34" charset="-120"/>
              </a:rPr>
              <a:t>São Paulo, Rio de Janeiro, Minas Gerais chiếm phần lớn số lượng khách hàng toàn sàn.</a:t>
            </a:r>
            <a:endParaRPr lang="en-US" sz="1050" dirty="0"/>
          </a:p>
        </p:txBody>
      </p:sp>
      <p:sp>
        <p:nvSpPr>
          <p:cNvPr id="12" name="Shape 9"/>
          <p:cNvSpPr/>
          <p:nvPr/>
        </p:nvSpPr>
        <p:spPr>
          <a:xfrm>
            <a:off x="7680960" y="2788920"/>
            <a:ext cx="3977640" cy="1691640"/>
          </a:xfrm>
          <a:prstGeom prst="roundRect">
            <a:avLst>
              <a:gd name="adj" fmla="val 3243"/>
            </a:avLst>
          </a:prstGeom>
          <a:solidFill>
            <a:srgbClr val="FFFFFF"/>
          </a:solidFill>
          <a:ln w="12700">
            <a:solidFill>
              <a:srgbClr val="E9ECF5"/>
            </a:solidFill>
            <a:prstDash val="solid"/>
          </a:ln>
          <a:effectLst>
            <a:outerShdw blurRad="63500" dist="25400" dir="5400000" algn="bl" rotWithShape="0">
              <a:srgbClr val="1E2761">
                <a:alpha val="10000"/>
              </a:srgbClr>
            </a:outerShdw>
          </a:effectLst>
        </p:spPr>
      </p:sp>
      <p:sp>
        <p:nvSpPr>
          <p:cNvPr id="13" name="Shape 10"/>
          <p:cNvSpPr/>
          <p:nvPr/>
        </p:nvSpPr>
        <p:spPr>
          <a:xfrm>
            <a:off x="7845552" y="2953512"/>
            <a:ext cx="384048" cy="384048"/>
          </a:xfrm>
          <a:prstGeom prst="ellipse">
            <a:avLst/>
          </a:prstGeom>
          <a:solidFill>
            <a:srgbClr val="2E5EAA"/>
          </a:solidFill>
          <a:ln/>
        </p:spPr>
      </p:sp>
      <p:sp>
        <p:nvSpPr>
          <p:cNvPr id="14" name="Text 11"/>
          <p:cNvSpPr/>
          <p:nvPr/>
        </p:nvSpPr>
        <p:spPr>
          <a:xfrm>
            <a:off x="7845552" y="2953512"/>
            <a:ext cx="384048" cy="384048"/>
          </a:xfrm>
          <a:prstGeom prst="rect">
            <a:avLst/>
          </a:prstGeom>
          <a:noFill/>
          <a:ln/>
        </p:spPr>
        <p:txBody>
          <a:bodyPr wrap="square" rtlCol="0" anchor="ctr"/>
          <a:lstStyle/>
          <a:p>
            <a:pPr marL="0" indent="0" algn="ctr">
              <a:buNone/>
            </a:pPr>
            <a:r>
              <a:rPr lang="en-US" sz="1092" b="1" dirty="0">
                <a:solidFill>
                  <a:srgbClr val="FFFFFF"/>
                </a:solidFill>
                <a:latin typeface="Arial" pitchFamily="34" charset="0"/>
                <a:ea typeface="Arial" pitchFamily="34" charset="-122"/>
                <a:cs typeface="Arial" pitchFamily="34" charset="-120"/>
              </a:rPr>
              <a:t>2</a:t>
            </a:r>
            <a:endParaRPr lang="en-US" sz="1092" dirty="0"/>
          </a:p>
        </p:txBody>
      </p:sp>
      <p:sp>
        <p:nvSpPr>
          <p:cNvPr id="15" name="Text 12"/>
          <p:cNvSpPr/>
          <p:nvPr/>
        </p:nvSpPr>
        <p:spPr>
          <a:xfrm>
            <a:off x="8339328" y="2935224"/>
            <a:ext cx="3154680" cy="457200"/>
          </a:xfrm>
          <a:prstGeom prst="rect">
            <a:avLst/>
          </a:prstGeom>
          <a:noFill/>
          <a:ln/>
        </p:spPr>
        <p:txBody>
          <a:bodyPr wrap="square" rtlCol="0" anchor="ctr"/>
          <a:lstStyle/>
          <a:p>
            <a:pPr marL="0" indent="0">
              <a:buNone/>
            </a:pPr>
            <a:r>
              <a:rPr lang="en-US" sz="1350" b="1" dirty="0">
                <a:solidFill>
                  <a:srgbClr val="1E2761"/>
                </a:solidFill>
                <a:latin typeface="Arial" pitchFamily="34" charset="0"/>
                <a:ea typeface="Arial" pitchFamily="34" charset="-122"/>
                <a:cs typeface="Arial" pitchFamily="34" charset="-120"/>
              </a:rPr>
              <a:t>Repeat Purchase Rate rất thấp (3.12%)</a:t>
            </a:r>
            <a:endParaRPr lang="en-US" sz="1350" dirty="0"/>
          </a:p>
        </p:txBody>
      </p:sp>
      <p:sp>
        <p:nvSpPr>
          <p:cNvPr id="16" name="Text 13"/>
          <p:cNvSpPr/>
          <p:nvPr/>
        </p:nvSpPr>
        <p:spPr>
          <a:xfrm>
            <a:off x="7936992" y="3502152"/>
            <a:ext cx="3465576" cy="777240"/>
          </a:xfrm>
          <a:prstGeom prst="rect">
            <a:avLst/>
          </a:prstGeom>
          <a:noFill/>
          <a:ln/>
        </p:spPr>
        <p:txBody>
          <a:bodyPr wrap="square" rtlCol="0" anchor="t"/>
          <a:lstStyle/>
          <a:p>
            <a:pPr marL="0" indent="0" algn="just">
              <a:lnSpc>
                <a:spcPct val="115000"/>
              </a:lnSpc>
              <a:buNone/>
            </a:pPr>
            <a:r>
              <a:rPr lang="en-US" sz="1050" dirty="0">
                <a:solidFill>
                  <a:srgbClr val="3A3F55"/>
                </a:solidFill>
                <a:latin typeface="Arial" pitchFamily="34" charset="0"/>
                <a:ea typeface="Arial" pitchFamily="34" charset="-122"/>
                <a:cs typeface="Arial" pitchFamily="34" charset="-120"/>
              </a:rPr>
              <a:t>Phần lớn khách chỉ mua 1 lần — phân khúc RFM cho thấy Frequency gần </a:t>
            </a:r>
            <a:r>
              <a:rPr lang="en-US" sz="1050" dirty="0" err="1">
                <a:solidFill>
                  <a:srgbClr val="3A3F55"/>
                </a:solidFill>
                <a:latin typeface="Arial" pitchFamily="34" charset="0"/>
                <a:ea typeface="Arial" pitchFamily="34" charset="-122"/>
                <a:cs typeface="Arial" pitchFamily="34" charset="-120"/>
              </a:rPr>
              <a:t>như</a:t>
            </a:r>
            <a:r>
              <a:rPr lang="en-US" sz="1050" dirty="0">
                <a:solidFill>
                  <a:srgbClr val="3A3F55"/>
                </a:solidFill>
                <a:latin typeface="Arial" pitchFamily="34" charset="0"/>
                <a:ea typeface="Arial" pitchFamily="34" charset="-122"/>
                <a:cs typeface="Arial" pitchFamily="34" charset="-120"/>
              </a:rPr>
              <a:t> </a:t>
            </a:r>
            <a:r>
              <a:rPr lang="en-US" sz="1050" dirty="0" err="1" smtClean="0">
                <a:solidFill>
                  <a:srgbClr val="3A3F55"/>
                </a:solidFill>
                <a:latin typeface="Arial" pitchFamily="34" charset="0"/>
                <a:ea typeface="Arial" pitchFamily="34" charset="-122"/>
                <a:cs typeface="Arial" pitchFamily="34" charset="-120"/>
              </a:rPr>
              <a:t>bằng</a:t>
            </a:r>
            <a:r>
              <a:rPr lang="en-US" sz="1050" dirty="0" smtClean="0">
                <a:solidFill>
                  <a:srgbClr val="3A3F55"/>
                </a:solidFill>
                <a:latin typeface="Arial" pitchFamily="34" charset="0"/>
                <a:ea typeface="Arial" pitchFamily="34" charset="-122"/>
                <a:cs typeface="Arial" pitchFamily="34" charset="-120"/>
              </a:rPr>
              <a:t> 1 </a:t>
            </a:r>
            <a:r>
              <a:rPr lang="en-US" sz="1050" dirty="0" err="1" smtClean="0">
                <a:solidFill>
                  <a:srgbClr val="3A3F55"/>
                </a:solidFill>
                <a:latin typeface="Arial" pitchFamily="34" charset="0"/>
                <a:ea typeface="Arial" pitchFamily="34" charset="-122"/>
                <a:cs typeface="Arial" pitchFamily="34" charset="-120"/>
              </a:rPr>
              <a:t>giữa</a:t>
            </a:r>
            <a:r>
              <a:rPr lang="en-US" sz="1050" dirty="0" smtClean="0">
                <a:solidFill>
                  <a:srgbClr val="3A3F55"/>
                </a:solidFill>
                <a:latin typeface="Arial" pitchFamily="34" charset="0"/>
                <a:ea typeface="Arial" pitchFamily="34" charset="-122"/>
                <a:cs typeface="Arial" pitchFamily="34" charset="-120"/>
              </a:rPr>
              <a:t> </a:t>
            </a:r>
            <a:r>
              <a:rPr lang="en-US" sz="1050" dirty="0">
                <a:solidFill>
                  <a:srgbClr val="3A3F55"/>
                </a:solidFill>
                <a:latin typeface="Arial" pitchFamily="34" charset="0"/>
                <a:ea typeface="Arial" pitchFamily="34" charset="-122"/>
                <a:cs typeface="Arial" pitchFamily="34" charset="-120"/>
              </a:rPr>
              <a:t>các nhóm.</a:t>
            </a:r>
            <a:endParaRPr lang="en-US" sz="1050" dirty="0"/>
          </a:p>
        </p:txBody>
      </p:sp>
      <p:sp>
        <p:nvSpPr>
          <p:cNvPr id="17" name="Shape 14"/>
          <p:cNvSpPr/>
          <p:nvPr/>
        </p:nvSpPr>
        <p:spPr>
          <a:xfrm>
            <a:off x="7680960" y="4617720"/>
            <a:ext cx="3977640" cy="1691640"/>
          </a:xfrm>
          <a:prstGeom prst="roundRect">
            <a:avLst>
              <a:gd name="adj" fmla="val 3243"/>
            </a:avLst>
          </a:prstGeom>
          <a:solidFill>
            <a:srgbClr val="FFFFFF"/>
          </a:solidFill>
          <a:ln w="12700">
            <a:solidFill>
              <a:srgbClr val="E9ECF5"/>
            </a:solidFill>
            <a:prstDash val="solid"/>
          </a:ln>
          <a:effectLst>
            <a:outerShdw blurRad="63500" dist="25400" dir="5400000" algn="bl" rotWithShape="0">
              <a:srgbClr val="1E2761">
                <a:alpha val="10000"/>
              </a:srgbClr>
            </a:outerShdw>
          </a:effectLst>
        </p:spPr>
      </p:sp>
      <p:sp>
        <p:nvSpPr>
          <p:cNvPr id="18" name="Shape 15"/>
          <p:cNvSpPr/>
          <p:nvPr/>
        </p:nvSpPr>
        <p:spPr>
          <a:xfrm>
            <a:off x="7845552" y="4782312"/>
            <a:ext cx="384048" cy="384048"/>
          </a:xfrm>
          <a:prstGeom prst="ellipse">
            <a:avLst/>
          </a:prstGeom>
          <a:solidFill>
            <a:srgbClr val="2E5EAA"/>
          </a:solidFill>
          <a:ln/>
        </p:spPr>
      </p:sp>
      <p:sp>
        <p:nvSpPr>
          <p:cNvPr id="19" name="Text 16"/>
          <p:cNvSpPr/>
          <p:nvPr/>
        </p:nvSpPr>
        <p:spPr>
          <a:xfrm>
            <a:off x="7845552" y="4782312"/>
            <a:ext cx="384048" cy="384048"/>
          </a:xfrm>
          <a:prstGeom prst="rect">
            <a:avLst/>
          </a:prstGeom>
          <a:noFill/>
          <a:ln/>
        </p:spPr>
        <p:txBody>
          <a:bodyPr wrap="square" rtlCol="0" anchor="ctr"/>
          <a:lstStyle/>
          <a:p>
            <a:pPr marL="0" indent="0" algn="ctr">
              <a:buNone/>
            </a:pPr>
            <a:r>
              <a:rPr lang="en-US" sz="1092" b="1" dirty="0">
                <a:solidFill>
                  <a:srgbClr val="FFFFFF"/>
                </a:solidFill>
                <a:latin typeface="Arial" pitchFamily="34" charset="0"/>
                <a:ea typeface="Arial" pitchFamily="34" charset="-122"/>
                <a:cs typeface="Arial" pitchFamily="34" charset="-120"/>
              </a:rPr>
              <a:t>3</a:t>
            </a:r>
            <a:endParaRPr lang="en-US" sz="1092" dirty="0"/>
          </a:p>
        </p:txBody>
      </p:sp>
      <p:sp>
        <p:nvSpPr>
          <p:cNvPr id="20" name="Text 17"/>
          <p:cNvSpPr/>
          <p:nvPr/>
        </p:nvSpPr>
        <p:spPr>
          <a:xfrm>
            <a:off x="8339328" y="4764024"/>
            <a:ext cx="3154680" cy="457200"/>
          </a:xfrm>
          <a:prstGeom prst="rect">
            <a:avLst/>
          </a:prstGeom>
          <a:noFill/>
          <a:ln/>
        </p:spPr>
        <p:txBody>
          <a:bodyPr wrap="square" rtlCol="0" anchor="ctr"/>
          <a:lstStyle/>
          <a:p>
            <a:pPr marL="0" indent="0">
              <a:buNone/>
            </a:pPr>
            <a:r>
              <a:rPr lang="en-US" sz="1350" b="1" dirty="0">
                <a:solidFill>
                  <a:srgbClr val="1E2761"/>
                </a:solidFill>
                <a:latin typeface="Arial" pitchFamily="34" charset="0"/>
                <a:ea typeface="Arial" pitchFamily="34" charset="-122"/>
                <a:cs typeface="Arial" pitchFamily="34" charset="-120"/>
              </a:rPr>
              <a:t>Phân khúc Champions (25%) &amp; At Risk (27%)</a:t>
            </a:r>
            <a:endParaRPr lang="en-US" sz="1350" dirty="0"/>
          </a:p>
        </p:txBody>
      </p:sp>
      <p:sp>
        <p:nvSpPr>
          <p:cNvPr id="21" name="Text 18"/>
          <p:cNvSpPr/>
          <p:nvPr/>
        </p:nvSpPr>
        <p:spPr>
          <a:xfrm>
            <a:off x="7936992" y="5330952"/>
            <a:ext cx="3465576" cy="777240"/>
          </a:xfrm>
          <a:prstGeom prst="rect">
            <a:avLst/>
          </a:prstGeom>
          <a:noFill/>
          <a:ln/>
        </p:spPr>
        <p:txBody>
          <a:bodyPr wrap="square" rtlCol="0" anchor="t"/>
          <a:lstStyle/>
          <a:p>
            <a:pPr marL="0" indent="0" algn="just">
              <a:lnSpc>
                <a:spcPct val="115000"/>
              </a:lnSpc>
              <a:buNone/>
            </a:pPr>
            <a:r>
              <a:rPr lang="en-US" sz="1050" dirty="0">
                <a:solidFill>
                  <a:srgbClr val="3A3F55"/>
                </a:solidFill>
                <a:latin typeface="Arial" pitchFamily="34" charset="0"/>
                <a:ea typeface="Arial" pitchFamily="34" charset="-122"/>
                <a:cs typeface="Arial" pitchFamily="34" charset="-120"/>
              </a:rPr>
              <a:t>Cần chiến lược riêng: chăm sóc VIP cho Champions, chiến dịch win-back cho nhóm At Risk.</a:t>
            </a:r>
            <a:endParaRPr lang="en-US" sz="1050" dirty="0"/>
          </a:p>
        </p:txBody>
      </p:sp>
      <p:sp>
        <p:nvSpPr>
          <p:cNvPr id="22" name="Text 19"/>
          <p:cNvSpPr/>
          <p:nvPr/>
        </p:nvSpPr>
        <p:spPr>
          <a:xfrm>
            <a:off x="457200" y="6473952"/>
            <a:ext cx="5486400" cy="274320"/>
          </a:xfrm>
          <a:prstGeom prst="rect">
            <a:avLst/>
          </a:prstGeom>
          <a:noFill/>
          <a:ln/>
        </p:spPr>
        <p:txBody>
          <a:bodyPr wrap="square" rtlCol="0" anchor="ctr"/>
          <a:lstStyle/>
          <a:p>
            <a:pPr marL="0" indent="0" algn="l">
              <a:buNone/>
            </a:pPr>
            <a:r>
              <a:rPr lang="en-US" sz="900" dirty="0">
                <a:solidFill>
                  <a:srgbClr val="9AA3B8"/>
                </a:solidFill>
                <a:latin typeface="Arial" pitchFamily="34" charset="0"/>
                <a:ea typeface="Arial" pitchFamily="34" charset="-122"/>
                <a:cs typeface="Arial" pitchFamily="34" charset="-120"/>
              </a:rPr>
              <a:t>OLIST ECOMMERCE ANALYTICS</a:t>
            </a:r>
            <a:endParaRPr lang="en-US" sz="900" dirty="0"/>
          </a:p>
        </p:txBody>
      </p:sp>
      <p:sp>
        <p:nvSpPr>
          <p:cNvPr id="23" name="Text 20"/>
          <p:cNvSpPr/>
          <p:nvPr/>
        </p:nvSpPr>
        <p:spPr>
          <a:xfrm>
            <a:off x="8074152" y="6473952"/>
            <a:ext cx="3657600" cy="274320"/>
          </a:xfrm>
          <a:prstGeom prst="rect">
            <a:avLst/>
          </a:prstGeom>
          <a:noFill/>
          <a:ln/>
        </p:spPr>
        <p:txBody>
          <a:bodyPr wrap="square" rtlCol="0" anchor="ctr"/>
          <a:lstStyle/>
          <a:p>
            <a:pPr marL="0" indent="0" algn="r">
              <a:buNone/>
            </a:pPr>
            <a:r>
              <a:rPr lang="en-US" sz="900" dirty="0">
                <a:solidFill>
                  <a:srgbClr val="9AA3B8"/>
                </a:solidFill>
                <a:latin typeface="Arial" pitchFamily="34" charset="0"/>
                <a:ea typeface="Arial" pitchFamily="34" charset="-122"/>
                <a:cs typeface="Arial" pitchFamily="34" charset="-120"/>
              </a:rPr>
              <a:t>09</a:t>
            </a:r>
            <a:endParaRPr lang="en-US" sz="900" dirty="0"/>
          </a:p>
        </p:txBody>
      </p:sp>
      <p:sp>
        <p:nvSpPr>
          <p:cNvPr id="24" name="Shape 3"/>
          <p:cNvSpPr/>
          <p:nvPr/>
        </p:nvSpPr>
        <p:spPr>
          <a:xfrm>
            <a:off x="548640" y="960120"/>
            <a:ext cx="6903720" cy="4232665"/>
          </a:xfrm>
          <a:prstGeom prst="roundRect">
            <a:avLst>
              <a:gd name="adj" fmla="val 706"/>
            </a:avLst>
          </a:prstGeom>
          <a:ln w="19050">
            <a:solidFill>
              <a:srgbClr val="E9ECF5"/>
            </a:solidFill>
            <a:prstDash val="solid"/>
          </a:ln>
        </p:spPr>
      </p:sp>
      <p:pic>
        <p:nvPicPr>
          <p:cNvPr id="25" name="Picture 24"/>
          <p:cNvPicPr>
            <a:picLocks noChangeAspect="1"/>
          </p:cNvPicPr>
          <p:nvPr/>
        </p:nvPicPr>
        <p:blipFill>
          <a:blip r:embed="rId3"/>
          <a:stretch>
            <a:fillRect/>
          </a:stretch>
        </p:blipFill>
        <p:spPr>
          <a:xfrm>
            <a:off x="640105" y="1049594"/>
            <a:ext cx="6711671" cy="4014497"/>
          </a:xfrm>
          <a:prstGeom prst="rect">
            <a:avLst/>
          </a:prstGeom>
        </p:spPr>
      </p:pic>
    </p:spTree>
  </p:cSld>
  <p:clrMapOvr>
    <a:masterClrMapping/>
  </p:clrMapOvr>
  <p:transition spd="slow">
    <p:wip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C"/>
        </a:solidFill>
        <a:effectLst/>
      </p:bgPr>
    </p:bg>
    <p:spTree>
      <p:nvGrpSpPr>
        <p:cNvPr id="1" name=""/>
        <p:cNvGrpSpPr/>
        <p:nvPr/>
      </p:nvGrpSpPr>
      <p:grpSpPr>
        <a:xfrm>
          <a:off x="0" y="0"/>
          <a:ext cx="0" cy="0"/>
          <a:chOff x="0" y="0"/>
          <a:chExt cx="0" cy="0"/>
        </a:xfrm>
      </p:grpSpPr>
      <p:sp>
        <p:nvSpPr>
          <p:cNvPr id="2" name="Shape 0"/>
          <p:cNvSpPr/>
          <p:nvPr/>
        </p:nvSpPr>
        <p:spPr>
          <a:xfrm>
            <a:off x="548640" y="320040"/>
            <a:ext cx="1371600" cy="384048"/>
          </a:xfrm>
          <a:prstGeom prst="roundRect">
            <a:avLst>
              <a:gd name="adj" fmla="val 50000"/>
            </a:avLst>
          </a:prstGeom>
          <a:solidFill>
            <a:srgbClr val="2E5EAA"/>
          </a:solidFill>
          <a:ln/>
        </p:spPr>
      </p:sp>
      <p:sp>
        <p:nvSpPr>
          <p:cNvPr id="3" name="Text 1"/>
          <p:cNvSpPr/>
          <p:nvPr/>
        </p:nvSpPr>
        <p:spPr>
          <a:xfrm>
            <a:off x="548640" y="320040"/>
            <a:ext cx="1371600" cy="384048"/>
          </a:xfrm>
          <a:prstGeom prst="rect">
            <a:avLst/>
          </a:prstGeom>
          <a:noFill/>
          <a:ln/>
        </p:spPr>
        <p:txBody>
          <a:bodyPr wrap="square"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PAGE 4</a:t>
            </a:r>
            <a:endParaRPr lang="en-US" sz="1100" dirty="0"/>
          </a:p>
        </p:txBody>
      </p:sp>
      <p:sp>
        <p:nvSpPr>
          <p:cNvPr id="4" name="Text 2"/>
          <p:cNvSpPr/>
          <p:nvPr/>
        </p:nvSpPr>
        <p:spPr>
          <a:xfrm>
            <a:off x="2057400" y="292608"/>
            <a:ext cx="8686800" cy="457200"/>
          </a:xfrm>
          <a:prstGeom prst="rect">
            <a:avLst/>
          </a:prstGeom>
          <a:noFill/>
          <a:ln/>
        </p:spPr>
        <p:txBody>
          <a:bodyPr wrap="square" rtlCol="0" anchor="ctr"/>
          <a:lstStyle/>
          <a:p>
            <a:pPr marL="0" indent="0">
              <a:buNone/>
            </a:pPr>
            <a:r>
              <a:rPr lang="en-US" sz="2200" b="1" dirty="0">
                <a:solidFill>
                  <a:srgbClr val="1E2761"/>
                </a:solidFill>
                <a:latin typeface="Cambria" pitchFamily="34" charset="0"/>
                <a:ea typeface="Cambria" pitchFamily="34" charset="-122"/>
                <a:cs typeface="Cambria" pitchFamily="34" charset="-120"/>
              </a:rPr>
              <a:t>Logistic &amp; Satisfaction — Insight trọng tâm</a:t>
            </a:r>
            <a:endParaRPr lang="en-US" sz="2200" dirty="0"/>
          </a:p>
        </p:txBody>
      </p:sp>
      <p:sp>
        <p:nvSpPr>
          <p:cNvPr id="7" name="Shape 4"/>
          <p:cNvSpPr/>
          <p:nvPr/>
        </p:nvSpPr>
        <p:spPr>
          <a:xfrm>
            <a:off x="7680960" y="960120"/>
            <a:ext cx="3977640" cy="2468880"/>
          </a:xfrm>
          <a:prstGeom prst="roundRect">
            <a:avLst>
              <a:gd name="adj" fmla="val 2222"/>
            </a:avLst>
          </a:prstGeom>
          <a:solidFill>
            <a:srgbClr val="FFFFFF"/>
          </a:solidFill>
          <a:ln w="12700">
            <a:solidFill>
              <a:srgbClr val="E9ECF5"/>
            </a:solidFill>
            <a:prstDash val="solid"/>
          </a:ln>
          <a:effectLst>
            <a:outerShdw blurRad="63500" dist="25400" dir="5400000" algn="bl" rotWithShape="0">
              <a:srgbClr val="1E2761">
                <a:alpha val="10000"/>
              </a:srgbClr>
            </a:outerShdw>
          </a:effectLst>
        </p:spPr>
      </p:sp>
      <p:sp>
        <p:nvSpPr>
          <p:cNvPr id="8" name="Shape 5"/>
          <p:cNvSpPr/>
          <p:nvPr/>
        </p:nvSpPr>
        <p:spPr>
          <a:xfrm>
            <a:off x="7845552" y="1124712"/>
            <a:ext cx="384048" cy="384048"/>
          </a:xfrm>
          <a:prstGeom prst="ellipse">
            <a:avLst/>
          </a:prstGeom>
          <a:solidFill>
            <a:srgbClr val="E8590C"/>
          </a:solidFill>
          <a:ln/>
        </p:spPr>
      </p:sp>
      <p:sp>
        <p:nvSpPr>
          <p:cNvPr id="9" name="Text 6"/>
          <p:cNvSpPr/>
          <p:nvPr/>
        </p:nvSpPr>
        <p:spPr>
          <a:xfrm>
            <a:off x="7845552" y="1124712"/>
            <a:ext cx="384048" cy="384048"/>
          </a:xfrm>
          <a:prstGeom prst="rect">
            <a:avLst/>
          </a:prstGeom>
          <a:noFill/>
          <a:ln/>
        </p:spPr>
        <p:txBody>
          <a:bodyPr wrap="square" rtlCol="0" anchor="ctr"/>
          <a:lstStyle/>
          <a:p>
            <a:pPr marL="0" indent="0" algn="ctr">
              <a:buNone/>
            </a:pPr>
            <a:r>
              <a:rPr lang="en-US" sz="1092" b="1" dirty="0">
                <a:solidFill>
                  <a:srgbClr val="FFFFFF"/>
                </a:solidFill>
                <a:latin typeface="Arial" pitchFamily="34" charset="0"/>
                <a:ea typeface="Arial" pitchFamily="34" charset="-122"/>
                <a:cs typeface="Arial" pitchFamily="34" charset="-120"/>
              </a:rPr>
              <a:t>1</a:t>
            </a:r>
            <a:endParaRPr lang="en-US" sz="1092" dirty="0"/>
          </a:p>
        </p:txBody>
      </p:sp>
      <p:sp>
        <p:nvSpPr>
          <p:cNvPr id="10" name="Text 7"/>
          <p:cNvSpPr/>
          <p:nvPr/>
        </p:nvSpPr>
        <p:spPr>
          <a:xfrm>
            <a:off x="8339328" y="1106424"/>
            <a:ext cx="3154680" cy="457200"/>
          </a:xfrm>
          <a:prstGeom prst="rect">
            <a:avLst/>
          </a:prstGeom>
          <a:noFill/>
          <a:ln/>
        </p:spPr>
        <p:txBody>
          <a:bodyPr wrap="square" rtlCol="0" anchor="ctr"/>
          <a:lstStyle/>
          <a:p>
            <a:pPr marL="0" indent="0">
              <a:buNone/>
            </a:pPr>
            <a:r>
              <a:rPr lang="en-US" sz="1350" b="1" dirty="0">
                <a:solidFill>
                  <a:srgbClr val="1E2761"/>
                </a:solidFill>
                <a:latin typeface="Arial" pitchFamily="34" charset="0"/>
                <a:ea typeface="Arial" pitchFamily="34" charset="-122"/>
                <a:cs typeface="Arial" pitchFamily="34" charset="-120"/>
              </a:rPr>
              <a:t>Giao hàng chậm = Đánh giá thấp (18 vs 11 ngày)</a:t>
            </a:r>
            <a:endParaRPr lang="en-US" sz="1350" dirty="0"/>
          </a:p>
        </p:txBody>
      </p:sp>
      <p:sp>
        <p:nvSpPr>
          <p:cNvPr id="11" name="Text 8"/>
          <p:cNvSpPr/>
          <p:nvPr/>
        </p:nvSpPr>
        <p:spPr>
          <a:xfrm>
            <a:off x="7936992" y="1673352"/>
            <a:ext cx="3465576" cy="1554480"/>
          </a:xfrm>
          <a:prstGeom prst="rect">
            <a:avLst/>
          </a:prstGeom>
          <a:noFill/>
          <a:ln/>
        </p:spPr>
        <p:txBody>
          <a:bodyPr wrap="square" rtlCol="0" anchor="t"/>
          <a:lstStyle/>
          <a:p>
            <a:pPr marL="0" indent="0" algn="just">
              <a:lnSpc>
                <a:spcPct val="115000"/>
              </a:lnSpc>
              <a:buNone/>
            </a:pPr>
            <a:r>
              <a:rPr lang="en-US" sz="1050" dirty="0">
                <a:solidFill>
                  <a:srgbClr val="3A3F55"/>
                </a:solidFill>
                <a:latin typeface="Arial" pitchFamily="34" charset="0"/>
                <a:ea typeface="Arial" pitchFamily="34" charset="-122"/>
                <a:cs typeface="Arial" pitchFamily="34" charset="-120"/>
              </a:rPr>
              <a:t>Đơn 1 sao chờ trung bình 18 ngày, đơn 5 sao chỉ 11 ngày. Tỷ lệ giao trễ trong nhóm review thấp cao gấp 3.6 lần mức trung bình toàn sàn.</a:t>
            </a:r>
            <a:endParaRPr lang="en-US" sz="1050" dirty="0"/>
          </a:p>
        </p:txBody>
      </p:sp>
      <p:sp>
        <p:nvSpPr>
          <p:cNvPr id="12" name="Shape 9"/>
          <p:cNvSpPr/>
          <p:nvPr/>
        </p:nvSpPr>
        <p:spPr>
          <a:xfrm>
            <a:off x="7680960" y="3566160"/>
            <a:ext cx="3977640" cy="2468880"/>
          </a:xfrm>
          <a:prstGeom prst="roundRect">
            <a:avLst>
              <a:gd name="adj" fmla="val 2222"/>
            </a:avLst>
          </a:prstGeom>
          <a:solidFill>
            <a:srgbClr val="FFFFFF"/>
          </a:solidFill>
          <a:ln w="12700">
            <a:solidFill>
              <a:srgbClr val="E9ECF5"/>
            </a:solidFill>
            <a:prstDash val="solid"/>
          </a:ln>
          <a:effectLst>
            <a:outerShdw blurRad="63500" dist="25400" dir="5400000" algn="bl" rotWithShape="0">
              <a:srgbClr val="1E2761">
                <a:alpha val="10000"/>
              </a:srgbClr>
            </a:outerShdw>
          </a:effectLst>
        </p:spPr>
      </p:sp>
      <p:sp>
        <p:nvSpPr>
          <p:cNvPr id="13" name="Shape 10"/>
          <p:cNvSpPr/>
          <p:nvPr/>
        </p:nvSpPr>
        <p:spPr>
          <a:xfrm>
            <a:off x="7845552" y="3730752"/>
            <a:ext cx="384048" cy="384048"/>
          </a:xfrm>
          <a:prstGeom prst="ellipse">
            <a:avLst/>
          </a:prstGeom>
          <a:solidFill>
            <a:srgbClr val="2E5EAA"/>
          </a:solidFill>
          <a:ln/>
        </p:spPr>
      </p:sp>
      <p:sp>
        <p:nvSpPr>
          <p:cNvPr id="14" name="Text 11"/>
          <p:cNvSpPr/>
          <p:nvPr/>
        </p:nvSpPr>
        <p:spPr>
          <a:xfrm>
            <a:off x="7845552" y="3730752"/>
            <a:ext cx="384048" cy="384048"/>
          </a:xfrm>
          <a:prstGeom prst="rect">
            <a:avLst/>
          </a:prstGeom>
          <a:noFill/>
          <a:ln/>
        </p:spPr>
        <p:txBody>
          <a:bodyPr wrap="square" rtlCol="0" anchor="ctr"/>
          <a:lstStyle/>
          <a:p>
            <a:pPr marL="0" indent="0" algn="ctr">
              <a:buNone/>
            </a:pPr>
            <a:r>
              <a:rPr lang="en-US" sz="1092" b="1" dirty="0">
                <a:solidFill>
                  <a:srgbClr val="FFFFFF"/>
                </a:solidFill>
                <a:latin typeface="Arial" pitchFamily="34" charset="0"/>
                <a:ea typeface="Arial" pitchFamily="34" charset="-122"/>
                <a:cs typeface="Arial" pitchFamily="34" charset="-120"/>
              </a:rPr>
              <a:t>2</a:t>
            </a:r>
            <a:endParaRPr lang="en-US" sz="1092" dirty="0"/>
          </a:p>
        </p:txBody>
      </p:sp>
      <p:sp>
        <p:nvSpPr>
          <p:cNvPr id="15" name="Text 12"/>
          <p:cNvSpPr/>
          <p:nvPr/>
        </p:nvSpPr>
        <p:spPr>
          <a:xfrm>
            <a:off x="8339328" y="3712464"/>
            <a:ext cx="3154680" cy="457200"/>
          </a:xfrm>
          <a:prstGeom prst="rect">
            <a:avLst/>
          </a:prstGeom>
          <a:noFill/>
          <a:ln/>
        </p:spPr>
        <p:txBody>
          <a:bodyPr wrap="square" rtlCol="0" anchor="ctr"/>
          <a:lstStyle/>
          <a:p>
            <a:pPr marL="0" indent="0">
              <a:buNone/>
            </a:pPr>
            <a:r>
              <a:rPr lang="en-US" sz="1350" b="1" dirty="0">
                <a:solidFill>
                  <a:srgbClr val="1E2761"/>
                </a:solidFill>
                <a:latin typeface="Arial" pitchFamily="34" charset="0"/>
                <a:ea typeface="Arial" pitchFamily="34" charset="-122"/>
                <a:cs typeface="Arial" pitchFamily="34" charset="-120"/>
              </a:rPr>
              <a:t>37.1% bình luận tiêu cực nhắc đến giao hàng</a:t>
            </a:r>
            <a:endParaRPr lang="en-US" sz="1350" dirty="0"/>
          </a:p>
        </p:txBody>
      </p:sp>
      <p:sp>
        <p:nvSpPr>
          <p:cNvPr id="16" name="Text 13"/>
          <p:cNvSpPr/>
          <p:nvPr/>
        </p:nvSpPr>
        <p:spPr>
          <a:xfrm>
            <a:off x="7936992" y="4279392"/>
            <a:ext cx="3465576" cy="1554480"/>
          </a:xfrm>
          <a:prstGeom prst="rect">
            <a:avLst/>
          </a:prstGeom>
          <a:noFill/>
          <a:ln/>
        </p:spPr>
        <p:txBody>
          <a:bodyPr wrap="square" rtlCol="0" anchor="t"/>
          <a:lstStyle/>
          <a:p>
            <a:pPr marL="0" indent="0" algn="just">
              <a:lnSpc>
                <a:spcPct val="115000"/>
              </a:lnSpc>
              <a:buNone/>
            </a:pPr>
            <a:r>
              <a:rPr lang="en-US" sz="1050" dirty="0">
                <a:solidFill>
                  <a:srgbClr val="3A3F55"/>
                </a:solidFill>
                <a:latin typeface="Arial" pitchFamily="34" charset="0"/>
                <a:ea typeface="Arial" pitchFamily="34" charset="-122"/>
                <a:cs typeface="Arial" pitchFamily="34" charset="-120"/>
              </a:rPr>
              <a:t>Phân tích 10,890 bình luận khách hàng xác nhận độc lập: logistics là chủ đề than phiền phổ biến nhất, vượt xa vấn đề chất lượng sản phẩm (7.7%).</a:t>
            </a:r>
            <a:endParaRPr lang="en-US" sz="1050" dirty="0"/>
          </a:p>
        </p:txBody>
      </p:sp>
      <p:sp>
        <p:nvSpPr>
          <p:cNvPr id="17" name="Text 14"/>
          <p:cNvSpPr/>
          <p:nvPr/>
        </p:nvSpPr>
        <p:spPr>
          <a:xfrm>
            <a:off x="457200" y="6473952"/>
            <a:ext cx="5486400" cy="274320"/>
          </a:xfrm>
          <a:prstGeom prst="rect">
            <a:avLst/>
          </a:prstGeom>
          <a:noFill/>
          <a:ln/>
        </p:spPr>
        <p:txBody>
          <a:bodyPr wrap="square" rtlCol="0" anchor="ctr"/>
          <a:lstStyle/>
          <a:p>
            <a:pPr marL="0" indent="0" algn="l">
              <a:buNone/>
            </a:pPr>
            <a:r>
              <a:rPr lang="en-US" sz="900" dirty="0">
                <a:solidFill>
                  <a:srgbClr val="9AA3B8"/>
                </a:solidFill>
                <a:latin typeface="Arial" pitchFamily="34" charset="0"/>
                <a:ea typeface="Arial" pitchFamily="34" charset="-122"/>
                <a:cs typeface="Arial" pitchFamily="34" charset="-120"/>
              </a:rPr>
              <a:t>OLIST ECOMMERCE ANALYTICS</a:t>
            </a:r>
            <a:endParaRPr lang="en-US" sz="900" dirty="0"/>
          </a:p>
        </p:txBody>
      </p:sp>
      <p:sp>
        <p:nvSpPr>
          <p:cNvPr id="18" name="Text 15"/>
          <p:cNvSpPr/>
          <p:nvPr/>
        </p:nvSpPr>
        <p:spPr>
          <a:xfrm>
            <a:off x="8074152" y="6473952"/>
            <a:ext cx="3657600" cy="274320"/>
          </a:xfrm>
          <a:prstGeom prst="rect">
            <a:avLst/>
          </a:prstGeom>
          <a:noFill/>
          <a:ln/>
        </p:spPr>
        <p:txBody>
          <a:bodyPr wrap="square" rtlCol="0" anchor="ctr"/>
          <a:lstStyle/>
          <a:p>
            <a:pPr marL="0" indent="0" algn="r">
              <a:buNone/>
            </a:pPr>
            <a:r>
              <a:rPr lang="en-US" sz="900" dirty="0">
                <a:solidFill>
                  <a:srgbClr val="9AA3B8"/>
                </a:solidFill>
                <a:latin typeface="Arial" pitchFamily="34" charset="0"/>
                <a:ea typeface="Arial" pitchFamily="34" charset="-122"/>
                <a:cs typeface="Arial" pitchFamily="34" charset="-120"/>
              </a:rPr>
              <a:t>010</a:t>
            </a:r>
            <a:endParaRPr lang="en-US" sz="900" dirty="0"/>
          </a:p>
        </p:txBody>
      </p:sp>
      <p:pic>
        <p:nvPicPr>
          <p:cNvPr id="19" name="Picture 18"/>
          <p:cNvPicPr>
            <a:picLocks noChangeAspect="1"/>
          </p:cNvPicPr>
          <p:nvPr/>
        </p:nvPicPr>
        <p:blipFill>
          <a:blip r:embed="rId3"/>
          <a:stretch>
            <a:fillRect/>
          </a:stretch>
        </p:blipFill>
        <p:spPr>
          <a:xfrm>
            <a:off x="648263" y="1020730"/>
            <a:ext cx="6703513" cy="4111444"/>
          </a:xfrm>
          <a:prstGeom prst="rect">
            <a:avLst/>
          </a:prstGeom>
        </p:spPr>
      </p:pic>
      <p:sp>
        <p:nvSpPr>
          <p:cNvPr id="20" name="Shape 3"/>
          <p:cNvSpPr/>
          <p:nvPr/>
        </p:nvSpPr>
        <p:spPr>
          <a:xfrm>
            <a:off x="548640" y="960120"/>
            <a:ext cx="6903720" cy="4232665"/>
          </a:xfrm>
          <a:prstGeom prst="roundRect">
            <a:avLst>
              <a:gd name="adj" fmla="val 706"/>
            </a:avLst>
          </a:prstGeom>
          <a:ln w="19050">
            <a:solidFill>
              <a:srgbClr val="E9ECF5"/>
            </a:solidFill>
            <a:prstDash val="solid"/>
          </a:ln>
        </p:spPr>
      </p:sp>
    </p:spTree>
  </p:cSld>
  <p:clrMapOvr>
    <a:masterClrMapping/>
  </p:clrMapOvr>
  <p:transition spd="slow">
    <p:wip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C"/>
        </a:solidFill>
        <a:effectLst/>
      </p:bgPr>
    </p:bg>
    <p:spTree>
      <p:nvGrpSpPr>
        <p:cNvPr id="1" name=""/>
        <p:cNvGrpSpPr/>
        <p:nvPr/>
      </p:nvGrpSpPr>
      <p:grpSpPr>
        <a:xfrm>
          <a:off x="0" y="0"/>
          <a:ext cx="0" cy="0"/>
          <a:chOff x="0" y="0"/>
          <a:chExt cx="0" cy="0"/>
        </a:xfrm>
      </p:grpSpPr>
      <p:sp>
        <p:nvSpPr>
          <p:cNvPr id="2" name="Shape 0"/>
          <p:cNvSpPr/>
          <p:nvPr/>
        </p:nvSpPr>
        <p:spPr>
          <a:xfrm>
            <a:off x="548640" y="320040"/>
            <a:ext cx="1371600" cy="384048"/>
          </a:xfrm>
          <a:prstGeom prst="roundRect">
            <a:avLst>
              <a:gd name="adj" fmla="val 50000"/>
            </a:avLst>
          </a:prstGeom>
          <a:solidFill>
            <a:srgbClr val="2E5EAA"/>
          </a:solidFill>
          <a:ln/>
        </p:spPr>
      </p:sp>
      <p:sp>
        <p:nvSpPr>
          <p:cNvPr id="3" name="Text 1"/>
          <p:cNvSpPr/>
          <p:nvPr/>
        </p:nvSpPr>
        <p:spPr>
          <a:xfrm>
            <a:off x="548640" y="320040"/>
            <a:ext cx="1371600" cy="384048"/>
          </a:xfrm>
          <a:prstGeom prst="rect">
            <a:avLst/>
          </a:prstGeom>
          <a:noFill/>
          <a:ln/>
        </p:spPr>
        <p:txBody>
          <a:bodyPr wrap="square"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PAGE 5</a:t>
            </a:r>
            <a:endParaRPr lang="en-US" sz="1100" dirty="0"/>
          </a:p>
        </p:txBody>
      </p:sp>
      <p:sp>
        <p:nvSpPr>
          <p:cNvPr id="4" name="Text 2"/>
          <p:cNvSpPr/>
          <p:nvPr/>
        </p:nvSpPr>
        <p:spPr>
          <a:xfrm>
            <a:off x="2057400" y="292608"/>
            <a:ext cx="8686800" cy="457200"/>
          </a:xfrm>
          <a:prstGeom prst="rect">
            <a:avLst/>
          </a:prstGeom>
          <a:noFill/>
          <a:ln/>
        </p:spPr>
        <p:txBody>
          <a:bodyPr wrap="square" rtlCol="0" anchor="ctr"/>
          <a:lstStyle/>
          <a:p>
            <a:pPr marL="0" indent="0">
              <a:buNone/>
            </a:pPr>
            <a:r>
              <a:rPr lang="en-US" sz="2200" b="1" dirty="0">
                <a:solidFill>
                  <a:srgbClr val="1E2761"/>
                </a:solidFill>
                <a:latin typeface="Cambria" pitchFamily="34" charset="0"/>
                <a:ea typeface="Cambria" pitchFamily="34" charset="-122"/>
                <a:cs typeface="Cambria" pitchFamily="34" charset="-120"/>
              </a:rPr>
              <a:t>Payment Method — Hành vi thanh toán</a:t>
            </a:r>
            <a:endParaRPr lang="en-US" sz="2200" dirty="0"/>
          </a:p>
        </p:txBody>
      </p:sp>
      <p:sp>
        <p:nvSpPr>
          <p:cNvPr id="7" name="Shape 4"/>
          <p:cNvSpPr/>
          <p:nvPr/>
        </p:nvSpPr>
        <p:spPr>
          <a:xfrm>
            <a:off x="7680960" y="960120"/>
            <a:ext cx="3977640" cy="1691640"/>
          </a:xfrm>
          <a:prstGeom prst="roundRect">
            <a:avLst>
              <a:gd name="adj" fmla="val 3243"/>
            </a:avLst>
          </a:prstGeom>
          <a:solidFill>
            <a:srgbClr val="FFFFFF"/>
          </a:solidFill>
          <a:ln w="12700">
            <a:solidFill>
              <a:srgbClr val="E9ECF5"/>
            </a:solidFill>
            <a:prstDash val="solid"/>
          </a:ln>
          <a:effectLst>
            <a:outerShdw blurRad="63500" dist="25400" dir="5400000" algn="bl" rotWithShape="0">
              <a:srgbClr val="1E2761">
                <a:alpha val="10000"/>
              </a:srgbClr>
            </a:outerShdw>
          </a:effectLst>
        </p:spPr>
      </p:sp>
      <p:sp>
        <p:nvSpPr>
          <p:cNvPr id="8" name="Shape 5"/>
          <p:cNvSpPr/>
          <p:nvPr/>
        </p:nvSpPr>
        <p:spPr>
          <a:xfrm>
            <a:off x="7845552" y="1124712"/>
            <a:ext cx="384048" cy="384048"/>
          </a:xfrm>
          <a:prstGeom prst="ellipse">
            <a:avLst/>
          </a:prstGeom>
          <a:solidFill>
            <a:srgbClr val="E8590C"/>
          </a:solidFill>
          <a:ln/>
        </p:spPr>
      </p:sp>
      <p:sp>
        <p:nvSpPr>
          <p:cNvPr id="9" name="Text 6"/>
          <p:cNvSpPr/>
          <p:nvPr/>
        </p:nvSpPr>
        <p:spPr>
          <a:xfrm>
            <a:off x="7845552" y="1124712"/>
            <a:ext cx="384048" cy="384048"/>
          </a:xfrm>
          <a:prstGeom prst="rect">
            <a:avLst/>
          </a:prstGeom>
          <a:noFill/>
          <a:ln/>
        </p:spPr>
        <p:txBody>
          <a:bodyPr wrap="square" rtlCol="0" anchor="ctr"/>
          <a:lstStyle/>
          <a:p>
            <a:pPr marL="0" indent="0" algn="ctr">
              <a:buNone/>
            </a:pPr>
            <a:r>
              <a:rPr lang="en-US" sz="1092" b="1" dirty="0">
                <a:solidFill>
                  <a:srgbClr val="FFFFFF"/>
                </a:solidFill>
                <a:latin typeface="Arial" pitchFamily="34" charset="0"/>
                <a:ea typeface="Arial" pitchFamily="34" charset="-122"/>
                <a:cs typeface="Arial" pitchFamily="34" charset="-120"/>
              </a:rPr>
              <a:t>1</a:t>
            </a:r>
            <a:endParaRPr lang="en-US" sz="1092" dirty="0"/>
          </a:p>
        </p:txBody>
      </p:sp>
      <p:sp>
        <p:nvSpPr>
          <p:cNvPr id="10" name="Text 7"/>
          <p:cNvSpPr/>
          <p:nvPr/>
        </p:nvSpPr>
        <p:spPr>
          <a:xfrm>
            <a:off x="8339328" y="1106424"/>
            <a:ext cx="3154680" cy="457200"/>
          </a:xfrm>
          <a:prstGeom prst="rect">
            <a:avLst/>
          </a:prstGeom>
          <a:noFill/>
          <a:ln/>
        </p:spPr>
        <p:txBody>
          <a:bodyPr wrap="square" rtlCol="0" anchor="ctr"/>
          <a:lstStyle/>
          <a:p>
            <a:pPr marL="0" indent="0">
              <a:buNone/>
            </a:pPr>
            <a:r>
              <a:rPr lang="en-US" sz="1350" b="1" dirty="0">
                <a:solidFill>
                  <a:srgbClr val="1E2761"/>
                </a:solidFill>
                <a:latin typeface="Arial" pitchFamily="34" charset="0"/>
                <a:ea typeface="Arial" pitchFamily="34" charset="-122"/>
                <a:cs typeface="Arial" pitchFamily="34" charset="-120"/>
              </a:rPr>
              <a:t>78% giao dịch qua Credit Card</a:t>
            </a:r>
            <a:endParaRPr lang="en-US" sz="1350" dirty="0"/>
          </a:p>
        </p:txBody>
      </p:sp>
      <p:sp>
        <p:nvSpPr>
          <p:cNvPr id="11" name="Text 8"/>
          <p:cNvSpPr/>
          <p:nvPr/>
        </p:nvSpPr>
        <p:spPr>
          <a:xfrm>
            <a:off x="7936992" y="1673352"/>
            <a:ext cx="3465576" cy="777240"/>
          </a:xfrm>
          <a:prstGeom prst="rect">
            <a:avLst/>
          </a:prstGeom>
          <a:noFill/>
          <a:ln/>
        </p:spPr>
        <p:txBody>
          <a:bodyPr wrap="square" rtlCol="0" anchor="t"/>
          <a:lstStyle/>
          <a:p>
            <a:pPr marL="0" indent="0" algn="just">
              <a:lnSpc>
                <a:spcPct val="115000"/>
              </a:lnSpc>
              <a:buNone/>
            </a:pPr>
            <a:r>
              <a:rPr lang="en-US" sz="1050" dirty="0">
                <a:solidFill>
                  <a:srgbClr val="3A3F55"/>
                </a:solidFill>
                <a:latin typeface="Arial" pitchFamily="34" charset="0"/>
                <a:ea typeface="Arial" pitchFamily="34" charset="-122"/>
                <a:cs typeface="Arial" pitchFamily="34" charset="-120"/>
              </a:rPr>
              <a:t>Phương thức thanh toán chủ đạo, kế đó là Boleto (~18%).</a:t>
            </a:r>
            <a:endParaRPr lang="en-US" sz="1050" dirty="0"/>
          </a:p>
        </p:txBody>
      </p:sp>
      <p:sp>
        <p:nvSpPr>
          <p:cNvPr id="12" name="Shape 9"/>
          <p:cNvSpPr/>
          <p:nvPr/>
        </p:nvSpPr>
        <p:spPr>
          <a:xfrm>
            <a:off x="7680960" y="2788920"/>
            <a:ext cx="3977640" cy="1691640"/>
          </a:xfrm>
          <a:prstGeom prst="roundRect">
            <a:avLst>
              <a:gd name="adj" fmla="val 3243"/>
            </a:avLst>
          </a:prstGeom>
          <a:solidFill>
            <a:srgbClr val="FFFFFF"/>
          </a:solidFill>
          <a:ln w="12700">
            <a:solidFill>
              <a:srgbClr val="E9ECF5"/>
            </a:solidFill>
            <a:prstDash val="solid"/>
          </a:ln>
          <a:effectLst>
            <a:outerShdw blurRad="63500" dist="25400" dir="5400000" algn="bl" rotWithShape="0">
              <a:srgbClr val="1E2761">
                <a:alpha val="10000"/>
              </a:srgbClr>
            </a:outerShdw>
          </a:effectLst>
        </p:spPr>
      </p:sp>
      <p:sp>
        <p:nvSpPr>
          <p:cNvPr id="13" name="Shape 10"/>
          <p:cNvSpPr/>
          <p:nvPr/>
        </p:nvSpPr>
        <p:spPr>
          <a:xfrm>
            <a:off x="7845552" y="2953512"/>
            <a:ext cx="384048" cy="384048"/>
          </a:xfrm>
          <a:prstGeom prst="ellipse">
            <a:avLst/>
          </a:prstGeom>
          <a:solidFill>
            <a:srgbClr val="2E5EAA"/>
          </a:solidFill>
          <a:ln/>
        </p:spPr>
      </p:sp>
      <p:sp>
        <p:nvSpPr>
          <p:cNvPr id="14" name="Text 11"/>
          <p:cNvSpPr/>
          <p:nvPr/>
        </p:nvSpPr>
        <p:spPr>
          <a:xfrm>
            <a:off x="7845552" y="2953512"/>
            <a:ext cx="384048" cy="384048"/>
          </a:xfrm>
          <a:prstGeom prst="rect">
            <a:avLst/>
          </a:prstGeom>
          <a:noFill/>
          <a:ln/>
        </p:spPr>
        <p:txBody>
          <a:bodyPr wrap="square" rtlCol="0" anchor="ctr"/>
          <a:lstStyle/>
          <a:p>
            <a:pPr marL="0" indent="0" algn="ctr">
              <a:buNone/>
            </a:pPr>
            <a:r>
              <a:rPr lang="en-US" sz="1092" b="1" dirty="0">
                <a:solidFill>
                  <a:srgbClr val="FFFFFF"/>
                </a:solidFill>
                <a:latin typeface="Arial" pitchFamily="34" charset="0"/>
                <a:ea typeface="Arial" pitchFamily="34" charset="-122"/>
                <a:cs typeface="Arial" pitchFamily="34" charset="-120"/>
              </a:rPr>
              <a:t>2</a:t>
            </a:r>
            <a:endParaRPr lang="en-US" sz="1092" dirty="0"/>
          </a:p>
        </p:txBody>
      </p:sp>
      <p:sp>
        <p:nvSpPr>
          <p:cNvPr id="15" name="Text 12"/>
          <p:cNvSpPr/>
          <p:nvPr/>
        </p:nvSpPr>
        <p:spPr>
          <a:xfrm>
            <a:off x="8339328" y="2935224"/>
            <a:ext cx="3154680" cy="457200"/>
          </a:xfrm>
          <a:prstGeom prst="rect">
            <a:avLst/>
          </a:prstGeom>
          <a:noFill/>
          <a:ln/>
        </p:spPr>
        <p:txBody>
          <a:bodyPr wrap="square" rtlCol="0" anchor="ctr"/>
          <a:lstStyle/>
          <a:p>
            <a:pPr marL="0" indent="0">
              <a:buNone/>
            </a:pPr>
            <a:r>
              <a:rPr lang="en-US" sz="1350" b="1" dirty="0">
                <a:solidFill>
                  <a:srgbClr val="1E2761"/>
                </a:solidFill>
                <a:latin typeface="Arial" pitchFamily="34" charset="0"/>
                <a:ea typeface="Arial" pitchFamily="34" charset="-122"/>
                <a:cs typeface="Arial" pitchFamily="34" charset="-120"/>
              </a:rPr>
              <a:t>Computers dẫn đầu Avg Installments (6.25 kỳ)</a:t>
            </a:r>
            <a:endParaRPr lang="en-US" sz="1350" dirty="0"/>
          </a:p>
        </p:txBody>
      </p:sp>
      <p:sp>
        <p:nvSpPr>
          <p:cNvPr id="16" name="Text 13"/>
          <p:cNvSpPr/>
          <p:nvPr/>
        </p:nvSpPr>
        <p:spPr>
          <a:xfrm>
            <a:off x="7936992" y="3502152"/>
            <a:ext cx="3465576" cy="777240"/>
          </a:xfrm>
          <a:prstGeom prst="rect">
            <a:avLst/>
          </a:prstGeom>
          <a:noFill/>
          <a:ln/>
        </p:spPr>
        <p:txBody>
          <a:bodyPr wrap="square" rtlCol="0" anchor="t"/>
          <a:lstStyle/>
          <a:p>
            <a:pPr marL="0" indent="0" algn="just">
              <a:lnSpc>
                <a:spcPct val="115000"/>
              </a:lnSpc>
              <a:buNone/>
            </a:pPr>
            <a:r>
              <a:rPr lang="en-US" sz="1050" dirty="0">
                <a:solidFill>
                  <a:srgbClr val="3A3F55"/>
                </a:solidFill>
                <a:latin typeface="Arial" pitchFamily="34" charset="0"/>
                <a:ea typeface="Arial" pitchFamily="34" charset="-122"/>
                <a:cs typeface="Arial" pitchFamily="34" charset="-120"/>
              </a:rPr>
              <a:t>Cao hơn 119% mức trung bình toàn sàn (2.85) — nhóm sản phẩm giá trị cao gắn liền với nhu cầu trả góp.</a:t>
            </a:r>
            <a:endParaRPr lang="en-US" sz="1050" dirty="0"/>
          </a:p>
        </p:txBody>
      </p:sp>
      <p:sp>
        <p:nvSpPr>
          <p:cNvPr id="17" name="Shape 14"/>
          <p:cNvSpPr/>
          <p:nvPr/>
        </p:nvSpPr>
        <p:spPr>
          <a:xfrm>
            <a:off x="7680960" y="4617720"/>
            <a:ext cx="3977640" cy="1691640"/>
          </a:xfrm>
          <a:prstGeom prst="roundRect">
            <a:avLst>
              <a:gd name="adj" fmla="val 3243"/>
            </a:avLst>
          </a:prstGeom>
          <a:solidFill>
            <a:srgbClr val="FFFFFF"/>
          </a:solidFill>
          <a:ln w="12700">
            <a:solidFill>
              <a:srgbClr val="E9ECF5"/>
            </a:solidFill>
            <a:prstDash val="solid"/>
          </a:ln>
          <a:effectLst>
            <a:outerShdw blurRad="63500" dist="25400" dir="5400000" algn="bl" rotWithShape="0">
              <a:srgbClr val="1E2761">
                <a:alpha val="10000"/>
              </a:srgbClr>
            </a:outerShdw>
          </a:effectLst>
        </p:spPr>
      </p:sp>
      <p:sp>
        <p:nvSpPr>
          <p:cNvPr id="18" name="Shape 15"/>
          <p:cNvSpPr/>
          <p:nvPr/>
        </p:nvSpPr>
        <p:spPr>
          <a:xfrm>
            <a:off x="7845552" y="4782312"/>
            <a:ext cx="384048" cy="384048"/>
          </a:xfrm>
          <a:prstGeom prst="ellipse">
            <a:avLst/>
          </a:prstGeom>
          <a:solidFill>
            <a:srgbClr val="2E5EAA"/>
          </a:solidFill>
          <a:ln/>
        </p:spPr>
      </p:sp>
      <p:sp>
        <p:nvSpPr>
          <p:cNvPr id="19" name="Text 16"/>
          <p:cNvSpPr/>
          <p:nvPr/>
        </p:nvSpPr>
        <p:spPr>
          <a:xfrm>
            <a:off x="7845552" y="4782312"/>
            <a:ext cx="384048" cy="384048"/>
          </a:xfrm>
          <a:prstGeom prst="rect">
            <a:avLst/>
          </a:prstGeom>
          <a:noFill/>
          <a:ln/>
        </p:spPr>
        <p:txBody>
          <a:bodyPr wrap="square" rtlCol="0" anchor="ctr"/>
          <a:lstStyle/>
          <a:p>
            <a:pPr marL="0" indent="0" algn="ctr">
              <a:buNone/>
            </a:pPr>
            <a:r>
              <a:rPr lang="en-US" sz="1092" b="1" dirty="0">
                <a:solidFill>
                  <a:srgbClr val="FFFFFF"/>
                </a:solidFill>
                <a:latin typeface="Arial" pitchFamily="34" charset="0"/>
                <a:ea typeface="Arial" pitchFamily="34" charset="-122"/>
                <a:cs typeface="Arial" pitchFamily="34" charset="-120"/>
              </a:rPr>
              <a:t>3</a:t>
            </a:r>
            <a:endParaRPr lang="en-US" sz="1092" dirty="0"/>
          </a:p>
        </p:txBody>
      </p:sp>
      <p:sp>
        <p:nvSpPr>
          <p:cNvPr id="20" name="Text 17"/>
          <p:cNvSpPr/>
          <p:nvPr/>
        </p:nvSpPr>
        <p:spPr>
          <a:xfrm>
            <a:off x="8339328" y="4764024"/>
            <a:ext cx="3154680" cy="457200"/>
          </a:xfrm>
          <a:prstGeom prst="rect">
            <a:avLst/>
          </a:prstGeom>
          <a:noFill/>
          <a:ln/>
        </p:spPr>
        <p:txBody>
          <a:bodyPr wrap="square" rtlCol="0" anchor="ctr"/>
          <a:lstStyle/>
          <a:p>
            <a:pPr marL="0" indent="0">
              <a:buNone/>
            </a:pPr>
            <a:r>
              <a:rPr lang="en-US" sz="1350" b="1" dirty="0">
                <a:solidFill>
                  <a:srgbClr val="1E2761"/>
                </a:solidFill>
                <a:latin typeface="Arial" pitchFamily="34" charset="0"/>
                <a:ea typeface="Arial" pitchFamily="34" charset="-122"/>
                <a:cs typeface="Arial" pitchFamily="34" charset="-120"/>
              </a:rPr>
              <a:t>Số kỳ trả góp KHÔNG ảnh hưởng đến hài lòng</a:t>
            </a:r>
            <a:endParaRPr lang="en-US" sz="1350" dirty="0"/>
          </a:p>
        </p:txBody>
      </p:sp>
      <p:sp>
        <p:nvSpPr>
          <p:cNvPr id="21" name="Text 18"/>
          <p:cNvSpPr/>
          <p:nvPr/>
        </p:nvSpPr>
        <p:spPr>
          <a:xfrm>
            <a:off x="7936992" y="5221224"/>
            <a:ext cx="3557016" cy="1051560"/>
          </a:xfrm>
          <a:prstGeom prst="rect">
            <a:avLst/>
          </a:prstGeom>
          <a:noFill/>
          <a:ln/>
        </p:spPr>
        <p:txBody>
          <a:bodyPr wrap="square" rtlCol="0" anchor="t"/>
          <a:lstStyle/>
          <a:p>
            <a:pPr marL="0" indent="0" algn="just">
              <a:lnSpc>
                <a:spcPct val="115000"/>
              </a:lnSpc>
              <a:buNone/>
            </a:pPr>
            <a:r>
              <a:rPr lang="en-US" sz="1050" dirty="0">
                <a:solidFill>
                  <a:srgbClr val="3A3F55"/>
                </a:solidFill>
                <a:latin typeface="Arial" pitchFamily="34" charset="0"/>
                <a:ea typeface="Arial" pitchFamily="34" charset="-122"/>
                <a:cs typeface="Arial" pitchFamily="34" charset="-120"/>
              </a:rPr>
              <a:t>Chênh lệch chỉ 0.1 điểm </a:t>
            </a:r>
            <a:r>
              <a:rPr lang="en-US" sz="1050" dirty="0" err="1">
                <a:solidFill>
                  <a:srgbClr val="3A3F55"/>
                </a:solidFill>
                <a:latin typeface="Arial" pitchFamily="34" charset="0"/>
                <a:ea typeface="Arial" pitchFamily="34" charset="-122"/>
                <a:cs typeface="Arial" pitchFamily="34" charset="-120"/>
              </a:rPr>
              <a:t>giữa</a:t>
            </a:r>
            <a:r>
              <a:rPr lang="en-US" sz="1050" dirty="0">
                <a:solidFill>
                  <a:srgbClr val="3A3F55"/>
                </a:solidFill>
                <a:latin typeface="Arial" pitchFamily="34" charset="0"/>
                <a:ea typeface="Arial" pitchFamily="34" charset="-122"/>
                <a:cs typeface="Arial" pitchFamily="34" charset="-120"/>
              </a:rPr>
              <a:t> </a:t>
            </a:r>
            <a:r>
              <a:rPr lang="vi-VN" sz="1050" dirty="0" smtClean="0">
                <a:solidFill>
                  <a:srgbClr val="3A3F55"/>
                </a:solidFill>
                <a:latin typeface="Arial" pitchFamily="34" charset="0"/>
                <a:ea typeface="Arial" pitchFamily="34" charset="-122"/>
                <a:cs typeface="Arial" pitchFamily="34" charset="-120"/>
              </a:rPr>
              <a:t>các group -&gt; không nhiều,</a:t>
            </a:r>
            <a:r>
              <a:rPr lang="en-US" sz="1050" dirty="0" smtClean="0">
                <a:solidFill>
                  <a:srgbClr val="3A3F55"/>
                </a:solidFill>
                <a:latin typeface="Arial" pitchFamily="34" charset="0"/>
                <a:ea typeface="Arial" pitchFamily="34" charset="-122"/>
                <a:cs typeface="Arial" pitchFamily="34" charset="-120"/>
              </a:rPr>
              <a:t> </a:t>
            </a:r>
            <a:r>
              <a:rPr lang="en-US" sz="1050" dirty="0">
                <a:solidFill>
                  <a:srgbClr val="3A3F55"/>
                </a:solidFill>
                <a:latin typeface="Arial" pitchFamily="34" charset="0"/>
                <a:ea typeface="Arial" pitchFamily="34" charset="-122"/>
                <a:cs typeface="Arial" pitchFamily="34" charset="-120"/>
              </a:rPr>
              <a:t>khác giả thuyết ban </a:t>
            </a:r>
            <a:r>
              <a:rPr lang="en-US" sz="1050" dirty="0" err="1" smtClean="0">
                <a:solidFill>
                  <a:srgbClr val="3A3F55"/>
                </a:solidFill>
                <a:latin typeface="Arial" pitchFamily="34" charset="0"/>
                <a:ea typeface="Arial" pitchFamily="34" charset="-122"/>
                <a:cs typeface="Arial" pitchFamily="34" charset="-120"/>
              </a:rPr>
              <a:t>đầu</a:t>
            </a:r>
            <a:r>
              <a:rPr lang="vi-VN" sz="1050" dirty="0">
                <a:solidFill>
                  <a:srgbClr val="3A3F55"/>
                </a:solidFill>
                <a:latin typeface="Arial" pitchFamily="34" charset="0"/>
                <a:ea typeface="Arial" pitchFamily="34" charset="-122"/>
                <a:cs typeface="Arial" pitchFamily="34" charset="-120"/>
              </a:rPr>
              <a:t> </a:t>
            </a:r>
            <a:r>
              <a:rPr lang="vi-VN" sz="1050" dirty="0" smtClean="0">
                <a:solidFill>
                  <a:srgbClr val="3A3F55"/>
                </a:solidFill>
                <a:latin typeface="Arial" pitchFamily="34" charset="0"/>
                <a:ea typeface="Arial" pitchFamily="34" charset="-122"/>
                <a:cs typeface="Arial" pitchFamily="34" charset="-120"/>
              </a:rPr>
              <a:t>cho rằng số kỳ thanh toán càng nhiều thì review càng khắt khe </a:t>
            </a:r>
          </a:p>
          <a:p>
            <a:pPr marL="0" indent="0" algn="just">
              <a:lnSpc>
                <a:spcPct val="115000"/>
              </a:lnSpc>
              <a:buNone/>
            </a:pPr>
            <a:r>
              <a:rPr lang="vi-VN" sz="1050" dirty="0" smtClean="0">
                <a:solidFill>
                  <a:srgbClr val="3A3F55"/>
                </a:solidFill>
                <a:latin typeface="Arial" pitchFamily="34" charset="0"/>
                <a:ea typeface="Arial" pitchFamily="34" charset="-122"/>
                <a:cs typeface="Arial" pitchFamily="34" charset="-120"/>
              </a:rPr>
              <a:t>=&gt;</a:t>
            </a:r>
            <a:r>
              <a:rPr lang="en-US" sz="1050" dirty="0" smtClean="0">
                <a:solidFill>
                  <a:srgbClr val="3A3F55"/>
                </a:solidFill>
                <a:latin typeface="Arial" pitchFamily="34" charset="0"/>
                <a:ea typeface="Arial" pitchFamily="34" charset="-122"/>
                <a:cs typeface="Arial" pitchFamily="34" charset="-120"/>
              </a:rPr>
              <a:t> </a:t>
            </a:r>
            <a:r>
              <a:rPr lang="vi-VN" sz="1050" dirty="0" smtClean="0">
                <a:solidFill>
                  <a:srgbClr val="3A3F55"/>
                </a:solidFill>
                <a:latin typeface="Arial" pitchFamily="34" charset="0"/>
                <a:ea typeface="Arial" pitchFamily="34" charset="-122"/>
                <a:cs typeface="Arial" pitchFamily="34" charset="-120"/>
              </a:rPr>
              <a:t>C</a:t>
            </a:r>
            <a:r>
              <a:rPr lang="en-US" sz="1050" dirty="0" err="1" smtClean="0">
                <a:solidFill>
                  <a:srgbClr val="3A3F55"/>
                </a:solidFill>
                <a:latin typeface="Arial" pitchFamily="34" charset="0"/>
                <a:ea typeface="Arial" pitchFamily="34" charset="-122"/>
                <a:cs typeface="Arial" pitchFamily="34" charset="-120"/>
              </a:rPr>
              <a:t>ủng</a:t>
            </a:r>
            <a:r>
              <a:rPr lang="en-US" sz="1050" dirty="0" smtClean="0">
                <a:solidFill>
                  <a:srgbClr val="3A3F55"/>
                </a:solidFill>
                <a:latin typeface="Arial" pitchFamily="34" charset="0"/>
                <a:ea typeface="Arial" pitchFamily="34" charset="-122"/>
                <a:cs typeface="Arial" pitchFamily="34" charset="-120"/>
              </a:rPr>
              <a:t> </a:t>
            </a:r>
            <a:r>
              <a:rPr lang="en-US" sz="1050" dirty="0">
                <a:solidFill>
                  <a:srgbClr val="3A3F55"/>
                </a:solidFill>
                <a:latin typeface="Arial" pitchFamily="34" charset="0"/>
                <a:ea typeface="Arial" pitchFamily="34" charset="-122"/>
                <a:cs typeface="Arial" pitchFamily="34" charset="-120"/>
              </a:rPr>
              <a:t>cố insight logistics là yếu tố quyết định thật sự.</a:t>
            </a:r>
            <a:endParaRPr lang="en-US" sz="1050" dirty="0"/>
          </a:p>
        </p:txBody>
      </p:sp>
      <p:sp>
        <p:nvSpPr>
          <p:cNvPr id="22" name="Text 19"/>
          <p:cNvSpPr/>
          <p:nvPr/>
        </p:nvSpPr>
        <p:spPr>
          <a:xfrm>
            <a:off x="457200" y="6473952"/>
            <a:ext cx="5486400" cy="274320"/>
          </a:xfrm>
          <a:prstGeom prst="rect">
            <a:avLst/>
          </a:prstGeom>
          <a:noFill/>
          <a:ln/>
        </p:spPr>
        <p:txBody>
          <a:bodyPr wrap="square" rtlCol="0" anchor="ctr"/>
          <a:lstStyle/>
          <a:p>
            <a:pPr marL="0" indent="0" algn="l">
              <a:buNone/>
            </a:pPr>
            <a:r>
              <a:rPr lang="en-US" sz="900" dirty="0">
                <a:solidFill>
                  <a:srgbClr val="9AA3B8"/>
                </a:solidFill>
                <a:latin typeface="Arial" pitchFamily="34" charset="0"/>
                <a:ea typeface="Arial" pitchFamily="34" charset="-122"/>
                <a:cs typeface="Arial" pitchFamily="34" charset="-120"/>
              </a:rPr>
              <a:t>OLIST ECOMMERCE ANALYTICS</a:t>
            </a:r>
            <a:endParaRPr lang="en-US" sz="900" dirty="0"/>
          </a:p>
        </p:txBody>
      </p:sp>
      <p:sp>
        <p:nvSpPr>
          <p:cNvPr id="23" name="Text 20"/>
          <p:cNvSpPr/>
          <p:nvPr/>
        </p:nvSpPr>
        <p:spPr>
          <a:xfrm>
            <a:off x="8074152" y="6473952"/>
            <a:ext cx="3657600" cy="274320"/>
          </a:xfrm>
          <a:prstGeom prst="rect">
            <a:avLst/>
          </a:prstGeom>
          <a:noFill/>
          <a:ln/>
        </p:spPr>
        <p:txBody>
          <a:bodyPr wrap="square" rtlCol="0" anchor="ctr"/>
          <a:lstStyle/>
          <a:p>
            <a:pPr marL="0" indent="0" algn="r">
              <a:buNone/>
            </a:pPr>
            <a:r>
              <a:rPr lang="en-US" sz="900" dirty="0">
                <a:solidFill>
                  <a:srgbClr val="9AA3B8"/>
                </a:solidFill>
                <a:latin typeface="Arial" pitchFamily="34" charset="0"/>
                <a:ea typeface="Arial" pitchFamily="34" charset="-122"/>
                <a:cs typeface="Arial" pitchFamily="34" charset="-120"/>
              </a:rPr>
              <a:t>011</a:t>
            </a:r>
            <a:endParaRPr lang="en-US" sz="900" dirty="0"/>
          </a:p>
        </p:txBody>
      </p:sp>
      <p:sp>
        <p:nvSpPr>
          <p:cNvPr id="24" name="Shape 3"/>
          <p:cNvSpPr/>
          <p:nvPr/>
        </p:nvSpPr>
        <p:spPr>
          <a:xfrm>
            <a:off x="548640" y="960120"/>
            <a:ext cx="6903720" cy="4232665"/>
          </a:xfrm>
          <a:prstGeom prst="roundRect">
            <a:avLst>
              <a:gd name="adj" fmla="val 706"/>
            </a:avLst>
          </a:prstGeom>
          <a:ln w="19050">
            <a:solidFill>
              <a:srgbClr val="E9ECF5"/>
            </a:solidFill>
            <a:prstDash val="solid"/>
          </a:ln>
        </p:spPr>
      </p:sp>
      <p:pic>
        <p:nvPicPr>
          <p:cNvPr id="5" name="Picture 4"/>
          <p:cNvPicPr>
            <a:picLocks noChangeAspect="1"/>
          </p:cNvPicPr>
          <p:nvPr/>
        </p:nvPicPr>
        <p:blipFill>
          <a:blip r:embed="rId3"/>
          <a:stretch>
            <a:fillRect/>
          </a:stretch>
        </p:blipFill>
        <p:spPr>
          <a:xfrm>
            <a:off x="602367" y="991379"/>
            <a:ext cx="6796265" cy="4174981"/>
          </a:xfrm>
          <a:prstGeom prst="rect">
            <a:avLst/>
          </a:prstGeom>
        </p:spPr>
      </p:pic>
    </p:spTree>
  </p:cSld>
  <p:clrMapOvr>
    <a:masterClrMapping/>
  </p:clrMapOvr>
  <p:transition spd="slow">
    <p:wip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C"/>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Tổng hợp 4 Insight trọng tâm</a:t>
            </a:r>
            <a:endParaRPr lang="en-US" sz="3000" dirty="0"/>
          </a:p>
        </p:txBody>
      </p:sp>
      <p:sp>
        <p:nvSpPr>
          <p:cNvPr id="3" name="Text 1"/>
          <p:cNvSpPr/>
          <p:nvPr/>
        </p:nvSpPr>
        <p:spPr>
          <a:xfrm>
            <a:off x="548640" y="932688"/>
            <a:ext cx="11091672" cy="365760"/>
          </a:xfrm>
          <a:prstGeom prst="rect">
            <a:avLst/>
          </a:prstGeom>
          <a:noFill/>
          <a:ln/>
        </p:spPr>
        <p:txBody>
          <a:bodyPr wrap="square" rtlCol="0" anchor="ctr"/>
          <a:lstStyle/>
          <a:p>
            <a:pPr marL="0" indent="0">
              <a:buNone/>
            </a:pPr>
            <a:r>
              <a:rPr lang="en-US" sz="1300" i="1" dirty="0">
                <a:solidFill>
                  <a:srgbClr val="6B7280"/>
                </a:solidFill>
                <a:latin typeface="Arial" pitchFamily="34" charset="0"/>
                <a:ea typeface="Arial" pitchFamily="34" charset="-122"/>
                <a:cs typeface="Arial" pitchFamily="34" charset="-120"/>
              </a:rPr>
              <a:t>Phát hiện → Bằng chứng → Ý nghĩa kinh doanh</a:t>
            </a:r>
            <a:endParaRPr lang="en-US" sz="1300" dirty="0"/>
          </a:p>
        </p:txBody>
      </p:sp>
      <p:sp>
        <p:nvSpPr>
          <p:cNvPr id="4" name="Shape 2"/>
          <p:cNvSpPr/>
          <p:nvPr/>
        </p:nvSpPr>
        <p:spPr>
          <a:xfrm>
            <a:off x="621792" y="1280160"/>
            <a:ext cx="5440680" cy="2331720"/>
          </a:xfrm>
          <a:prstGeom prst="roundRect">
            <a:avLst>
              <a:gd name="adj" fmla="val 2353"/>
            </a:avLst>
          </a:prstGeom>
          <a:solidFill>
            <a:srgbClr val="FFFFFF"/>
          </a:solidFill>
          <a:ln w="12700">
            <a:solidFill>
              <a:srgbClr val="E9ECF5"/>
            </a:solidFill>
            <a:prstDash val="solid"/>
          </a:ln>
          <a:effectLst>
            <a:outerShdw blurRad="63500" dist="25400" dir="5400000" algn="bl" rotWithShape="0">
              <a:srgbClr val="1E2761">
                <a:alpha val="10000"/>
              </a:srgbClr>
            </a:outerShdw>
          </a:effectLst>
        </p:spPr>
      </p:sp>
      <p:sp>
        <p:nvSpPr>
          <p:cNvPr id="5" name="Shape 3"/>
          <p:cNvSpPr/>
          <p:nvPr/>
        </p:nvSpPr>
        <p:spPr>
          <a:xfrm>
            <a:off x="713232" y="1444752"/>
            <a:ext cx="384048" cy="384048"/>
          </a:xfrm>
          <a:prstGeom prst="ellipse">
            <a:avLst/>
          </a:prstGeom>
          <a:solidFill>
            <a:srgbClr val="E8590C"/>
          </a:solidFill>
          <a:ln/>
        </p:spPr>
      </p:sp>
      <p:sp>
        <p:nvSpPr>
          <p:cNvPr id="6" name="Text 4"/>
          <p:cNvSpPr/>
          <p:nvPr/>
        </p:nvSpPr>
        <p:spPr>
          <a:xfrm>
            <a:off x="713232" y="1444752"/>
            <a:ext cx="384048" cy="384048"/>
          </a:xfrm>
          <a:prstGeom prst="rect">
            <a:avLst/>
          </a:prstGeom>
          <a:noFill/>
          <a:ln/>
        </p:spPr>
        <p:txBody>
          <a:bodyPr wrap="square" rtlCol="0" anchor="ctr"/>
          <a:lstStyle/>
          <a:p>
            <a:pPr marL="0" indent="0" algn="ctr">
              <a:buNone/>
            </a:pPr>
            <a:r>
              <a:rPr lang="en-US" sz="1092" b="1" dirty="0">
                <a:solidFill>
                  <a:srgbClr val="FFFFFF"/>
                </a:solidFill>
                <a:latin typeface="Arial" pitchFamily="34" charset="0"/>
                <a:ea typeface="Arial" pitchFamily="34" charset="-122"/>
                <a:cs typeface="Arial" pitchFamily="34" charset="-120"/>
              </a:rPr>
              <a:t>1</a:t>
            </a:r>
            <a:endParaRPr lang="en-US" sz="1092" dirty="0"/>
          </a:p>
        </p:txBody>
      </p:sp>
      <p:sp>
        <p:nvSpPr>
          <p:cNvPr id="7" name="Text 5"/>
          <p:cNvSpPr/>
          <p:nvPr/>
        </p:nvSpPr>
        <p:spPr>
          <a:xfrm>
            <a:off x="1207008" y="1426464"/>
            <a:ext cx="4617720" cy="457200"/>
          </a:xfrm>
          <a:prstGeom prst="rect">
            <a:avLst/>
          </a:prstGeom>
          <a:noFill/>
          <a:ln/>
        </p:spPr>
        <p:txBody>
          <a:bodyPr wrap="square" rtlCol="0" anchor="ctr"/>
          <a:lstStyle/>
          <a:p>
            <a:pPr marL="0" indent="0">
              <a:buNone/>
            </a:pPr>
            <a:r>
              <a:rPr lang="en-US" sz="1350" b="1" dirty="0">
                <a:solidFill>
                  <a:srgbClr val="1E2761"/>
                </a:solidFill>
                <a:latin typeface="Arial" pitchFamily="34" charset="0"/>
                <a:ea typeface="Arial" pitchFamily="34" charset="-122"/>
                <a:cs typeface="Arial" pitchFamily="34" charset="-120"/>
              </a:rPr>
              <a:t>Logistics quyết định sự hài lòng khách hàng</a:t>
            </a:r>
            <a:endParaRPr lang="en-US" sz="1350" dirty="0"/>
          </a:p>
        </p:txBody>
      </p:sp>
      <p:sp>
        <p:nvSpPr>
          <p:cNvPr id="8" name="Text 6"/>
          <p:cNvSpPr/>
          <p:nvPr/>
        </p:nvSpPr>
        <p:spPr>
          <a:xfrm>
            <a:off x="804672" y="1993392"/>
            <a:ext cx="4928616" cy="1417320"/>
          </a:xfrm>
          <a:prstGeom prst="rect">
            <a:avLst/>
          </a:prstGeom>
          <a:noFill/>
          <a:ln/>
        </p:spPr>
        <p:txBody>
          <a:bodyPr wrap="square" rtlCol="0" anchor="t"/>
          <a:lstStyle/>
          <a:p>
            <a:pPr marL="0" indent="0" algn="just">
              <a:lnSpc>
                <a:spcPct val="115000"/>
              </a:lnSpc>
              <a:buNone/>
            </a:pPr>
            <a:r>
              <a:rPr lang="en-US" sz="1050" dirty="0">
                <a:solidFill>
                  <a:srgbClr val="3A3F55"/>
                </a:solidFill>
                <a:latin typeface="Arial" pitchFamily="34" charset="0"/>
                <a:ea typeface="Arial" pitchFamily="34" charset="-122"/>
                <a:cs typeface="Arial" pitchFamily="34" charset="-120"/>
              </a:rPr>
              <a:t>Đơn 1★ chờ 18 </a:t>
            </a:r>
            <a:r>
              <a:rPr lang="en-US" sz="1050" dirty="0" err="1">
                <a:solidFill>
                  <a:srgbClr val="3A3F55"/>
                </a:solidFill>
                <a:latin typeface="Arial" pitchFamily="34" charset="0"/>
                <a:ea typeface="Arial" pitchFamily="34" charset="-122"/>
                <a:cs typeface="Arial" pitchFamily="34" charset="-120"/>
              </a:rPr>
              <a:t>ngày</a:t>
            </a:r>
            <a:r>
              <a:rPr lang="en-US" sz="1050" dirty="0">
                <a:solidFill>
                  <a:srgbClr val="3A3F55"/>
                </a:solidFill>
                <a:latin typeface="Arial" pitchFamily="34" charset="0"/>
                <a:ea typeface="Arial" pitchFamily="34" charset="-122"/>
                <a:cs typeface="Arial" pitchFamily="34" charset="-120"/>
              </a:rPr>
              <a:t> </a:t>
            </a:r>
            <a:r>
              <a:rPr lang="en-US" sz="1050" dirty="0" smtClean="0">
                <a:solidFill>
                  <a:srgbClr val="3A3F55"/>
                </a:solidFill>
                <a:latin typeface="Arial" pitchFamily="34" charset="0"/>
                <a:ea typeface="Arial" pitchFamily="34" charset="-122"/>
                <a:cs typeface="Arial" pitchFamily="34" charset="-120"/>
              </a:rPr>
              <a:t>so </a:t>
            </a:r>
            <a:r>
              <a:rPr lang="en-US" sz="1050" dirty="0" err="1" smtClean="0">
                <a:solidFill>
                  <a:srgbClr val="3A3F55"/>
                </a:solidFill>
                <a:latin typeface="Arial" pitchFamily="34" charset="0"/>
                <a:ea typeface="Arial" pitchFamily="34" charset="-122"/>
                <a:cs typeface="Arial" pitchFamily="34" charset="-120"/>
              </a:rPr>
              <a:t>với</a:t>
            </a:r>
            <a:r>
              <a:rPr lang="en-US" sz="1050" dirty="0" smtClean="0">
                <a:solidFill>
                  <a:srgbClr val="3A3F55"/>
                </a:solidFill>
                <a:latin typeface="Arial" pitchFamily="34" charset="0"/>
                <a:ea typeface="Arial" pitchFamily="34" charset="-122"/>
                <a:cs typeface="Arial" pitchFamily="34" charset="-120"/>
              </a:rPr>
              <a:t> </a:t>
            </a:r>
            <a:r>
              <a:rPr lang="en-US" sz="1050" dirty="0">
                <a:solidFill>
                  <a:srgbClr val="3A3F55"/>
                </a:solidFill>
                <a:latin typeface="Arial" pitchFamily="34" charset="0"/>
                <a:ea typeface="Arial" pitchFamily="34" charset="-122"/>
                <a:cs typeface="Arial" pitchFamily="34" charset="-120"/>
              </a:rPr>
              <a:t>5★ </a:t>
            </a:r>
            <a:r>
              <a:rPr lang="en-US" sz="1050" dirty="0" err="1">
                <a:solidFill>
                  <a:srgbClr val="3A3F55"/>
                </a:solidFill>
                <a:latin typeface="Arial" pitchFamily="34" charset="0"/>
                <a:ea typeface="Arial" pitchFamily="34" charset="-122"/>
                <a:cs typeface="Arial" pitchFamily="34" charset="-120"/>
              </a:rPr>
              <a:t>chỉ</a:t>
            </a:r>
            <a:r>
              <a:rPr lang="en-US" sz="1050" dirty="0">
                <a:solidFill>
                  <a:srgbClr val="3A3F55"/>
                </a:solidFill>
                <a:latin typeface="Arial" pitchFamily="34" charset="0"/>
                <a:ea typeface="Arial" pitchFamily="34" charset="-122"/>
                <a:cs typeface="Arial" pitchFamily="34" charset="-120"/>
              </a:rPr>
              <a:t> </a:t>
            </a:r>
            <a:r>
              <a:rPr lang="en-US" sz="1050" dirty="0" smtClean="0">
                <a:solidFill>
                  <a:srgbClr val="3A3F55"/>
                </a:solidFill>
                <a:latin typeface="Arial" pitchFamily="34" charset="0"/>
                <a:ea typeface="Arial" pitchFamily="34" charset="-122"/>
                <a:cs typeface="Arial" pitchFamily="34" charset="-120"/>
              </a:rPr>
              <a:t> cần11 </a:t>
            </a:r>
            <a:r>
              <a:rPr lang="en-US" sz="1050" dirty="0" err="1" smtClean="0">
                <a:solidFill>
                  <a:srgbClr val="3A3F55"/>
                </a:solidFill>
                <a:latin typeface="Arial" pitchFamily="34" charset="0"/>
                <a:ea typeface="Arial" pitchFamily="34" charset="-122"/>
                <a:cs typeface="Arial" pitchFamily="34" charset="-120"/>
              </a:rPr>
              <a:t>ngày</a:t>
            </a:r>
            <a:r>
              <a:rPr lang="en-US" sz="1050" dirty="0" smtClean="0">
                <a:solidFill>
                  <a:srgbClr val="3A3F55"/>
                </a:solidFill>
                <a:latin typeface="Arial" pitchFamily="34" charset="0"/>
                <a:ea typeface="Arial" pitchFamily="34" charset="-122"/>
                <a:cs typeface="Arial" pitchFamily="34" charset="-120"/>
              </a:rPr>
              <a:t> </a:t>
            </a:r>
            <a:r>
              <a:rPr lang="en-US" sz="1050" dirty="0" err="1" smtClean="0">
                <a:solidFill>
                  <a:srgbClr val="3A3F55"/>
                </a:solidFill>
                <a:latin typeface="Arial" pitchFamily="34" charset="0"/>
                <a:ea typeface="Arial" pitchFamily="34" charset="-122"/>
                <a:cs typeface="Arial" pitchFamily="34" charset="-120"/>
              </a:rPr>
              <a:t>giao</a:t>
            </a:r>
            <a:r>
              <a:rPr lang="en-US" sz="1050" dirty="0" smtClean="0">
                <a:solidFill>
                  <a:srgbClr val="3A3F55"/>
                </a:solidFill>
                <a:latin typeface="Arial" pitchFamily="34" charset="0"/>
                <a:ea typeface="Arial" pitchFamily="34" charset="-122"/>
                <a:cs typeface="Arial" pitchFamily="34" charset="-120"/>
              </a:rPr>
              <a:t> </a:t>
            </a:r>
            <a:r>
              <a:rPr lang="en-US" sz="1050" dirty="0" err="1" smtClean="0">
                <a:solidFill>
                  <a:srgbClr val="3A3F55"/>
                </a:solidFill>
                <a:latin typeface="Arial" pitchFamily="34" charset="0"/>
                <a:ea typeface="Arial" pitchFamily="34" charset="-122"/>
                <a:cs typeface="Arial" pitchFamily="34" charset="-120"/>
              </a:rPr>
              <a:t>hàng</a:t>
            </a:r>
            <a:r>
              <a:rPr lang="en-US" sz="1050" dirty="0" smtClean="0">
                <a:solidFill>
                  <a:srgbClr val="3A3F55"/>
                </a:solidFill>
                <a:latin typeface="Arial" pitchFamily="34" charset="0"/>
                <a:ea typeface="Arial" pitchFamily="34" charset="-122"/>
                <a:cs typeface="Arial" pitchFamily="34" charset="-120"/>
              </a:rPr>
              <a:t>. </a:t>
            </a:r>
            <a:r>
              <a:rPr lang="en-US" sz="1050" dirty="0">
                <a:solidFill>
                  <a:srgbClr val="3A3F55"/>
                </a:solidFill>
                <a:latin typeface="Arial" pitchFamily="34" charset="0"/>
                <a:ea typeface="Arial" pitchFamily="34" charset="-122"/>
                <a:cs typeface="Arial" pitchFamily="34" charset="-120"/>
              </a:rPr>
              <a:t>Late Rate trong nhóm review thấp cao gấp 3.6x. 37.1% comment tiêu cực </a:t>
            </a:r>
            <a:r>
              <a:rPr lang="en-US" sz="1050" dirty="0" err="1">
                <a:solidFill>
                  <a:srgbClr val="3A3F55"/>
                </a:solidFill>
                <a:latin typeface="Arial" pitchFamily="34" charset="0"/>
                <a:ea typeface="Arial" pitchFamily="34" charset="-122"/>
                <a:cs typeface="Arial" pitchFamily="34" charset="-120"/>
              </a:rPr>
              <a:t>nhắc</a:t>
            </a:r>
            <a:r>
              <a:rPr lang="en-US" sz="1050" dirty="0">
                <a:solidFill>
                  <a:srgbClr val="3A3F55"/>
                </a:solidFill>
                <a:latin typeface="Arial" pitchFamily="34" charset="0"/>
                <a:ea typeface="Arial" pitchFamily="34" charset="-122"/>
                <a:cs typeface="Arial" pitchFamily="34" charset="-120"/>
              </a:rPr>
              <a:t> </a:t>
            </a:r>
            <a:r>
              <a:rPr lang="en-US" sz="1050" dirty="0" err="1" smtClean="0">
                <a:solidFill>
                  <a:srgbClr val="3A3F55"/>
                </a:solidFill>
                <a:latin typeface="Arial" pitchFamily="34" charset="0"/>
                <a:ea typeface="Arial" pitchFamily="34" charset="-122"/>
                <a:cs typeface="Arial" pitchFamily="34" charset="-120"/>
              </a:rPr>
              <a:t>đến</a:t>
            </a:r>
            <a:r>
              <a:rPr lang="en-US" sz="1050" dirty="0" smtClean="0">
                <a:solidFill>
                  <a:srgbClr val="3A3F55"/>
                </a:solidFill>
                <a:latin typeface="Arial" pitchFamily="34" charset="0"/>
                <a:ea typeface="Arial" pitchFamily="34" charset="-122"/>
                <a:cs typeface="Arial" pitchFamily="34" charset="-120"/>
              </a:rPr>
              <a:t> </a:t>
            </a:r>
            <a:r>
              <a:rPr lang="en-US" sz="1050" dirty="0" err="1" smtClean="0">
                <a:solidFill>
                  <a:srgbClr val="3A3F55"/>
                </a:solidFill>
                <a:latin typeface="Arial" pitchFamily="34" charset="0"/>
                <a:ea typeface="Arial" pitchFamily="34" charset="-122"/>
                <a:cs typeface="Arial" pitchFamily="34" charset="-120"/>
              </a:rPr>
              <a:t>vấn</a:t>
            </a:r>
            <a:r>
              <a:rPr lang="en-US" sz="1050" dirty="0" smtClean="0">
                <a:solidFill>
                  <a:srgbClr val="3A3F55"/>
                </a:solidFill>
                <a:latin typeface="Arial" pitchFamily="34" charset="0"/>
                <a:ea typeface="Arial" pitchFamily="34" charset="-122"/>
                <a:cs typeface="Arial" pitchFamily="34" charset="-120"/>
              </a:rPr>
              <a:t> </a:t>
            </a:r>
            <a:r>
              <a:rPr lang="en-US" sz="1050" dirty="0" err="1" smtClean="0">
                <a:solidFill>
                  <a:srgbClr val="3A3F55"/>
                </a:solidFill>
                <a:latin typeface="Arial" pitchFamily="34" charset="0"/>
                <a:ea typeface="Arial" pitchFamily="34" charset="-122"/>
                <a:cs typeface="Arial" pitchFamily="34" charset="-120"/>
              </a:rPr>
              <a:t>đề</a:t>
            </a:r>
            <a:r>
              <a:rPr lang="en-US" sz="1050" dirty="0" smtClean="0">
                <a:solidFill>
                  <a:srgbClr val="3A3F55"/>
                </a:solidFill>
                <a:latin typeface="Arial" pitchFamily="34" charset="0"/>
                <a:ea typeface="Arial" pitchFamily="34" charset="-122"/>
                <a:cs typeface="Arial" pitchFamily="34" charset="-120"/>
              </a:rPr>
              <a:t> </a:t>
            </a:r>
            <a:r>
              <a:rPr lang="en-US" sz="1050" dirty="0">
                <a:solidFill>
                  <a:srgbClr val="3A3F55"/>
                </a:solidFill>
                <a:latin typeface="Arial" pitchFamily="34" charset="0"/>
                <a:ea typeface="Arial" pitchFamily="34" charset="-122"/>
                <a:cs typeface="Arial" pitchFamily="34" charset="-120"/>
              </a:rPr>
              <a:t>giao </a:t>
            </a:r>
            <a:r>
              <a:rPr lang="en-US" sz="1050" dirty="0" err="1">
                <a:solidFill>
                  <a:srgbClr val="3A3F55"/>
                </a:solidFill>
                <a:latin typeface="Arial" pitchFamily="34" charset="0"/>
                <a:ea typeface="Arial" pitchFamily="34" charset="-122"/>
                <a:cs typeface="Arial" pitchFamily="34" charset="-120"/>
              </a:rPr>
              <a:t>hàng</a:t>
            </a:r>
            <a:r>
              <a:rPr lang="en-US" sz="1050" dirty="0" smtClean="0">
                <a:solidFill>
                  <a:srgbClr val="3A3F55"/>
                </a:solidFill>
                <a:latin typeface="Arial" pitchFamily="34" charset="0"/>
                <a:ea typeface="Arial" pitchFamily="34" charset="-122"/>
                <a:cs typeface="Arial" pitchFamily="34" charset="-120"/>
              </a:rPr>
              <a:t>.</a:t>
            </a:r>
            <a:endParaRPr lang="vi-VN" sz="1050" dirty="0" smtClean="0">
              <a:solidFill>
                <a:srgbClr val="3A3F55"/>
              </a:solidFill>
              <a:latin typeface="Arial" pitchFamily="34" charset="0"/>
              <a:ea typeface="Arial" pitchFamily="34" charset="-122"/>
              <a:cs typeface="Arial" pitchFamily="34" charset="-120"/>
            </a:endParaRPr>
          </a:p>
          <a:p>
            <a:pPr algn="just">
              <a:lnSpc>
                <a:spcPct val="115000"/>
              </a:lnSpc>
            </a:pPr>
            <a:r>
              <a:rPr lang="vi-VN" sz="1050" dirty="0" smtClean="0">
                <a:solidFill>
                  <a:srgbClr val="3A3F55"/>
                </a:solidFill>
                <a:cs typeface="Arial" pitchFamily="34" charset="-120"/>
              </a:rPr>
              <a:t>=&gt; Đầu </a:t>
            </a:r>
            <a:r>
              <a:rPr lang="vi-VN" sz="1050" dirty="0">
                <a:solidFill>
                  <a:srgbClr val="3A3F55"/>
                </a:solidFill>
                <a:cs typeface="Arial" pitchFamily="34" charset="-120"/>
              </a:rPr>
              <a:t>tư cải thiện tốc độ giao hàng sẽ mang lại tác động lớn hơn nhiều so với các chính sách tài chính/khuyến mãi thanh toán.</a:t>
            </a:r>
            <a:endParaRPr lang="en-US" sz="1050" dirty="0"/>
          </a:p>
        </p:txBody>
      </p:sp>
      <p:sp>
        <p:nvSpPr>
          <p:cNvPr id="9" name="Shape 7"/>
          <p:cNvSpPr/>
          <p:nvPr/>
        </p:nvSpPr>
        <p:spPr>
          <a:xfrm>
            <a:off x="6172200" y="1280160"/>
            <a:ext cx="5440680" cy="2331720"/>
          </a:xfrm>
          <a:prstGeom prst="roundRect">
            <a:avLst>
              <a:gd name="adj" fmla="val 2353"/>
            </a:avLst>
          </a:prstGeom>
          <a:solidFill>
            <a:srgbClr val="FFFFFF"/>
          </a:solidFill>
          <a:ln w="12700">
            <a:solidFill>
              <a:srgbClr val="E9ECF5"/>
            </a:solidFill>
            <a:prstDash val="solid"/>
          </a:ln>
          <a:effectLst>
            <a:outerShdw blurRad="63500" dist="25400" dir="5400000" algn="bl" rotWithShape="0">
              <a:srgbClr val="1E2761">
                <a:alpha val="10000"/>
              </a:srgbClr>
            </a:outerShdw>
          </a:effectLst>
        </p:spPr>
      </p:sp>
      <p:sp>
        <p:nvSpPr>
          <p:cNvPr id="10" name="Shape 8"/>
          <p:cNvSpPr/>
          <p:nvPr/>
        </p:nvSpPr>
        <p:spPr>
          <a:xfrm>
            <a:off x="6336792" y="1444752"/>
            <a:ext cx="384048" cy="384048"/>
          </a:xfrm>
          <a:prstGeom prst="ellipse">
            <a:avLst/>
          </a:prstGeom>
          <a:solidFill>
            <a:srgbClr val="2E5EAA"/>
          </a:solidFill>
          <a:ln/>
        </p:spPr>
      </p:sp>
      <p:sp>
        <p:nvSpPr>
          <p:cNvPr id="11" name="Text 9"/>
          <p:cNvSpPr/>
          <p:nvPr/>
        </p:nvSpPr>
        <p:spPr>
          <a:xfrm>
            <a:off x="6336792" y="1444752"/>
            <a:ext cx="384048" cy="384048"/>
          </a:xfrm>
          <a:prstGeom prst="rect">
            <a:avLst/>
          </a:prstGeom>
          <a:noFill/>
          <a:ln/>
        </p:spPr>
        <p:txBody>
          <a:bodyPr wrap="square" rtlCol="0" anchor="ctr"/>
          <a:lstStyle/>
          <a:p>
            <a:pPr marL="0" indent="0" algn="ctr">
              <a:buNone/>
            </a:pPr>
            <a:r>
              <a:rPr lang="en-US" sz="1092" b="1" dirty="0">
                <a:solidFill>
                  <a:srgbClr val="FFFFFF"/>
                </a:solidFill>
                <a:latin typeface="Arial" pitchFamily="34" charset="0"/>
                <a:ea typeface="Arial" pitchFamily="34" charset="-122"/>
                <a:cs typeface="Arial" pitchFamily="34" charset="-120"/>
              </a:rPr>
              <a:t>2</a:t>
            </a:r>
            <a:endParaRPr lang="en-US" sz="1092" dirty="0"/>
          </a:p>
        </p:txBody>
      </p:sp>
      <p:sp>
        <p:nvSpPr>
          <p:cNvPr id="12" name="Text 10"/>
          <p:cNvSpPr/>
          <p:nvPr/>
        </p:nvSpPr>
        <p:spPr>
          <a:xfrm>
            <a:off x="6830568" y="1426464"/>
            <a:ext cx="4617720" cy="457200"/>
          </a:xfrm>
          <a:prstGeom prst="rect">
            <a:avLst/>
          </a:prstGeom>
          <a:noFill/>
          <a:ln/>
        </p:spPr>
        <p:txBody>
          <a:bodyPr wrap="square" rtlCol="0" anchor="ctr"/>
          <a:lstStyle/>
          <a:p>
            <a:pPr marL="0" indent="0">
              <a:buNone/>
            </a:pPr>
            <a:r>
              <a:rPr lang="en-US" sz="1350" b="1" dirty="0">
                <a:solidFill>
                  <a:srgbClr val="1E2761"/>
                </a:solidFill>
                <a:latin typeface="Arial" pitchFamily="34" charset="0"/>
                <a:ea typeface="Arial" pitchFamily="34" charset="-122"/>
                <a:cs typeface="Arial" pitchFamily="34" charset="-120"/>
              </a:rPr>
              <a:t>Doanh thu phụ thuộc cao vào ít ngành hàng</a:t>
            </a:r>
            <a:endParaRPr lang="en-US" sz="1350" dirty="0"/>
          </a:p>
        </p:txBody>
      </p:sp>
      <p:sp>
        <p:nvSpPr>
          <p:cNvPr id="13" name="Text 11"/>
          <p:cNvSpPr/>
          <p:nvPr/>
        </p:nvSpPr>
        <p:spPr>
          <a:xfrm>
            <a:off x="6428232" y="1993392"/>
            <a:ext cx="4928616" cy="1417320"/>
          </a:xfrm>
          <a:prstGeom prst="rect">
            <a:avLst/>
          </a:prstGeom>
          <a:noFill/>
          <a:ln/>
        </p:spPr>
        <p:txBody>
          <a:bodyPr wrap="square" rtlCol="0" anchor="t"/>
          <a:lstStyle/>
          <a:p>
            <a:pPr marL="0" indent="0" algn="just">
              <a:lnSpc>
                <a:spcPct val="115000"/>
              </a:lnSpc>
              <a:buNone/>
            </a:pPr>
            <a:r>
              <a:rPr lang="en-US" sz="1050" dirty="0">
                <a:solidFill>
                  <a:srgbClr val="3A3F55"/>
                </a:solidFill>
                <a:latin typeface="Arial" pitchFamily="34" charset="0"/>
                <a:ea typeface="Arial" pitchFamily="34" charset="-122"/>
                <a:cs typeface="Arial" pitchFamily="34" charset="-120"/>
              </a:rPr>
              <a:t>Top 5/74 category chiếm 39.16% GMV toàn sàn — rủi ro tập trung, cần đa dạng hóa danh </a:t>
            </a:r>
            <a:r>
              <a:rPr lang="en-US" sz="1050" dirty="0" err="1">
                <a:solidFill>
                  <a:srgbClr val="3A3F55"/>
                </a:solidFill>
                <a:latin typeface="Arial" pitchFamily="34" charset="0"/>
                <a:ea typeface="Arial" pitchFamily="34" charset="-122"/>
                <a:cs typeface="Arial" pitchFamily="34" charset="-120"/>
              </a:rPr>
              <a:t>mục</a:t>
            </a:r>
            <a:r>
              <a:rPr lang="en-US" sz="1050" dirty="0" smtClean="0">
                <a:solidFill>
                  <a:srgbClr val="3A3F55"/>
                </a:solidFill>
                <a:latin typeface="Arial" pitchFamily="34" charset="0"/>
                <a:ea typeface="Arial" pitchFamily="34" charset="-122"/>
                <a:cs typeface="Arial" pitchFamily="34" charset="-120"/>
              </a:rPr>
              <a:t>.</a:t>
            </a:r>
            <a:endParaRPr lang="vi-VN" sz="1050" dirty="0" smtClean="0">
              <a:solidFill>
                <a:srgbClr val="3A3F55"/>
              </a:solidFill>
              <a:latin typeface="Arial" pitchFamily="34" charset="0"/>
              <a:ea typeface="Arial" pitchFamily="34" charset="-122"/>
              <a:cs typeface="Arial" pitchFamily="34" charset="-120"/>
            </a:endParaRPr>
          </a:p>
          <a:p>
            <a:pPr algn="just">
              <a:lnSpc>
                <a:spcPct val="115000"/>
              </a:lnSpc>
            </a:pPr>
            <a:r>
              <a:rPr lang="vi-VN" sz="1050" dirty="0">
                <a:solidFill>
                  <a:srgbClr val="3A3F55"/>
                </a:solidFill>
                <a:cs typeface="Arial" pitchFamily="34" charset="-120"/>
              </a:rPr>
              <a:t>=&gt; Rủi ro tập trung — nếu 1 trong các category chủ lực này gặp vấn đề (nguồn hàng, đối thủ cạnh tranh), doanh thu tổng sẽ chịu ảnh hưởng đáng kể.</a:t>
            </a:r>
            <a:endParaRPr lang="en-US" sz="1050" dirty="0"/>
          </a:p>
        </p:txBody>
      </p:sp>
      <p:sp>
        <p:nvSpPr>
          <p:cNvPr id="14" name="Shape 12"/>
          <p:cNvSpPr/>
          <p:nvPr/>
        </p:nvSpPr>
        <p:spPr>
          <a:xfrm>
            <a:off x="615458" y="3776472"/>
            <a:ext cx="5440680" cy="2331720"/>
          </a:xfrm>
          <a:prstGeom prst="roundRect">
            <a:avLst>
              <a:gd name="adj" fmla="val 2353"/>
            </a:avLst>
          </a:prstGeom>
          <a:solidFill>
            <a:srgbClr val="FFFFFF"/>
          </a:solidFill>
          <a:ln w="12700">
            <a:solidFill>
              <a:srgbClr val="E9ECF5"/>
            </a:solidFill>
            <a:prstDash val="solid"/>
          </a:ln>
          <a:effectLst>
            <a:outerShdw blurRad="63500" dist="25400" dir="5400000" algn="bl" rotWithShape="0">
              <a:srgbClr val="1E2761">
                <a:alpha val="10000"/>
              </a:srgbClr>
            </a:outerShdw>
          </a:effectLst>
        </p:spPr>
      </p:sp>
      <p:sp>
        <p:nvSpPr>
          <p:cNvPr id="15" name="Shape 13"/>
          <p:cNvSpPr/>
          <p:nvPr/>
        </p:nvSpPr>
        <p:spPr>
          <a:xfrm>
            <a:off x="713232" y="3959352"/>
            <a:ext cx="384048" cy="384048"/>
          </a:xfrm>
          <a:prstGeom prst="ellipse">
            <a:avLst/>
          </a:prstGeom>
          <a:solidFill>
            <a:srgbClr val="2E5EAA"/>
          </a:solidFill>
          <a:ln/>
        </p:spPr>
      </p:sp>
      <p:sp>
        <p:nvSpPr>
          <p:cNvPr id="16" name="Text 14"/>
          <p:cNvSpPr/>
          <p:nvPr/>
        </p:nvSpPr>
        <p:spPr>
          <a:xfrm>
            <a:off x="713232" y="3959352"/>
            <a:ext cx="384048" cy="384048"/>
          </a:xfrm>
          <a:prstGeom prst="rect">
            <a:avLst/>
          </a:prstGeom>
          <a:noFill/>
          <a:ln/>
        </p:spPr>
        <p:txBody>
          <a:bodyPr wrap="square" rtlCol="0" anchor="ctr"/>
          <a:lstStyle/>
          <a:p>
            <a:pPr marL="0" indent="0" algn="ctr">
              <a:buNone/>
            </a:pPr>
            <a:r>
              <a:rPr lang="en-US" sz="1092" b="1" dirty="0">
                <a:solidFill>
                  <a:srgbClr val="FFFFFF"/>
                </a:solidFill>
                <a:latin typeface="Arial" pitchFamily="34" charset="0"/>
                <a:ea typeface="Arial" pitchFamily="34" charset="-122"/>
                <a:cs typeface="Arial" pitchFamily="34" charset="-120"/>
              </a:rPr>
              <a:t>3</a:t>
            </a:r>
            <a:endParaRPr lang="en-US" sz="1092" dirty="0"/>
          </a:p>
        </p:txBody>
      </p:sp>
      <p:sp>
        <p:nvSpPr>
          <p:cNvPr id="17" name="Text 15"/>
          <p:cNvSpPr/>
          <p:nvPr/>
        </p:nvSpPr>
        <p:spPr>
          <a:xfrm>
            <a:off x="1207008" y="3941064"/>
            <a:ext cx="4617720" cy="457200"/>
          </a:xfrm>
          <a:prstGeom prst="rect">
            <a:avLst/>
          </a:prstGeom>
          <a:noFill/>
          <a:ln/>
        </p:spPr>
        <p:txBody>
          <a:bodyPr wrap="square" rtlCol="0" anchor="ctr"/>
          <a:lstStyle/>
          <a:p>
            <a:pPr marL="0" indent="0">
              <a:buNone/>
            </a:pPr>
            <a:r>
              <a:rPr lang="en-US" sz="1350" b="1" dirty="0">
                <a:solidFill>
                  <a:srgbClr val="1E2761"/>
                </a:solidFill>
                <a:latin typeface="Arial" pitchFamily="34" charset="0"/>
                <a:ea typeface="Arial" pitchFamily="34" charset="-122"/>
                <a:cs typeface="Arial" pitchFamily="34" charset="-120"/>
              </a:rPr>
              <a:t>Phần lớn khách hàng chỉ mua 1 lần</a:t>
            </a:r>
            <a:endParaRPr lang="en-US" sz="1350" dirty="0"/>
          </a:p>
        </p:txBody>
      </p:sp>
      <p:sp>
        <p:nvSpPr>
          <p:cNvPr id="18" name="Text 16"/>
          <p:cNvSpPr/>
          <p:nvPr/>
        </p:nvSpPr>
        <p:spPr>
          <a:xfrm>
            <a:off x="804672" y="4507992"/>
            <a:ext cx="4928616" cy="1417320"/>
          </a:xfrm>
          <a:prstGeom prst="rect">
            <a:avLst/>
          </a:prstGeom>
          <a:noFill/>
          <a:ln/>
        </p:spPr>
        <p:txBody>
          <a:bodyPr wrap="square" rtlCol="0" anchor="t"/>
          <a:lstStyle/>
          <a:p>
            <a:pPr marL="0" indent="0" algn="just">
              <a:lnSpc>
                <a:spcPct val="115000"/>
              </a:lnSpc>
              <a:buNone/>
            </a:pPr>
            <a:r>
              <a:rPr lang="en-US" sz="1050" dirty="0">
                <a:solidFill>
                  <a:srgbClr val="3A3F55"/>
                </a:solidFill>
                <a:latin typeface="Arial" pitchFamily="34" charset="0"/>
                <a:ea typeface="Arial" pitchFamily="34" charset="-122"/>
                <a:cs typeface="Arial" pitchFamily="34" charset="-120"/>
              </a:rPr>
              <a:t>Repeat Purchase Rate 3.12%. Chiến lược tăng trưởng nên ưu tiên trải nghiệm </a:t>
            </a:r>
            <a:r>
              <a:rPr lang="en-US" sz="1050" dirty="0" err="1">
                <a:solidFill>
                  <a:srgbClr val="3A3F55"/>
                </a:solidFill>
                <a:latin typeface="Arial" pitchFamily="34" charset="0"/>
                <a:ea typeface="Arial" pitchFamily="34" charset="-122"/>
                <a:cs typeface="Arial" pitchFamily="34" charset="-120"/>
              </a:rPr>
              <a:t>sau</a:t>
            </a:r>
            <a:r>
              <a:rPr lang="en-US" sz="1050" dirty="0">
                <a:solidFill>
                  <a:srgbClr val="3A3F55"/>
                </a:solidFill>
                <a:latin typeface="Arial" pitchFamily="34" charset="0"/>
                <a:ea typeface="Arial" pitchFamily="34" charset="-122"/>
                <a:cs typeface="Arial" pitchFamily="34" charset="-120"/>
              </a:rPr>
              <a:t> </a:t>
            </a:r>
            <a:r>
              <a:rPr lang="en-US" sz="1050" dirty="0" err="1" smtClean="0">
                <a:solidFill>
                  <a:srgbClr val="3A3F55"/>
                </a:solidFill>
                <a:latin typeface="Arial" pitchFamily="34" charset="0"/>
                <a:ea typeface="Arial" pitchFamily="34" charset="-122"/>
                <a:cs typeface="Arial" pitchFamily="34" charset="-120"/>
              </a:rPr>
              <a:t>khi</a:t>
            </a:r>
            <a:r>
              <a:rPr lang="en-US" sz="1050" dirty="0" smtClean="0">
                <a:solidFill>
                  <a:srgbClr val="3A3F55"/>
                </a:solidFill>
                <a:latin typeface="Arial" pitchFamily="34" charset="0"/>
                <a:ea typeface="Arial" pitchFamily="34" charset="-122"/>
                <a:cs typeface="Arial" pitchFamily="34" charset="-120"/>
              </a:rPr>
              <a:t> </a:t>
            </a:r>
            <a:r>
              <a:rPr lang="en-US" sz="1050" dirty="0" err="1" smtClean="0">
                <a:solidFill>
                  <a:srgbClr val="3A3F55"/>
                </a:solidFill>
                <a:latin typeface="Arial" pitchFamily="34" charset="0"/>
                <a:ea typeface="Arial" pitchFamily="34" charset="-122"/>
                <a:cs typeface="Arial" pitchFamily="34" charset="-120"/>
              </a:rPr>
              <a:t>bán</a:t>
            </a:r>
            <a:r>
              <a:rPr lang="en-US" sz="1050" dirty="0" smtClean="0">
                <a:solidFill>
                  <a:srgbClr val="3A3F55"/>
                </a:solidFill>
                <a:latin typeface="Arial" pitchFamily="34" charset="0"/>
                <a:ea typeface="Arial" pitchFamily="34" charset="-122"/>
                <a:cs typeface="Arial" pitchFamily="34" charset="-120"/>
              </a:rPr>
              <a:t> hang </a:t>
            </a:r>
            <a:r>
              <a:rPr lang="en-US" sz="1050" dirty="0" err="1" smtClean="0">
                <a:solidFill>
                  <a:srgbClr val="3A3F55"/>
                </a:solidFill>
                <a:latin typeface="Arial" pitchFamily="34" charset="0"/>
                <a:ea typeface="Arial" pitchFamily="34" charset="-122"/>
                <a:cs typeface="Arial" pitchFamily="34" charset="-120"/>
              </a:rPr>
              <a:t>hơn</a:t>
            </a:r>
            <a:r>
              <a:rPr lang="en-US" sz="1050" dirty="0" smtClean="0">
                <a:solidFill>
                  <a:srgbClr val="3A3F55"/>
                </a:solidFill>
                <a:latin typeface="Arial" pitchFamily="34" charset="0"/>
                <a:ea typeface="Arial" pitchFamily="34" charset="-122"/>
                <a:cs typeface="Arial" pitchFamily="34" charset="-120"/>
              </a:rPr>
              <a:t> </a:t>
            </a:r>
            <a:r>
              <a:rPr lang="en-US" sz="1050" dirty="0" err="1" smtClean="0">
                <a:solidFill>
                  <a:srgbClr val="3A3F55"/>
                </a:solidFill>
                <a:latin typeface="Arial" pitchFamily="34" charset="0"/>
                <a:ea typeface="Arial" pitchFamily="34" charset="-122"/>
                <a:cs typeface="Arial" pitchFamily="34" charset="-120"/>
              </a:rPr>
              <a:t>việc</a:t>
            </a:r>
            <a:r>
              <a:rPr lang="en-US" sz="1050" dirty="0" smtClean="0">
                <a:solidFill>
                  <a:srgbClr val="3A3F55"/>
                </a:solidFill>
                <a:latin typeface="Arial" pitchFamily="34" charset="0"/>
                <a:ea typeface="Arial" pitchFamily="34" charset="-122"/>
                <a:cs typeface="Arial" pitchFamily="34" charset="-120"/>
              </a:rPr>
              <a:t> </a:t>
            </a:r>
            <a:r>
              <a:rPr lang="en-US" sz="1050" dirty="0" err="1" smtClean="0">
                <a:solidFill>
                  <a:srgbClr val="3A3F55"/>
                </a:solidFill>
                <a:latin typeface="Arial" pitchFamily="34" charset="0"/>
                <a:ea typeface="Arial" pitchFamily="34" charset="-122"/>
                <a:cs typeface="Arial" pitchFamily="34" charset="-120"/>
              </a:rPr>
              <a:t>thu</a:t>
            </a:r>
            <a:r>
              <a:rPr lang="en-US" sz="1050" dirty="0" smtClean="0">
                <a:solidFill>
                  <a:srgbClr val="3A3F55"/>
                </a:solidFill>
                <a:latin typeface="Arial" pitchFamily="34" charset="0"/>
                <a:ea typeface="Arial" pitchFamily="34" charset="-122"/>
                <a:cs typeface="Arial" pitchFamily="34" charset="-120"/>
              </a:rPr>
              <a:t> </a:t>
            </a:r>
            <a:r>
              <a:rPr lang="en-US" sz="1050" dirty="0" err="1">
                <a:solidFill>
                  <a:srgbClr val="3A3F55"/>
                </a:solidFill>
                <a:latin typeface="Arial" pitchFamily="34" charset="0"/>
                <a:ea typeface="Arial" pitchFamily="34" charset="-122"/>
                <a:cs typeface="Arial" pitchFamily="34" charset="-120"/>
              </a:rPr>
              <a:t>hút</a:t>
            </a:r>
            <a:r>
              <a:rPr lang="en-US" sz="1050" dirty="0">
                <a:solidFill>
                  <a:srgbClr val="3A3F55"/>
                </a:solidFill>
                <a:latin typeface="Arial" pitchFamily="34" charset="0"/>
                <a:ea typeface="Arial" pitchFamily="34" charset="-122"/>
                <a:cs typeface="Arial" pitchFamily="34" charset="-120"/>
              </a:rPr>
              <a:t> </a:t>
            </a:r>
            <a:r>
              <a:rPr lang="en-US" sz="1050" dirty="0" err="1" smtClean="0">
                <a:solidFill>
                  <a:srgbClr val="3A3F55"/>
                </a:solidFill>
                <a:latin typeface="Arial" pitchFamily="34" charset="0"/>
                <a:ea typeface="Arial" pitchFamily="34" charset="-122"/>
                <a:cs typeface="Arial" pitchFamily="34" charset="-120"/>
              </a:rPr>
              <a:t>tệp</a:t>
            </a:r>
            <a:r>
              <a:rPr lang="en-US" sz="1050" dirty="0" smtClean="0">
                <a:solidFill>
                  <a:srgbClr val="3A3F55"/>
                </a:solidFill>
                <a:latin typeface="Arial" pitchFamily="34" charset="0"/>
                <a:ea typeface="Arial" pitchFamily="34" charset="-122"/>
                <a:cs typeface="Arial" pitchFamily="34" charset="-120"/>
              </a:rPr>
              <a:t> </a:t>
            </a:r>
            <a:r>
              <a:rPr lang="en-US" sz="1050" dirty="0" err="1" smtClean="0">
                <a:solidFill>
                  <a:srgbClr val="3A3F55"/>
                </a:solidFill>
                <a:latin typeface="Arial" pitchFamily="34" charset="0"/>
                <a:ea typeface="Arial" pitchFamily="34" charset="-122"/>
                <a:cs typeface="Arial" pitchFamily="34" charset="-120"/>
              </a:rPr>
              <a:t>khách</a:t>
            </a:r>
            <a:r>
              <a:rPr lang="en-US" sz="1050" dirty="0" smtClean="0">
                <a:solidFill>
                  <a:srgbClr val="3A3F55"/>
                </a:solidFill>
                <a:latin typeface="Arial" pitchFamily="34" charset="0"/>
                <a:ea typeface="Arial" pitchFamily="34" charset="-122"/>
                <a:cs typeface="Arial" pitchFamily="34" charset="-120"/>
              </a:rPr>
              <a:t> </a:t>
            </a:r>
            <a:r>
              <a:rPr lang="en-US" sz="1050" dirty="0" err="1">
                <a:solidFill>
                  <a:srgbClr val="3A3F55"/>
                </a:solidFill>
                <a:latin typeface="Arial" pitchFamily="34" charset="0"/>
                <a:ea typeface="Arial" pitchFamily="34" charset="-122"/>
                <a:cs typeface="Arial" pitchFamily="34" charset="-120"/>
              </a:rPr>
              <a:t>mới</a:t>
            </a:r>
            <a:r>
              <a:rPr lang="en-US" sz="1050" dirty="0" smtClean="0">
                <a:solidFill>
                  <a:srgbClr val="3A3F55"/>
                </a:solidFill>
                <a:latin typeface="Arial" pitchFamily="34" charset="0"/>
                <a:ea typeface="Arial" pitchFamily="34" charset="-122"/>
                <a:cs typeface="Arial" pitchFamily="34" charset="-120"/>
              </a:rPr>
              <a:t>.</a:t>
            </a:r>
            <a:endParaRPr lang="vi-VN" sz="1050" dirty="0" smtClean="0">
              <a:solidFill>
                <a:srgbClr val="3A3F55"/>
              </a:solidFill>
              <a:latin typeface="Arial" pitchFamily="34" charset="0"/>
              <a:ea typeface="Arial" pitchFamily="34" charset="-122"/>
              <a:cs typeface="Arial" pitchFamily="34" charset="-120"/>
            </a:endParaRPr>
          </a:p>
          <a:p>
            <a:pPr algn="just">
              <a:lnSpc>
                <a:spcPct val="115000"/>
              </a:lnSpc>
            </a:pPr>
            <a:r>
              <a:rPr lang="vi-VN" sz="1050" dirty="0">
                <a:solidFill>
                  <a:srgbClr val="3A3F55"/>
                </a:solidFill>
                <a:cs typeface="Arial" pitchFamily="34" charset="-120"/>
              </a:rPr>
              <a:t>=&gt; </a:t>
            </a:r>
            <a:r>
              <a:rPr lang="vi-VN" sz="1050" dirty="0">
                <a:solidFill>
                  <a:srgbClr val="3A3F55"/>
                </a:solidFill>
                <a:latin typeface="Arial" pitchFamily="34" charset="0"/>
                <a:ea typeface="Arial" pitchFamily="34" charset="-122"/>
                <a:cs typeface="Arial" pitchFamily="34" charset="-120"/>
              </a:rPr>
              <a:t>Chiến lược tăng trưởng nên ưu tiên cải thiện trải nghiệm sau bán (ảnh hưởng trực tiếp đến việc khách có quay lại hay không) hơn là chỉ tập trung thu hút khách mới.</a:t>
            </a:r>
            <a:endParaRPr lang="en-US" sz="1050" dirty="0">
              <a:solidFill>
                <a:srgbClr val="3A3F55"/>
              </a:solidFill>
              <a:latin typeface="Arial" pitchFamily="34" charset="0"/>
              <a:ea typeface="Arial" pitchFamily="34" charset="-122"/>
              <a:cs typeface="Arial" pitchFamily="34" charset="-120"/>
            </a:endParaRPr>
          </a:p>
        </p:txBody>
      </p:sp>
      <p:sp>
        <p:nvSpPr>
          <p:cNvPr id="19" name="Shape 17"/>
          <p:cNvSpPr/>
          <p:nvPr/>
        </p:nvSpPr>
        <p:spPr>
          <a:xfrm>
            <a:off x="6165866" y="3772529"/>
            <a:ext cx="5440680" cy="2331720"/>
          </a:xfrm>
          <a:prstGeom prst="roundRect">
            <a:avLst>
              <a:gd name="adj" fmla="val 2353"/>
            </a:avLst>
          </a:prstGeom>
          <a:solidFill>
            <a:srgbClr val="FFFFFF"/>
          </a:solidFill>
          <a:ln w="12700">
            <a:solidFill>
              <a:srgbClr val="E9ECF5"/>
            </a:solidFill>
            <a:prstDash val="solid"/>
          </a:ln>
          <a:effectLst>
            <a:outerShdw blurRad="63500" dist="25400" dir="5400000" algn="bl" rotWithShape="0">
              <a:srgbClr val="1E2761">
                <a:alpha val="10000"/>
              </a:srgbClr>
            </a:outerShdw>
          </a:effectLst>
        </p:spPr>
      </p:sp>
      <p:sp>
        <p:nvSpPr>
          <p:cNvPr id="20" name="Shape 18"/>
          <p:cNvSpPr/>
          <p:nvPr/>
        </p:nvSpPr>
        <p:spPr>
          <a:xfrm>
            <a:off x="6336792" y="3959352"/>
            <a:ext cx="384048" cy="384048"/>
          </a:xfrm>
          <a:prstGeom prst="ellipse">
            <a:avLst/>
          </a:prstGeom>
          <a:solidFill>
            <a:srgbClr val="E8590C"/>
          </a:solidFill>
          <a:ln/>
        </p:spPr>
      </p:sp>
      <p:sp>
        <p:nvSpPr>
          <p:cNvPr id="21" name="Text 19"/>
          <p:cNvSpPr/>
          <p:nvPr/>
        </p:nvSpPr>
        <p:spPr>
          <a:xfrm>
            <a:off x="6336792" y="3959352"/>
            <a:ext cx="384048" cy="384048"/>
          </a:xfrm>
          <a:prstGeom prst="rect">
            <a:avLst/>
          </a:prstGeom>
          <a:noFill/>
          <a:ln/>
        </p:spPr>
        <p:txBody>
          <a:bodyPr wrap="square" rtlCol="0" anchor="ctr"/>
          <a:lstStyle/>
          <a:p>
            <a:pPr marL="0" indent="0" algn="ctr">
              <a:buNone/>
            </a:pPr>
            <a:r>
              <a:rPr lang="en-US" sz="1092" b="1" dirty="0">
                <a:solidFill>
                  <a:srgbClr val="FFFFFF"/>
                </a:solidFill>
                <a:latin typeface="Arial" pitchFamily="34" charset="0"/>
                <a:ea typeface="Arial" pitchFamily="34" charset="-122"/>
                <a:cs typeface="Arial" pitchFamily="34" charset="-120"/>
              </a:rPr>
              <a:t>4</a:t>
            </a:r>
            <a:endParaRPr lang="en-US" sz="1092" dirty="0"/>
          </a:p>
        </p:txBody>
      </p:sp>
      <p:sp>
        <p:nvSpPr>
          <p:cNvPr id="22" name="Text 20"/>
          <p:cNvSpPr/>
          <p:nvPr/>
        </p:nvSpPr>
        <p:spPr>
          <a:xfrm>
            <a:off x="6830568" y="3941064"/>
            <a:ext cx="4617720" cy="457200"/>
          </a:xfrm>
          <a:prstGeom prst="rect">
            <a:avLst/>
          </a:prstGeom>
          <a:noFill/>
          <a:ln/>
        </p:spPr>
        <p:txBody>
          <a:bodyPr wrap="square" rtlCol="0" anchor="ctr"/>
          <a:lstStyle/>
          <a:p>
            <a:pPr marL="0" indent="0">
              <a:buNone/>
            </a:pPr>
            <a:r>
              <a:rPr lang="en-US" sz="1350" b="1" dirty="0">
                <a:solidFill>
                  <a:srgbClr val="1E2761"/>
                </a:solidFill>
                <a:latin typeface="Arial" pitchFamily="34" charset="0"/>
                <a:ea typeface="Arial" pitchFamily="34" charset="-122"/>
                <a:cs typeface="Arial" pitchFamily="34" charset="-120"/>
              </a:rPr>
              <a:t>Lỗ hổng vận hành thanh toán – tồn kho</a:t>
            </a:r>
            <a:endParaRPr lang="en-US" sz="1350" dirty="0"/>
          </a:p>
        </p:txBody>
      </p:sp>
      <p:sp>
        <p:nvSpPr>
          <p:cNvPr id="23" name="Text 21"/>
          <p:cNvSpPr/>
          <p:nvPr/>
        </p:nvSpPr>
        <p:spPr>
          <a:xfrm>
            <a:off x="6428232" y="4507992"/>
            <a:ext cx="4928616" cy="1417320"/>
          </a:xfrm>
          <a:prstGeom prst="rect">
            <a:avLst/>
          </a:prstGeom>
          <a:noFill/>
          <a:ln/>
        </p:spPr>
        <p:txBody>
          <a:bodyPr wrap="square" rtlCol="0" anchor="t"/>
          <a:lstStyle/>
          <a:p>
            <a:pPr algn="just">
              <a:lnSpc>
                <a:spcPct val="115000"/>
              </a:lnSpc>
            </a:pPr>
            <a:r>
              <a:rPr lang="en-US" sz="1050" dirty="0">
                <a:solidFill>
                  <a:srgbClr val="3A3F55"/>
                </a:solidFill>
                <a:latin typeface="Arial" pitchFamily="34" charset="0"/>
                <a:ea typeface="Arial" pitchFamily="34" charset="-122"/>
                <a:cs typeface="Arial" pitchFamily="34" charset="-120"/>
              </a:rPr>
              <a:t>772 đơn (162.59K BRL) đã thanh toán nhưng không có sản phẩm ghi nhận — cần rà soát </a:t>
            </a:r>
            <a:r>
              <a:rPr lang="en-US" sz="1050" dirty="0" err="1">
                <a:solidFill>
                  <a:srgbClr val="3A3F55"/>
                </a:solidFill>
                <a:latin typeface="Arial" pitchFamily="34" charset="0"/>
                <a:ea typeface="Arial" pitchFamily="34" charset="-122"/>
                <a:cs typeface="Arial" pitchFamily="34" charset="-120"/>
              </a:rPr>
              <a:t>hoàn</a:t>
            </a:r>
            <a:r>
              <a:rPr lang="en-US" sz="1050" dirty="0">
                <a:solidFill>
                  <a:srgbClr val="3A3F55"/>
                </a:solidFill>
                <a:latin typeface="Arial" pitchFamily="34" charset="0"/>
                <a:ea typeface="Arial" pitchFamily="34" charset="-122"/>
                <a:cs typeface="Arial" pitchFamily="34" charset="-120"/>
              </a:rPr>
              <a:t> </a:t>
            </a:r>
            <a:r>
              <a:rPr lang="vi-VN" sz="1050" dirty="0">
                <a:solidFill>
                  <a:srgbClr val="3A3F55"/>
                </a:solidFill>
                <a:ea typeface="Arial" pitchFamily="34" charset="-122"/>
                <a:cs typeface="Arial" pitchFamily="34" charset="-120"/>
              </a:rPr>
              <a:t>tiền, nguyên nhân chủ yếu do hết hàng (unavailable) hoặc hủy đơn sau thanh toán.</a:t>
            </a:r>
            <a:r>
              <a:rPr lang="en-US" sz="1050" dirty="0" smtClean="0">
                <a:solidFill>
                  <a:srgbClr val="3A3F55"/>
                </a:solidFill>
                <a:latin typeface="Arial" pitchFamily="34" charset="0"/>
                <a:ea typeface="Arial" pitchFamily="34" charset="-122"/>
                <a:cs typeface="Arial" pitchFamily="34" charset="-120"/>
              </a:rPr>
              <a:t>.</a:t>
            </a:r>
            <a:endParaRPr lang="vi-VN" sz="1050" dirty="0"/>
          </a:p>
          <a:p>
            <a:pPr algn="just">
              <a:lnSpc>
                <a:spcPct val="115000"/>
              </a:lnSpc>
            </a:pPr>
            <a:r>
              <a:rPr lang="vi-VN" sz="1050" dirty="0"/>
              <a:t>=&gt;Đây là khoản tiền cần rà soát hoàn trả, đồng thời là tín hiệu cần cải thiện đồng bộ giữa hệ thống thanh toán và quản lý tồn kho.</a:t>
            </a:r>
          </a:p>
        </p:txBody>
      </p:sp>
      <p:sp>
        <p:nvSpPr>
          <p:cNvPr id="24" name="Text 22"/>
          <p:cNvSpPr/>
          <p:nvPr/>
        </p:nvSpPr>
        <p:spPr>
          <a:xfrm>
            <a:off x="457200" y="6473952"/>
            <a:ext cx="5486400" cy="274320"/>
          </a:xfrm>
          <a:prstGeom prst="rect">
            <a:avLst/>
          </a:prstGeom>
          <a:noFill/>
          <a:ln/>
        </p:spPr>
        <p:txBody>
          <a:bodyPr wrap="square" rtlCol="0" anchor="ctr"/>
          <a:lstStyle/>
          <a:p>
            <a:pPr marL="0" indent="0" algn="l">
              <a:buNone/>
            </a:pPr>
            <a:r>
              <a:rPr lang="en-US" sz="900" dirty="0">
                <a:solidFill>
                  <a:srgbClr val="9AA3B8"/>
                </a:solidFill>
                <a:latin typeface="Arial" pitchFamily="34" charset="0"/>
                <a:ea typeface="Arial" pitchFamily="34" charset="-122"/>
                <a:cs typeface="Arial" pitchFamily="34" charset="-120"/>
              </a:rPr>
              <a:t>OLIST ECOMMERCE ANALYTICS</a:t>
            </a:r>
            <a:endParaRPr lang="en-US" sz="900" dirty="0"/>
          </a:p>
        </p:txBody>
      </p:sp>
      <p:sp>
        <p:nvSpPr>
          <p:cNvPr id="25" name="Text 23"/>
          <p:cNvSpPr/>
          <p:nvPr/>
        </p:nvSpPr>
        <p:spPr>
          <a:xfrm>
            <a:off x="8074152" y="6473952"/>
            <a:ext cx="3657600" cy="274320"/>
          </a:xfrm>
          <a:prstGeom prst="rect">
            <a:avLst/>
          </a:prstGeom>
          <a:noFill/>
          <a:ln/>
        </p:spPr>
        <p:txBody>
          <a:bodyPr wrap="square" rtlCol="0" anchor="ctr"/>
          <a:lstStyle/>
          <a:p>
            <a:pPr marL="0" indent="0" algn="r">
              <a:buNone/>
            </a:pPr>
            <a:r>
              <a:rPr lang="en-US" sz="900" dirty="0">
                <a:solidFill>
                  <a:srgbClr val="9AA3B8"/>
                </a:solidFill>
                <a:latin typeface="Arial" pitchFamily="34" charset="0"/>
                <a:ea typeface="Arial" pitchFamily="34" charset="-122"/>
                <a:cs typeface="Arial" pitchFamily="34" charset="-120"/>
              </a:rPr>
              <a:t>12</a:t>
            </a:r>
            <a:endParaRPr lang="en-US" sz="900"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prestige"/>
      </p:transition>
    </mc:Choice>
    <mc:Fallback>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640080" y="502920"/>
            <a:ext cx="9144000" cy="64008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Hạn chế của phân tích</a:t>
            </a:r>
            <a:endParaRPr lang="en-US" sz="3000" dirty="0"/>
          </a:p>
        </p:txBody>
      </p:sp>
      <p:sp>
        <p:nvSpPr>
          <p:cNvPr id="3" name="Text 1"/>
          <p:cNvSpPr/>
          <p:nvPr/>
        </p:nvSpPr>
        <p:spPr>
          <a:xfrm>
            <a:off x="640080" y="1097280"/>
            <a:ext cx="9144000" cy="365760"/>
          </a:xfrm>
          <a:prstGeom prst="rect">
            <a:avLst/>
          </a:prstGeom>
          <a:noFill/>
          <a:ln/>
        </p:spPr>
        <p:txBody>
          <a:bodyPr wrap="square" rtlCol="0" anchor="ctr"/>
          <a:lstStyle/>
          <a:p>
            <a:pPr marL="0" indent="0">
              <a:buNone/>
            </a:pPr>
            <a:r>
              <a:rPr lang="en-US" sz="1300" i="1" dirty="0">
                <a:solidFill>
                  <a:srgbClr val="CADCFC"/>
                </a:solidFill>
                <a:latin typeface="Arial" pitchFamily="34" charset="0"/>
                <a:ea typeface="Arial" pitchFamily="34" charset="-122"/>
                <a:cs typeface="Arial" pitchFamily="34" charset="-120"/>
              </a:rPr>
              <a:t>Minh bạch về giới hạn dữ liệu và phương pháp — không quá diễn giải insight</a:t>
            </a:r>
            <a:endParaRPr lang="en-US" sz="1300" dirty="0"/>
          </a:p>
        </p:txBody>
      </p:sp>
      <p:sp>
        <p:nvSpPr>
          <p:cNvPr id="4" name="Shape 2"/>
          <p:cNvSpPr/>
          <p:nvPr/>
        </p:nvSpPr>
        <p:spPr>
          <a:xfrm>
            <a:off x="640080" y="1737360"/>
            <a:ext cx="10881360" cy="960120"/>
          </a:xfrm>
          <a:prstGeom prst="roundRect">
            <a:avLst>
              <a:gd name="adj" fmla="val 5714"/>
            </a:avLst>
          </a:prstGeom>
          <a:solidFill>
            <a:srgbClr val="141B4D"/>
          </a:solidFill>
          <a:ln/>
        </p:spPr>
      </p:sp>
      <p:sp>
        <p:nvSpPr>
          <p:cNvPr id="5" name="Shape 3"/>
          <p:cNvSpPr/>
          <p:nvPr/>
        </p:nvSpPr>
        <p:spPr>
          <a:xfrm>
            <a:off x="868680" y="1984248"/>
            <a:ext cx="457200" cy="457200"/>
          </a:xfrm>
          <a:prstGeom prst="ellipse">
            <a:avLst/>
          </a:prstGeom>
          <a:solidFill>
            <a:srgbClr val="E8590C"/>
          </a:solidFill>
          <a:ln/>
        </p:spPr>
      </p:sp>
      <p:sp>
        <p:nvSpPr>
          <p:cNvPr id="6" name="Text 4"/>
          <p:cNvSpPr/>
          <p:nvPr/>
        </p:nvSpPr>
        <p:spPr>
          <a:xfrm>
            <a:off x="868680" y="1984248"/>
            <a:ext cx="457200" cy="45720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a:t>
            </a:r>
            <a:endParaRPr lang="en-US" sz="1300" dirty="0"/>
          </a:p>
        </p:txBody>
      </p:sp>
      <p:sp>
        <p:nvSpPr>
          <p:cNvPr id="7" name="Text 5"/>
          <p:cNvSpPr/>
          <p:nvPr/>
        </p:nvSpPr>
        <p:spPr>
          <a:xfrm>
            <a:off x="1508760" y="1828800"/>
            <a:ext cx="4023360" cy="777240"/>
          </a:xfrm>
          <a:prstGeom prst="rect">
            <a:avLst/>
          </a:prstGeom>
          <a:noFill/>
          <a:ln/>
        </p:spPr>
        <p:txBody>
          <a:bodyPr wrap="square" rtlCol="0" anchor="ctr"/>
          <a:lstStyle/>
          <a:p>
            <a:pPr marL="0" indent="0">
              <a:buNone/>
            </a:pPr>
            <a:r>
              <a:rPr lang="en-US" sz="1250" b="1" dirty="0">
                <a:solidFill>
                  <a:srgbClr val="FFFFFF"/>
                </a:solidFill>
                <a:latin typeface="Arial" pitchFamily="34" charset="0"/>
                <a:ea typeface="Arial" pitchFamily="34" charset="-122"/>
                <a:cs typeface="Arial" pitchFamily="34" charset="-120"/>
              </a:rPr>
              <a:t>Không có dữ liệu Traffic/Marketing</a:t>
            </a:r>
            <a:endParaRPr lang="en-US" sz="1250" dirty="0"/>
          </a:p>
        </p:txBody>
      </p:sp>
      <p:sp>
        <p:nvSpPr>
          <p:cNvPr id="8" name="Text 6"/>
          <p:cNvSpPr/>
          <p:nvPr/>
        </p:nvSpPr>
        <p:spPr>
          <a:xfrm>
            <a:off x="5623560" y="1828800"/>
            <a:ext cx="5760720" cy="777240"/>
          </a:xfrm>
          <a:prstGeom prst="rect">
            <a:avLst/>
          </a:prstGeom>
          <a:noFill/>
          <a:ln/>
        </p:spPr>
        <p:txBody>
          <a:bodyPr wrap="square" rtlCol="0" anchor="ctr"/>
          <a:lstStyle/>
          <a:p>
            <a:pPr marL="0" indent="0">
              <a:lnSpc>
                <a:spcPct val="115000"/>
              </a:lnSpc>
              <a:buNone/>
            </a:pPr>
            <a:r>
              <a:rPr lang="en-US" sz="1050" dirty="0">
                <a:solidFill>
                  <a:srgbClr val="CADCFC"/>
                </a:solidFill>
                <a:latin typeface="Arial" pitchFamily="34" charset="0"/>
                <a:ea typeface="Arial" pitchFamily="34" charset="-122"/>
                <a:cs typeface="Arial" pitchFamily="34" charset="-120"/>
              </a:rPr>
              <a:t>Không có session, click, chi phí quảng cáo → không phân tích được phễu chuyển đổi (Awareness → Conversion) hay CAC.</a:t>
            </a:r>
            <a:endParaRPr lang="en-US" sz="1050" dirty="0"/>
          </a:p>
        </p:txBody>
      </p:sp>
      <p:sp>
        <p:nvSpPr>
          <p:cNvPr id="9" name="Shape 7"/>
          <p:cNvSpPr/>
          <p:nvPr/>
        </p:nvSpPr>
        <p:spPr>
          <a:xfrm>
            <a:off x="640080" y="2834640"/>
            <a:ext cx="10881360" cy="960120"/>
          </a:xfrm>
          <a:prstGeom prst="roundRect">
            <a:avLst>
              <a:gd name="adj" fmla="val 5714"/>
            </a:avLst>
          </a:prstGeom>
          <a:solidFill>
            <a:srgbClr val="141B4D"/>
          </a:solidFill>
          <a:ln/>
        </p:spPr>
      </p:sp>
      <p:sp>
        <p:nvSpPr>
          <p:cNvPr id="10" name="Shape 8"/>
          <p:cNvSpPr/>
          <p:nvPr/>
        </p:nvSpPr>
        <p:spPr>
          <a:xfrm>
            <a:off x="868680" y="3081528"/>
            <a:ext cx="457200" cy="457200"/>
          </a:xfrm>
          <a:prstGeom prst="ellipse">
            <a:avLst/>
          </a:prstGeom>
          <a:solidFill>
            <a:srgbClr val="E8590C"/>
          </a:solidFill>
          <a:ln/>
        </p:spPr>
      </p:sp>
      <p:sp>
        <p:nvSpPr>
          <p:cNvPr id="11" name="Text 9"/>
          <p:cNvSpPr/>
          <p:nvPr/>
        </p:nvSpPr>
        <p:spPr>
          <a:xfrm>
            <a:off x="868680" y="3081528"/>
            <a:ext cx="457200" cy="45720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a:t>
            </a:r>
            <a:endParaRPr lang="en-US" sz="1300" dirty="0"/>
          </a:p>
        </p:txBody>
      </p:sp>
      <p:sp>
        <p:nvSpPr>
          <p:cNvPr id="12" name="Text 10"/>
          <p:cNvSpPr/>
          <p:nvPr/>
        </p:nvSpPr>
        <p:spPr>
          <a:xfrm>
            <a:off x="1508760" y="2926080"/>
            <a:ext cx="4023360" cy="777240"/>
          </a:xfrm>
          <a:prstGeom prst="rect">
            <a:avLst/>
          </a:prstGeom>
          <a:noFill/>
          <a:ln/>
        </p:spPr>
        <p:txBody>
          <a:bodyPr wrap="square" rtlCol="0" anchor="ctr"/>
          <a:lstStyle/>
          <a:p>
            <a:pPr marL="0" indent="0">
              <a:buNone/>
            </a:pPr>
            <a:r>
              <a:rPr lang="en-US" sz="1250" b="1" dirty="0">
                <a:solidFill>
                  <a:srgbClr val="FFFFFF"/>
                </a:solidFill>
                <a:latin typeface="Arial" pitchFamily="34" charset="0"/>
                <a:ea typeface="Arial" pitchFamily="34" charset="-122"/>
                <a:cs typeface="Arial" pitchFamily="34" charset="-120"/>
              </a:rPr>
              <a:t>Không có giá vốn hàng bán (COGS)</a:t>
            </a:r>
            <a:endParaRPr lang="en-US" sz="1250" dirty="0"/>
          </a:p>
        </p:txBody>
      </p:sp>
      <p:sp>
        <p:nvSpPr>
          <p:cNvPr id="13" name="Text 11"/>
          <p:cNvSpPr/>
          <p:nvPr/>
        </p:nvSpPr>
        <p:spPr>
          <a:xfrm>
            <a:off x="5623560" y="2926080"/>
            <a:ext cx="5760720" cy="777240"/>
          </a:xfrm>
          <a:prstGeom prst="rect">
            <a:avLst/>
          </a:prstGeom>
          <a:noFill/>
          <a:ln/>
        </p:spPr>
        <p:txBody>
          <a:bodyPr wrap="square" rtlCol="0" anchor="ctr"/>
          <a:lstStyle/>
          <a:p>
            <a:pPr marL="0" indent="0">
              <a:lnSpc>
                <a:spcPct val="115000"/>
              </a:lnSpc>
              <a:buNone/>
            </a:pPr>
            <a:r>
              <a:rPr lang="en-US" sz="1050" dirty="0">
                <a:solidFill>
                  <a:srgbClr val="CADCFC"/>
                </a:solidFill>
                <a:latin typeface="Arial" pitchFamily="34" charset="0"/>
                <a:ea typeface="Arial" pitchFamily="34" charset="-122"/>
                <a:cs typeface="Arial" pitchFamily="34" charset="-120"/>
              </a:rPr>
              <a:t>GMV phản ánh doanh thu gộp, không phải lợi nhuận thực tế.</a:t>
            </a:r>
            <a:endParaRPr lang="en-US" sz="1050" dirty="0"/>
          </a:p>
        </p:txBody>
      </p:sp>
      <p:sp>
        <p:nvSpPr>
          <p:cNvPr id="14" name="Shape 12"/>
          <p:cNvSpPr/>
          <p:nvPr/>
        </p:nvSpPr>
        <p:spPr>
          <a:xfrm>
            <a:off x="640080" y="3931920"/>
            <a:ext cx="10881360" cy="960120"/>
          </a:xfrm>
          <a:prstGeom prst="roundRect">
            <a:avLst>
              <a:gd name="adj" fmla="val 5714"/>
            </a:avLst>
          </a:prstGeom>
          <a:solidFill>
            <a:srgbClr val="141B4D"/>
          </a:solidFill>
          <a:ln/>
        </p:spPr>
      </p:sp>
      <p:sp>
        <p:nvSpPr>
          <p:cNvPr id="15" name="Shape 13"/>
          <p:cNvSpPr/>
          <p:nvPr/>
        </p:nvSpPr>
        <p:spPr>
          <a:xfrm>
            <a:off x="868680" y="4178808"/>
            <a:ext cx="457200" cy="457200"/>
          </a:xfrm>
          <a:prstGeom prst="ellipse">
            <a:avLst/>
          </a:prstGeom>
          <a:solidFill>
            <a:srgbClr val="E8590C"/>
          </a:solidFill>
          <a:ln/>
        </p:spPr>
      </p:sp>
      <p:sp>
        <p:nvSpPr>
          <p:cNvPr id="16" name="Text 14"/>
          <p:cNvSpPr/>
          <p:nvPr/>
        </p:nvSpPr>
        <p:spPr>
          <a:xfrm>
            <a:off x="868680" y="4178808"/>
            <a:ext cx="457200" cy="45720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a:t>
            </a:r>
            <a:endParaRPr lang="en-US" sz="1300" dirty="0"/>
          </a:p>
        </p:txBody>
      </p:sp>
      <p:sp>
        <p:nvSpPr>
          <p:cNvPr id="17" name="Text 15"/>
          <p:cNvSpPr/>
          <p:nvPr/>
        </p:nvSpPr>
        <p:spPr>
          <a:xfrm>
            <a:off x="1508760" y="4023360"/>
            <a:ext cx="4023360" cy="777240"/>
          </a:xfrm>
          <a:prstGeom prst="rect">
            <a:avLst/>
          </a:prstGeom>
          <a:noFill/>
          <a:ln/>
        </p:spPr>
        <p:txBody>
          <a:bodyPr wrap="square" rtlCol="0" anchor="ctr"/>
          <a:lstStyle/>
          <a:p>
            <a:pPr marL="0" indent="0">
              <a:buNone/>
            </a:pPr>
            <a:r>
              <a:rPr lang="en-US" sz="1250" b="1" dirty="0">
                <a:solidFill>
                  <a:srgbClr val="FFFFFF"/>
                </a:solidFill>
                <a:latin typeface="Arial" pitchFamily="34" charset="0"/>
                <a:ea typeface="Arial" pitchFamily="34" charset="-122"/>
                <a:cs typeface="Arial" pitchFamily="34" charset="-120"/>
              </a:rPr>
              <a:t>Phân loại comment bằng Rule-based</a:t>
            </a:r>
            <a:endParaRPr lang="en-US" sz="1250" dirty="0"/>
          </a:p>
        </p:txBody>
      </p:sp>
      <p:sp>
        <p:nvSpPr>
          <p:cNvPr id="18" name="Text 16"/>
          <p:cNvSpPr/>
          <p:nvPr/>
        </p:nvSpPr>
        <p:spPr>
          <a:xfrm>
            <a:off x="5623560" y="4023360"/>
            <a:ext cx="5760720" cy="777240"/>
          </a:xfrm>
          <a:prstGeom prst="rect">
            <a:avLst/>
          </a:prstGeom>
          <a:noFill/>
          <a:ln/>
        </p:spPr>
        <p:txBody>
          <a:bodyPr wrap="square" rtlCol="0" anchor="ctr"/>
          <a:lstStyle/>
          <a:p>
            <a:pPr marL="0" indent="0">
              <a:lnSpc>
                <a:spcPct val="115000"/>
              </a:lnSpc>
              <a:buNone/>
            </a:pPr>
            <a:r>
              <a:rPr lang="en-US" sz="1050" dirty="0">
                <a:solidFill>
                  <a:srgbClr val="CADCFC"/>
                </a:solidFill>
                <a:latin typeface="Arial" pitchFamily="34" charset="0"/>
                <a:ea typeface="Arial" pitchFamily="34" charset="-122"/>
                <a:cs typeface="Arial" pitchFamily="34" charset="-120"/>
              </a:rPr>
              <a:t>34% trong 10,890 bình luận chưa phân loại được bằng khớp </a:t>
            </a:r>
            <a:r>
              <a:rPr lang="en-US" sz="1050" dirty="0" err="1">
                <a:solidFill>
                  <a:srgbClr val="CADCFC"/>
                </a:solidFill>
                <a:latin typeface="Arial" pitchFamily="34" charset="0"/>
                <a:ea typeface="Arial" pitchFamily="34" charset="-122"/>
                <a:cs typeface="Arial" pitchFamily="34" charset="-120"/>
              </a:rPr>
              <a:t>từ</a:t>
            </a:r>
            <a:r>
              <a:rPr lang="en-US" sz="1050" dirty="0">
                <a:solidFill>
                  <a:srgbClr val="CADCFC"/>
                </a:solidFill>
                <a:latin typeface="Arial" pitchFamily="34" charset="0"/>
                <a:ea typeface="Arial" pitchFamily="34" charset="-122"/>
                <a:cs typeface="Arial" pitchFamily="34" charset="-120"/>
              </a:rPr>
              <a:t> </a:t>
            </a:r>
            <a:r>
              <a:rPr lang="en-US" sz="1050" dirty="0" err="1" smtClean="0">
                <a:solidFill>
                  <a:srgbClr val="CADCFC"/>
                </a:solidFill>
                <a:latin typeface="Arial" pitchFamily="34" charset="0"/>
                <a:ea typeface="Arial" pitchFamily="34" charset="-122"/>
                <a:cs typeface="Arial" pitchFamily="34" charset="-120"/>
              </a:rPr>
              <a:t>khóa</a:t>
            </a:r>
            <a:r>
              <a:rPr lang="vi-VN" sz="1050" dirty="0" smtClean="0">
                <a:solidFill>
                  <a:srgbClr val="CADCFC"/>
                </a:solidFill>
                <a:latin typeface="Arial" pitchFamily="34" charset="0"/>
                <a:ea typeface="Arial" pitchFamily="34" charset="-122"/>
                <a:cs typeface="Arial" pitchFamily="34" charset="-120"/>
              </a:rPr>
              <a:t> (phương pháp rules-based)</a:t>
            </a:r>
            <a:r>
              <a:rPr lang="en-US" sz="1050" dirty="0" smtClean="0">
                <a:solidFill>
                  <a:srgbClr val="CADCFC"/>
                </a:solidFill>
                <a:latin typeface="Arial" pitchFamily="34" charset="0"/>
                <a:ea typeface="Arial" pitchFamily="34" charset="-122"/>
                <a:cs typeface="Arial" pitchFamily="34" charset="-120"/>
              </a:rPr>
              <a:t> </a:t>
            </a:r>
            <a:r>
              <a:rPr lang="en-US" sz="1050" dirty="0">
                <a:solidFill>
                  <a:srgbClr val="CADCFC"/>
                </a:solidFill>
                <a:latin typeface="Arial" pitchFamily="34" charset="0"/>
                <a:ea typeface="Arial" pitchFamily="34" charset="-122"/>
                <a:cs typeface="Arial" pitchFamily="34" charset="-120"/>
              </a:rPr>
              <a:t>— cần NLP/LLM </a:t>
            </a:r>
            <a:r>
              <a:rPr lang="en-US" sz="1050" dirty="0" err="1" smtClean="0">
                <a:solidFill>
                  <a:srgbClr val="CADCFC"/>
                </a:solidFill>
                <a:latin typeface="Arial" pitchFamily="34" charset="0"/>
                <a:ea typeface="Arial" pitchFamily="34" charset="-122"/>
                <a:cs typeface="Arial" pitchFamily="34" charset="-120"/>
              </a:rPr>
              <a:t>để</a:t>
            </a:r>
            <a:r>
              <a:rPr lang="en-US" sz="1050" dirty="0" smtClean="0">
                <a:solidFill>
                  <a:srgbClr val="CADCFC"/>
                </a:solidFill>
                <a:latin typeface="Arial" pitchFamily="34" charset="0"/>
                <a:ea typeface="Arial" pitchFamily="34" charset="-122"/>
                <a:cs typeface="Arial" pitchFamily="34" charset="-120"/>
              </a:rPr>
              <a:t> </a:t>
            </a:r>
            <a:r>
              <a:rPr lang="en-US" sz="1050" dirty="0">
                <a:solidFill>
                  <a:srgbClr val="CADCFC"/>
                </a:solidFill>
                <a:latin typeface="Arial" pitchFamily="34" charset="0"/>
                <a:ea typeface="Arial" pitchFamily="34" charset="-122"/>
                <a:cs typeface="Arial" pitchFamily="34" charset="-120"/>
              </a:rPr>
              <a:t>chính xác hơn khi triển khai thực tế.</a:t>
            </a:r>
            <a:endParaRPr lang="en-US" sz="1050" dirty="0"/>
          </a:p>
        </p:txBody>
      </p:sp>
      <p:sp>
        <p:nvSpPr>
          <p:cNvPr id="19" name="Shape 17"/>
          <p:cNvSpPr/>
          <p:nvPr/>
        </p:nvSpPr>
        <p:spPr>
          <a:xfrm>
            <a:off x="640080" y="5029200"/>
            <a:ext cx="10881360" cy="960120"/>
          </a:xfrm>
          <a:prstGeom prst="roundRect">
            <a:avLst>
              <a:gd name="adj" fmla="val 5714"/>
            </a:avLst>
          </a:prstGeom>
          <a:solidFill>
            <a:srgbClr val="141B4D"/>
          </a:solidFill>
          <a:ln/>
        </p:spPr>
      </p:sp>
      <p:sp>
        <p:nvSpPr>
          <p:cNvPr id="20" name="Shape 18"/>
          <p:cNvSpPr/>
          <p:nvPr/>
        </p:nvSpPr>
        <p:spPr>
          <a:xfrm>
            <a:off x="868680" y="5276088"/>
            <a:ext cx="457200" cy="457200"/>
          </a:xfrm>
          <a:prstGeom prst="ellipse">
            <a:avLst/>
          </a:prstGeom>
          <a:solidFill>
            <a:srgbClr val="E8590C"/>
          </a:solidFill>
          <a:ln/>
        </p:spPr>
      </p:sp>
      <p:sp>
        <p:nvSpPr>
          <p:cNvPr id="21" name="Text 19"/>
          <p:cNvSpPr/>
          <p:nvPr/>
        </p:nvSpPr>
        <p:spPr>
          <a:xfrm>
            <a:off x="868680" y="5276088"/>
            <a:ext cx="457200" cy="45720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a:t>
            </a:r>
            <a:endParaRPr lang="en-US" sz="1300" dirty="0"/>
          </a:p>
        </p:txBody>
      </p:sp>
      <p:sp>
        <p:nvSpPr>
          <p:cNvPr id="22" name="Text 20"/>
          <p:cNvSpPr/>
          <p:nvPr/>
        </p:nvSpPr>
        <p:spPr>
          <a:xfrm>
            <a:off x="1508760" y="5120640"/>
            <a:ext cx="4023360" cy="777240"/>
          </a:xfrm>
          <a:prstGeom prst="rect">
            <a:avLst/>
          </a:prstGeom>
          <a:noFill/>
          <a:ln/>
        </p:spPr>
        <p:txBody>
          <a:bodyPr wrap="square" rtlCol="0" anchor="ctr"/>
          <a:lstStyle/>
          <a:p>
            <a:pPr marL="0" indent="0">
              <a:buNone/>
            </a:pPr>
            <a:r>
              <a:rPr lang="en-US" sz="1250" b="1" dirty="0">
                <a:solidFill>
                  <a:srgbClr val="FFFFFF"/>
                </a:solidFill>
                <a:latin typeface="Arial" pitchFamily="34" charset="0"/>
                <a:ea typeface="Arial" pitchFamily="34" charset="-122"/>
                <a:cs typeface="Arial" pitchFamily="34" charset="-120"/>
              </a:rPr>
              <a:t>Dữ liệu 2 tháng cuối không đầy đủ</a:t>
            </a:r>
            <a:endParaRPr lang="en-US" sz="1250" dirty="0"/>
          </a:p>
        </p:txBody>
      </p:sp>
      <p:sp>
        <p:nvSpPr>
          <p:cNvPr id="23" name="Text 21"/>
          <p:cNvSpPr/>
          <p:nvPr/>
        </p:nvSpPr>
        <p:spPr>
          <a:xfrm>
            <a:off x="5623560" y="5120640"/>
            <a:ext cx="5760720" cy="777240"/>
          </a:xfrm>
          <a:prstGeom prst="rect">
            <a:avLst/>
          </a:prstGeom>
          <a:noFill/>
          <a:ln/>
        </p:spPr>
        <p:txBody>
          <a:bodyPr wrap="square" rtlCol="0" anchor="ctr"/>
          <a:lstStyle/>
          <a:p>
            <a:pPr marL="0" indent="0">
              <a:lnSpc>
                <a:spcPct val="115000"/>
              </a:lnSpc>
              <a:buNone/>
            </a:pPr>
            <a:r>
              <a:rPr lang="en-US" sz="1050" dirty="0">
                <a:solidFill>
                  <a:srgbClr val="CADCFC"/>
                </a:solidFill>
                <a:latin typeface="Arial" pitchFamily="34" charset="0"/>
                <a:ea typeface="Arial" pitchFamily="34" charset="-122"/>
                <a:cs typeface="Arial" pitchFamily="34" charset="-120"/>
              </a:rPr>
              <a:t>09-10/2018 chỉ có rất ít đơn — không phản ánh đúng xu hướng kinh doanh thực, đã loại khỏi các kết luận xu hướng.</a:t>
            </a:r>
            <a:endParaRPr lang="en-US" sz="1050" dirty="0"/>
          </a:p>
        </p:txBody>
      </p:sp>
      <p:sp>
        <p:nvSpPr>
          <p:cNvPr id="24" name="Text 22"/>
          <p:cNvSpPr/>
          <p:nvPr/>
        </p:nvSpPr>
        <p:spPr>
          <a:xfrm>
            <a:off x="457200" y="6473952"/>
            <a:ext cx="5486400" cy="274320"/>
          </a:xfrm>
          <a:prstGeom prst="rect">
            <a:avLst/>
          </a:prstGeom>
          <a:noFill/>
          <a:ln/>
        </p:spPr>
        <p:txBody>
          <a:bodyPr wrap="square" rtlCol="0" anchor="ctr"/>
          <a:lstStyle/>
          <a:p>
            <a:pPr marL="0" indent="0" algn="l">
              <a:buNone/>
            </a:pPr>
            <a:r>
              <a:rPr lang="en-US" sz="900" dirty="0">
                <a:solidFill>
                  <a:srgbClr val="8894C4"/>
                </a:solidFill>
                <a:latin typeface="Arial" pitchFamily="34" charset="0"/>
                <a:ea typeface="Arial" pitchFamily="34" charset="-122"/>
                <a:cs typeface="Arial" pitchFamily="34" charset="-120"/>
              </a:rPr>
              <a:t>OLIST ECOMMERCE ANALYTICS</a:t>
            </a:r>
            <a:endParaRPr lang="en-US" sz="900" dirty="0"/>
          </a:p>
        </p:txBody>
      </p:sp>
      <p:sp>
        <p:nvSpPr>
          <p:cNvPr id="25" name="Text 23"/>
          <p:cNvSpPr/>
          <p:nvPr/>
        </p:nvSpPr>
        <p:spPr>
          <a:xfrm>
            <a:off x="8074152" y="6473952"/>
            <a:ext cx="3657600" cy="274320"/>
          </a:xfrm>
          <a:prstGeom prst="rect">
            <a:avLst/>
          </a:prstGeom>
          <a:noFill/>
          <a:ln/>
        </p:spPr>
        <p:txBody>
          <a:bodyPr wrap="square" rtlCol="0" anchor="ctr"/>
          <a:lstStyle/>
          <a:p>
            <a:pPr marL="0" indent="0" algn="r">
              <a:buNone/>
            </a:pPr>
            <a:r>
              <a:rPr lang="en-US" sz="900" dirty="0">
                <a:solidFill>
                  <a:srgbClr val="8894C4"/>
                </a:solidFill>
                <a:latin typeface="Arial" pitchFamily="34" charset="0"/>
                <a:ea typeface="Arial" pitchFamily="34" charset="-122"/>
                <a:cs typeface="Arial" pitchFamily="34" charset="-120"/>
              </a:rPr>
              <a:t>13</a:t>
            </a:r>
            <a:endParaRPr lang="en-US" sz="900" dirty="0"/>
          </a:p>
        </p:txBody>
      </p:sp>
      <p:pic>
        <p:nvPicPr>
          <p:cNvPr id="26" name="Picture 2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30356" y="222262"/>
            <a:ext cx="1201396" cy="1201396"/>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wind"/>
      </p:transition>
    </mc:Choice>
    <mc:Fallback>
      <p:transition spd="slow">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7FC"/>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Đề xuất hành động (1/2)</a:t>
            </a:r>
            <a:endParaRPr lang="en-US" sz="3000" dirty="0"/>
          </a:p>
        </p:txBody>
      </p:sp>
      <p:sp>
        <p:nvSpPr>
          <p:cNvPr id="3" name="Text 1"/>
          <p:cNvSpPr/>
          <p:nvPr/>
        </p:nvSpPr>
        <p:spPr>
          <a:xfrm>
            <a:off x="548640" y="932688"/>
            <a:ext cx="11091672" cy="365760"/>
          </a:xfrm>
          <a:prstGeom prst="rect">
            <a:avLst/>
          </a:prstGeom>
          <a:noFill/>
          <a:ln/>
        </p:spPr>
        <p:txBody>
          <a:bodyPr wrap="square" rtlCol="0" anchor="ctr"/>
          <a:lstStyle/>
          <a:p>
            <a:pPr marL="0" indent="0">
              <a:buNone/>
            </a:pPr>
            <a:r>
              <a:rPr lang="en-US" sz="1300" i="1" dirty="0">
                <a:solidFill>
                  <a:srgbClr val="6B7280"/>
                </a:solidFill>
                <a:latin typeface="Arial" pitchFamily="34" charset="0"/>
                <a:ea typeface="Arial" pitchFamily="34" charset="-122"/>
                <a:cs typeface="Arial" pitchFamily="34" charset="-120"/>
              </a:rPr>
              <a:t>Logistics &amp; Merchandising</a:t>
            </a:r>
            <a:endParaRPr lang="en-US" sz="1300" dirty="0"/>
          </a:p>
        </p:txBody>
      </p:sp>
      <p:sp>
        <p:nvSpPr>
          <p:cNvPr id="4" name="Shape 2"/>
          <p:cNvSpPr/>
          <p:nvPr/>
        </p:nvSpPr>
        <p:spPr>
          <a:xfrm>
            <a:off x="502920" y="1234440"/>
            <a:ext cx="5394960" cy="4892040"/>
          </a:xfrm>
          <a:prstGeom prst="roundRect">
            <a:avLst>
              <a:gd name="adj" fmla="val 1121"/>
            </a:avLst>
          </a:prstGeom>
          <a:solidFill>
            <a:srgbClr val="FFFFFF"/>
          </a:solidFill>
          <a:ln w="12700">
            <a:solidFill>
              <a:srgbClr val="E9ECF5"/>
            </a:solidFill>
            <a:prstDash val="solid"/>
          </a:ln>
          <a:effectLst>
            <a:outerShdw blurRad="63500" dist="25400" dir="5400000" algn="bl" rotWithShape="0">
              <a:srgbClr val="1E2761">
                <a:alpha val="10000"/>
              </a:srgbClr>
            </a:outerShdw>
          </a:effectLst>
        </p:spPr>
      </p:sp>
      <p:sp>
        <p:nvSpPr>
          <p:cNvPr id="5" name="Shape 3"/>
          <p:cNvSpPr/>
          <p:nvPr/>
        </p:nvSpPr>
        <p:spPr>
          <a:xfrm>
            <a:off x="822960" y="1508760"/>
            <a:ext cx="4846320" cy="502920"/>
          </a:xfrm>
          <a:prstGeom prst="roundRect">
            <a:avLst>
              <a:gd name="adj" fmla="val 49091"/>
            </a:avLst>
          </a:prstGeom>
          <a:solidFill>
            <a:srgbClr val="E8590C"/>
          </a:solidFill>
          <a:ln/>
        </p:spPr>
      </p:sp>
      <p:sp>
        <p:nvSpPr>
          <p:cNvPr id="6" name="Text 4"/>
          <p:cNvSpPr/>
          <p:nvPr/>
        </p:nvSpPr>
        <p:spPr>
          <a:xfrm>
            <a:off x="822960" y="1508760"/>
            <a:ext cx="4846320" cy="50292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LOGISTICS</a:t>
            </a:r>
            <a:endParaRPr lang="en-US" sz="1400" dirty="0"/>
          </a:p>
        </p:txBody>
      </p:sp>
      <p:sp>
        <p:nvSpPr>
          <p:cNvPr id="7" name="Shape 5"/>
          <p:cNvSpPr/>
          <p:nvPr/>
        </p:nvSpPr>
        <p:spPr>
          <a:xfrm>
            <a:off x="904962" y="2176433"/>
            <a:ext cx="365760" cy="365760"/>
          </a:xfrm>
          <a:prstGeom prst="ellipse">
            <a:avLst/>
          </a:prstGeom>
          <a:solidFill>
            <a:srgbClr val="CADCFC"/>
          </a:solidFill>
          <a:ln/>
        </p:spPr>
      </p:sp>
      <p:sp>
        <p:nvSpPr>
          <p:cNvPr id="8" name="Text 6"/>
          <p:cNvSpPr/>
          <p:nvPr/>
        </p:nvSpPr>
        <p:spPr>
          <a:xfrm>
            <a:off x="904962" y="2176433"/>
            <a:ext cx="365760" cy="365760"/>
          </a:xfrm>
          <a:prstGeom prst="rect">
            <a:avLst/>
          </a:prstGeom>
          <a:noFill/>
          <a:ln/>
        </p:spPr>
        <p:txBody>
          <a:bodyPr wrap="square" rtlCol="0" anchor="ctr"/>
          <a:lstStyle/>
          <a:p>
            <a:pPr marL="0" indent="0" algn="ctr">
              <a:buNone/>
            </a:pPr>
            <a:r>
              <a:rPr lang="en-US" sz="1040" b="1" dirty="0">
                <a:solidFill>
                  <a:srgbClr val="1E2761"/>
                </a:solidFill>
                <a:latin typeface="Arial" pitchFamily="34" charset="0"/>
                <a:ea typeface="Arial" pitchFamily="34" charset="-122"/>
                <a:cs typeface="Arial" pitchFamily="34" charset="-120"/>
              </a:rPr>
              <a:t>1</a:t>
            </a:r>
            <a:endParaRPr lang="en-US" sz="1040" dirty="0"/>
          </a:p>
        </p:txBody>
      </p:sp>
      <p:sp>
        <p:nvSpPr>
          <p:cNvPr id="9" name="Text 7"/>
          <p:cNvSpPr/>
          <p:nvPr/>
        </p:nvSpPr>
        <p:spPr>
          <a:xfrm>
            <a:off x="1407881" y="2106388"/>
            <a:ext cx="4251961" cy="975312"/>
          </a:xfrm>
          <a:prstGeom prst="rect">
            <a:avLst/>
          </a:prstGeom>
          <a:noFill/>
          <a:ln/>
        </p:spPr>
        <p:txBody>
          <a:bodyPr wrap="square" rtlCol="0" anchor="ctr"/>
          <a:lstStyle/>
          <a:p>
            <a:pPr algn="just">
              <a:lnSpc>
                <a:spcPct val="115000"/>
              </a:lnSpc>
            </a:pPr>
            <a:r>
              <a:rPr lang="vi-VN" sz="1100" dirty="0">
                <a:solidFill>
                  <a:srgbClr val="2A2E3F"/>
                </a:solidFill>
                <a:ea typeface="Arial" pitchFamily="34" charset="-122"/>
                <a:cs typeface="Arial" pitchFamily="34" charset="-120"/>
              </a:rPr>
              <a:t>Ưu tiên </a:t>
            </a:r>
            <a:r>
              <a:rPr lang="vi-VN" sz="1100" dirty="0" smtClean="0">
                <a:solidFill>
                  <a:srgbClr val="2A2E3F"/>
                </a:solidFill>
                <a:ea typeface="Arial" pitchFamily="34" charset="-122"/>
                <a:cs typeface="Arial" pitchFamily="34" charset="-120"/>
              </a:rPr>
              <a:t>các tuyến </a:t>
            </a:r>
            <a:r>
              <a:rPr lang="vi-VN" sz="1100" dirty="0">
                <a:solidFill>
                  <a:srgbClr val="2A2E3F"/>
                </a:solidFill>
                <a:ea typeface="Arial" pitchFamily="34" charset="-122"/>
                <a:cs typeface="Arial" pitchFamily="34" charset="-120"/>
              </a:rPr>
              <a:t>BA, RJ, ES — không chỉ vì Late Rate cao nhất (14%/13%/12%), </a:t>
            </a:r>
            <a:r>
              <a:rPr lang="en-US" sz="1100" dirty="0" err="1" smtClean="0">
                <a:solidFill>
                  <a:srgbClr val="2A2E3F"/>
                </a:solidFill>
                <a:ea typeface="Arial" pitchFamily="34" charset="-122"/>
                <a:cs typeface="Arial" pitchFamily="34" charset="-120"/>
              </a:rPr>
              <a:t>riêng</a:t>
            </a:r>
            <a:r>
              <a:rPr lang="vi-VN" sz="1100" dirty="0" smtClean="0">
                <a:solidFill>
                  <a:srgbClr val="2A2E3F"/>
                </a:solidFill>
                <a:ea typeface="Arial" pitchFamily="34" charset="-122"/>
                <a:cs typeface="Arial" pitchFamily="34" charset="-120"/>
              </a:rPr>
              <a:t> </a:t>
            </a:r>
            <a:r>
              <a:rPr lang="vi-VN" sz="1100" dirty="0">
                <a:solidFill>
                  <a:srgbClr val="2A2E3F"/>
                </a:solidFill>
                <a:ea typeface="Arial" pitchFamily="34" charset="-122"/>
                <a:cs typeface="Arial" pitchFamily="34" charset="-120"/>
              </a:rPr>
              <a:t>RJ hiện là bang có GMV top 2 toàn sàn  (2.06M BRL, 12,384 khách</a:t>
            </a:r>
            <a:r>
              <a:rPr lang="vi-VN" sz="1100" dirty="0" smtClean="0">
                <a:solidFill>
                  <a:srgbClr val="2A2E3F"/>
                </a:solidFill>
                <a:ea typeface="Arial" pitchFamily="34" charset="-122"/>
                <a:cs typeface="Arial" pitchFamily="34" charset="-120"/>
              </a:rPr>
              <a:t>)</a:t>
            </a:r>
            <a:r>
              <a:rPr lang="en-US" sz="1100" dirty="0" smtClean="0">
                <a:solidFill>
                  <a:srgbClr val="2A2E3F"/>
                </a:solidFill>
                <a:ea typeface="Arial" pitchFamily="34" charset="-122"/>
                <a:cs typeface="Arial" pitchFamily="34" charset="-120"/>
              </a:rPr>
              <a:t>, c</a:t>
            </a:r>
            <a:r>
              <a:rPr lang="vi-VN" sz="1100" dirty="0" smtClean="0">
                <a:solidFill>
                  <a:srgbClr val="2A2E3F"/>
                </a:solidFill>
                <a:ea typeface="Arial" pitchFamily="34" charset="-122"/>
                <a:cs typeface="Arial" pitchFamily="34" charset="-120"/>
              </a:rPr>
              <a:t>ải </a:t>
            </a:r>
            <a:r>
              <a:rPr lang="vi-VN" sz="1100" dirty="0">
                <a:solidFill>
                  <a:srgbClr val="2A2E3F"/>
                </a:solidFill>
                <a:ea typeface="Arial" pitchFamily="34" charset="-122"/>
                <a:cs typeface="Arial" pitchFamily="34" charset="-120"/>
              </a:rPr>
              <a:t>thiện tốc độ </a:t>
            </a:r>
            <a:r>
              <a:rPr lang="vi-VN" sz="1100" dirty="0" smtClean="0">
                <a:solidFill>
                  <a:srgbClr val="2A2E3F"/>
                </a:solidFill>
                <a:ea typeface="Arial" pitchFamily="34" charset="-122"/>
                <a:cs typeface="Arial" pitchFamily="34" charset="-120"/>
              </a:rPr>
              <a:t>giao</a:t>
            </a:r>
            <a:r>
              <a:rPr lang="en-US" sz="1100" dirty="0" smtClean="0">
                <a:solidFill>
                  <a:srgbClr val="2A2E3F"/>
                </a:solidFill>
                <a:ea typeface="Arial" pitchFamily="34" charset="-122"/>
                <a:cs typeface="Arial" pitchFamily="34" charset="-120"/>
              </a:rPr>
              <a:t> </a:t>
            </a:r>
            <a:r>
              <a:rPr lang="en-US" sz="1100" dirty="0" err="1" smtClean="0">
                <a:solidFill>
                  <a:srgbClr val="2A2E3F"/>
                </a:solidFill>
                <a:latin typeface="Arial" panose="020B0604020202020204" pitchFamily="34" charset="0"/>
                <a:ea typeface="Arial" pitchFamily="34" charset="-122"/>
                <a:cs typeface="Arial" panose="020B0604020202020204" pitchFamily="34" charset="0"/>
              </a:rPr>
              <a:t>hàng</a:t>
            </a:r>
            <a:r>
              <a:rPr lang="en-US" sz="1100" dirty="0" smtClean="0">
                <a:solidFill>
                  <a:srgbClr val="2A2E3F"/>
                </a:solidFill>
                <a:latin typeface="Arial" panose="020B0604020202020204" pitchFamily="34" charset="0"/>
                <a:ea typeface="Arial" pitchFamily="34" charset="-122"/>
                <a:cs typeface="Arial" panose="020B0604020202020204" pitchFamily="34" charset="0"/>
              </a:rPr>
              <a:t> ở bang </a:t>
            </a:r>
            <a:r>
              <a:rPr lang="en-US" sz="1100" dirty="0" err="1" smtClean="0">
                <a:solidFill>
                  <a:srgbClr val="2A2E3F"/>
                </a:solidFill>
                <a:ea typeface="Arial" pitchFamily="34" charset="-122"/>
                <a:cs typeface="Arial" pitchFamily="34" charset="-120"/>
              </a:rPr>
              <a:t>này</a:t>
            </a:r>
            <a:r>
              <a:rPr lang="en-US" sz="1100" dirty="0" smtClean="0">
                <a:solidFill>
                  <a:srgbClr val="2A2E3F"/>
                </a:solidFill>
                <a:ea typeface="Arial" pitchFamily="34" charset="-122"/>
                <a:cs typeface="Arial" pitchFamily="34" charset="-120"/>
              </a:rPr>
              <a:t> </a:t>
            </a:r>
            <a:r>
              <a:rPr lang="en-US" sz="1100" dirty="0" err="1" smtClean="0">
                <a:solidFill>
                  <a:srgbClr val="2A2E3F"/>
                </a:solidFill>
                <a:ea typeface="Arial" pitchFamily="34" charset="-122"/>
                <a:cs typeface="Arial" pitchFamily="34" charset="-120"/>
              </a:rPr>
              <a:t>sẽ</a:t>
            </a:r>
            <a:r>
              <a:rPr lang="en-US" sz="1100" dirty="0" smtClean="0">
                <a:solidFill>
                  <a:srgbClr val="2A2E3F"/>
                </a:solidFill>
                <a:ea typeface="Arial" pitchFamily="34" charset="-122"/>
                <a:cs typeface="Arial" pitchFamily="34" charset="-120"/>
              </a:rPr>
              <a:t> </a:t>
            </a:r>
            <a:r>
              <a:rPr lang="vi-VN" sz="1100" dirty="0" smtClean="0">
                <a:solidFill>
                  <a:srgbClr val="2A2E3F"/>
                </a:solidFill>
                <a:ea typeface="Arial" pitchFamily="34" charset="-122"/>
                <a:cs typeface="Arial" pitchFamily="34" charset="-120"/>
              </a:rPr>
              <a:t>tác </a:t>
            </a:r>
            <a:r>
              <a:rPr lang="vi-VN" sz="1100" dirty="0">
                <a:solidFill>
                  <a:srgbClr val="2A2E3F"/>
                </a:solidFill>
                <a:ea typeface="Arial" pitchFamily="34" charset="-122"/>
                <a:cs typeface="Arial" pitchFamily="34" charset="-120"/>
              </a:rPr>
              <a:t>động tài chính lớn hơn nhiều so với cải thiện ở BA (591K BRL). </a:t>
            </a:r>
            <a:endParaRPr lang="en-US" sz="1100" dirty="0"/>
          </a:p>
        </p:txBody>
      </p:sp>
      <p:sp>
        <p:nvSpPr>
          <p:cNvPr id="10" name="Shape 8"/>
          <p:cNvSpPr/>
          <p:nvPr/>
        </p:nvSpPr>
        <p:spPr>
          <a:xfrm>
            <a:off x="904962" y="3136553"/>
            <a:ext cx="365760" cy="365760"/>
          </a:xfrm>
          <a:prstGeom prst="ellipse">
            <a:avLst/>
          </a:prstGeom>
          <a:solidFill>
            <a:srgbClr val="CADCFC"/>
          </a:solidFill>
          <a:ln/>
        </p:spPr>
      </p:sp>
      <p:sp>
        <p:nvSpPr>
          <p:cNvPr id="11" name="Text 9"/>
          <p:cNvSpPr/>
          <p:nvPr/>
        </p:nvSpPr>
        <p:spPr>
          <a:xfrm>
            <a:off x="904962" y="3136553"/>
            <a:ext cx="365760" cy="365760"/>
          </a:xfrm>
          <a:prstGeom prst="rect">
            <a:avLst/>
          </a:prstGeom>
          <a:noFill/>
          <a:ln/>
        </p:spPr>
        <p:txBody>
          <a:bodyPr wrap="square" rtlCol="0" anchor="ctr"/>
          <a:lstStyle/>
          <a:p>
            <a:pPr marL="0" indent="0" algn="ctr">
              <a:buNone/>
            </a:pPr>
            <a:r>
              <a:rPr lang="en-US" sz="1040" b="1" dirty="0">
                <a:solidFill>
                  <a:srgbClr val="1E2761"/>
                </a:solidFill>
                <a:latin typeface="Arial" pitchFamily="34" charset="0"/>
                <a:ea typeface="Arial" pitchFamily="34" charset="-122"/>
                <a:cs typeface="Arial" pitchFamily="34" charset="-120"/>
              </a:rPr>
              <a:t>2</a:t>
            </a:r>
            <a:endParaRPr lang="en-US" sz="1040" dirty="0"/>
          </a:p>
        </p:txBody>
      </p:sp>
      <p:sp>
        <p:nvSpPr>
          <p:cNvPr id="12" name="Text 10"/>
          <p:cNvSpPr/>
          <p:nvPr/>
        </p:nvSpPr>
        <p:spPr>
          <a:xfrm>
            <a:off x="1407882" y="3176406"/>
            <a:ext cx="4251960" cy="554507"/>
          </a:xfrm>
          <a:prstGeom prst="rect">
            <a:avLst/>
          </a:prstGeom>
          <a:noFill/>
          <a:ln/>
        </p:spPr>
        <p:txBody>
          <a:bodyPr wrap="square" rtlCol="0" anchor="ctr"/>
          <a:lstStyle/>
          <a:p>
            <a:pPr algn="just">
              <a:lnSpc>
                <a:spcPct val="115000"/>
              </a:lnSpc>
            </a:pPr>
            <a:r>
              <a:rPr lang="vi-VN" sz="1100" dirty="0" smtClean="0">
                <a:solidFill>
                  <a:srgbClr val="2A2E3F"/>
                </a:solidFill>
                <a:ea typeface="Arial" pitchFamily="34" charset="-122"/>
                <a:cs typeface="Arial" pitchFamily="34" charset="-120"/>
              </a:rPr>
              <a:t>Đề </a:t>
            </a:r>
            <a:r>
              <a:rPr lang="vi-VN" sz="1100" dirty="0">
                <a:solidFill>
                  <a:srgbClr val="2A2E3F"/>
                </a:solidFill>
                <a:ea typeface="Arial" pitchFamily="34" charset="-122"/>
                <a:cs typeface="Arial" pitchFamily="34" charset="-120"/>
              </a:rPr>
              <a:t>xuất đàm phán lại SLA vận chuyển riêng cho 3 bang này, hoặc thêm kho trung chuyển khu vực</a:t>
            </a:r>
            <a:endParaRPr lang="en-US" sz="1100" dirty="0"/>
          </a:p>
        </p:txBody>
      </p:sp>
      <p:sp>
        <p:nvSpPr>
          <p:cNvPr id="13" name="Shape 11"/>
          <p:cNvSpPr/>
          <p:nvPr/>
        </p:nvSpPr>
        <p:spPr>
          <a:xfrm>
            <a:off x="904962" y="3840641"/>
            <a:ext cx="365760" cy="365760"/>
          </a:xfrm>
          <a:prstGeom prst="ellipse">
            <a:avLst/>
          </a:prstGeom>
          <a:solidFill>
            <a:srgbClr val="CADCFC"/>
          </a:solidFill>
          <a:ln/>
        </p:spPr>
      </p:sp>
      <p:sp>
        <p:nvSpPr>
          <p:cNvPr id="14" name="Text 12"/>
          <p:cNvSpPr/>
          <p:nvPr/>
        </p:nvSpPr>
        <p:spPr>
          <a:xfrm>
            <a:off x="904962" y="3853602"/>
            <a:ext cx="365760" cy="365760"/>
          </a:xfrm>
          <a:prstGeom prst="rect">
            <a:avLst/>
          </a:prstGeom>
          <a:noFill/>
          <a:ln/>
        </p:spPr>
        <p:txBody>
          <a:bodyPr wrap="square" rtlCol="0" anchor="ctr"/>
          <a:lstStyle/>
          <a:p>
            <a:pPr marL="0" indent="0" algn="ctr">
              <a:buNone/>
            </a:pPr>
            <a:r>
              <a:rPr lang="en-US" sz="1040" b="1" dirty="0">
                <a:solidFill>
                  <a:srgbClr val="1E2761"/>
                </a:solidFill>
                <a:latin typeface="Arial" pitchFamily="34" charset="0"/>
                <a:ea typeface="Arial" pitchFamily="34" charset="-122"/>
                <a:cs typeface="Arial" pitchFamily="34" charset="-120"/>
              </a:rPr>
              <a:t>3</a:t>
            </a:r>
            <a:endParaRPr lang="en-US" sz="1040" dirty="0"/>
          </a:p>
        </p:txBody>
      </p:sp>
      <p:sp>
        <p:nvSpPr>
          <p:cNvPr id="15" name="Text 13"/>
          <p:cNvSpPr/>
          <p:nvPr/>
        </p:nvSpPr>
        <p:spPr>
          <a:xfrm>
            <a:off x="1407882" y="3825620"/>
            <a:ext cx="4251960" cy="1189390"/>
          </a:xfrm>
          <a:prstGeom prst="rect">
            <a:avLst/>
          </a:prstGeom>
          <a:noFill/>
          <a:ln/>
        </p:spPr>
        <p:txBody>
          <a:bodyPr wrap="square" rtlCol="0" anchor="ctr"/>
          <a:lstStyle/>
          <a:p>
            <a:pPr algn="just">
              <a:lnSpc>
                <a:spcPct val="115000"/>
              </a:lnSpc>
            </a:pPr>
            <a:r>
              <a:rPr lang="vi-VN" sz="1100" dirty="0">
                <a:solidFill>
                  <a:srgbClr val="2A2E3F"/>
                </a:solidFill>
                <a:ea typeface="Arial" pitchFamily="34" charset="-122"/>
                <a:cs typeface="Arial" pitchFamily="34" charset="-120"/>
              </a:rPr>
              <a:t>Tối ưu phí </a:t>
            </a:r>
            <a:r>
              <a:rPr lang="vi-VN" sz="1100" dirty="0">
                <a:solidFill>
                  <a:srgbClr val="2A2E3F"/>
                </a:solidFill>
                <a:ea typeface="Arial" pitchFamily="34" charset="-122"/>
                <a:cs typeface="Arial" pitchFamily="34" charset="-120"/>
              </a:rPr>
              <a:t>Freight</a:t>
            </a:r>
            <a:r>
              <a:rPr lang="vi-VN" sz="1100" dirty="0">
                <a:solidFill>
                  <a:srgbClr val="2A2E3F"/>
                </a:solidFill>
                <a:ea typeface="Arial" pitchFamily="34" charset="-122"/>
                <a:cs typeface="Arial" pitchFamily="34" charset="-120"/>
              </a:rPr>
              <a:t> có mục tiêu rõ ràng theo category, không làm chung</a:t>
            </a:r>
            <a:r>
              <a:rPr lang="en-US" sz="1100" dirty="0">
                <a:solidFill>
                  <a:srgbClr val="2A2E3F"/>
                </a:solidFill>
                <a:ea typeface="Arial" pitchFamily="34" charset="-122"/>
                <a:cs typeface="Arial" pitchFamily="34" charset="-120"/>
              </a:rPr>
              <a:t> </a:t>
            </a:r>
            <a:r>
              <a:rPr lang="vi-VN" sz="1100" dirty="0" smtClean="0">
                <a:solidFill>
                  <a:srgbClr val="2A2E3F"/>
                </a:solidFill>
                <a:ea typeface="Arial" pitchFamily="34" charset="-122"/>
                <a:cs typeface="Arial" pitchFamily="34" charset="-120"/>
              </a:rPr>
              <a:t>chung:</a:t>
            </a:r>
            <a:r>
              <a:rPr lang="en-US" sz="1100" dirty="0" smtClean="0">
                <a:solidFill>
                  <a:srgbClr val="2A2E3F"/>
                </a:solidFill>
                <a:ea typeface="Arial" pitchFamily="34" charset="-122"/>
                <a:cs typeface="Arial" pitchFamily="34" charset="-120"/>
              </a:rPr>
              <a:t> </a:t>
            </a:r>
            <a:r>
              <a:rPr lang="vi-VN" sz="1100" dirty="0" smtClean="0">
                <a:solidFill>
                  <a:srgbClr val="2A2E3F"/>
                </a:solidFill>
                <a:ea typeface="Arial" pitchFamily="34" charset="-122"/>
                <a:cs typeface="Arial" pitchFamily="34" charset="-120"/>
              </a:rPr>
              <a:t>5 </a:t>
            </a:r>
            <a:r>
              <a:rPr lang="vi-VN" sz="1100" dirty="0">
                <a:solidFill>
                  <a:srgbClr val="2A2E3F"/>
                </a:solidFill>
                <a:ea typeface="Arial" pitchFamily="34" charset="-122"/>
                <a:cs typeface="Arial" pitchFamily="34" charset="-120"/>
              </a:rPr>
              <a:t>category có Freight/Price cao nhất </a:t>
            </a:r>
            <a:r>
              <a:rPr lang="vi-VN" sz="1100" dirty="0" smtClean="0">
                <a:solidFill>
                  <a:srgbClr val="2A2E3F"/>
                </a:solidFill>
                <a:ea typeface="Arial" pitchFamily="34" charset="-122"/>
                <a:cs typeface="Arial" pitchFamily="34" charset="-120"/>
              </a:rPr>
              <a:t>là</a:t>
            </a:r>
            <a:r>
              <a:rPr lang="en-US" sz="1100" dirty="0" smtClean="0">
                <a:solidFill>
                  <a:srgbClr val="2A2E3F"/>
                </a:solidFill>
                <a:ea typeface="Arial" pitchFamily="34" charset="-122"/>
                <a:cs typeface="Arial" pitchFamily="34" charset="-120"/>
              </a:rPr>
              <a:t> </a:t>
            </a:r>
            <a:r>
              <a:rPr lang="vi-VN" sz="1100" dirty="0" smtClean="0">
                <a:solidFill>
                  <a:srgbClr val="2A2E3F"/>
                </a:solidFill>
                <a:ea typeface="Arial" pitchFamily="34" charset="-122"/>
                <a:cs typeface="Arial" pitchFamily="34" charset="-120"/>
              </a:rPr>
              <a:t>home_comfort_2 </a:t>
            </a:r>
            <a:r>
              <a:rPr lang="vi-VN" sz="1100" dirty="0">
                <a:solidFill>
                  <a:srgbClr val="2A2E3F"/>
                </a:solidFill>
                <a:ea typeface="Arial" pitchFamily="34" charset="-122"/>
                <a:cs typeface="Arial" pitchFamily="34" charset="-120"/>
              </a:rPr>
              <a:t>(53.97%), flowers (44.04</a:t>
            </a:r>
            <a:r>
              <a:rPr lang="vi-VN" sz="1100" dirty="0" smtClean="0">
                <a:solidFill>
                  <a:srgbClr val="2A2E3F"/>
                </a:solidFill>
                <a:ea typeface="Arial" pitchFamily="34" charset="-122"/>
                <a:cs typeface="Arial" pitchFamily="34" charset="-120"/>
              </a:rPr>
              <a:t>%),</a:t>
            </a:r>
            <a:r>
              <a:rPr lang="en-US" sz="1100" dirty="0">
                <a:solidFill>
                  <a:srgbClr val="2A2E3F"/>
                </a:solidFill>
                <a:ea typeface="Arial" pitchFamily="34" charset="-122"/>
                <a:cs typeface="Arial" pitchFamily="34" charset="-120"/>
              </a:rPr>
              <a:t> </a:t>
            </a:r>
            <a:r>
              <a:rPr lang="vi-VN" sz="1100" dirty="0" smtClean="0">
                <a:solidFill>
                  <a:srgbClr val="2A2E3F"/>
                </a:solidFill>
                <a:ea typeface="Arial" pitchFamily="34" charset="-122"/>
                <a:cs typeface="Arial" pitchFamily="34" charset="-120"/>
              </a:rPr>
              <a:t>furniture_mattress_and_upholstery </a:t>
            </a:r>
            <a:r>
              <a:rPr lang="vi-VN" sz="1100" dirty="0">
                <a:solidFill>
                  <a:srgbClr val="2A2E3F"/>
                </a:solidFill>
                <a:ea typeface="Arial" pitchFamily="34" charset="-122"/>
                <a:cs typeface="Arial" pitchFamily="34" charset="-120"/>
              </a:rPr>
              <a:t>(37.33%), </a:t>
            </a:r>
            <a:r>
              <a:rPr lang="vi-VN" sz="1100" dirty="0" smtClean="0">
                <a:solidFill>
                  <a:srgbClr val="2A2E3F"/>
                </a:solidFill>
                <a:ea typeface="Arial" pitchFamily="34" charset="-122"/>
                <a:cs typeface="Arial" pitchFamily="34" charset="-120"/>
              </a:rPr>
              <a:t>christmas_supplies </a:t>
            </a:r>
            <a:r>
              <a:rPr lang="vi-VN" sz="1100" dirty="0">
                <a:solidFill>
                  <a:srgbClr val="2A2E3F"/>
                </a:solidFill>
                <a:ea typeface="Arial" pitchFamily="34" charset="-122"/>
                <a:cs typeface="Arial" pitchFamily="34" charset="-120"/>
              </a:rPr>
              <a:t>(36.69%), diapers_and_hygiene (36.60%) — đây đều là hàng cồng kềnh/dễ vỡ. </a:t>
            </a:r>
            <a:endParaRPr lang="en-US" sz="1100" dirty="0">
              <a:solidFill>
                <a:srgbClr val="2A2E3F"/>
              </a:solidFill>
              <a:ea typeface="Arial" pitchFamily="34" charset="-122"/>
              <a:cs typeface="Arial" pitchFamily="34" charset="-120"/>
            </a:endParaRPr>
          </a:p>
        </p:txBody>
      </p:sp>
      <p:sp>
        <p:nvSpPr>
          <p:cNvPr id="16" name="Shape 14"/>
          <p:cNvSpPr/>
          <p:nvPr/>
        </p:nvSpPr>
        <p:spPr>
          <a:xfrm>
            <a:off x="904962" y="5056793"/>
            <a:ext cx="365760" cy="365760"/>
          </a:xfrm>
          <a:prstGeom prst="ellipse">
            <a:avLst/>
          </a:prstGeom>
          <a:solidFill>
            <a:srgbClr val="CADCFC"/>
          </a:solidFill>
          <a:ln/>
        </p:spPr>
      </p:sp>
      <p:sp>
        <p:nvSpPr>
          <p:cNvPr id="17" name="Text 15"/>
          <p:cNvSpPr/>
          <p:nvPr/>
        </p:nvSpPr>
        <p:spPr>
          <a:xfrm>
            <a:off x="904962" y="5056793"/>
            <a:ext cx="365760" cy="365760"/>
          </a:xfrm>
          <a:prstGeom prst="rect">
            <a:avLst/>
          </a:prstGeom>
          <a:noFill/>
          <a:ln/>
        </p:spPr>
        <p:txBody>
          <a:bodyPr wrap="square" rtlCol="0" anchor="ctr"/>
          <a:lstStyle/>
          <a:p>
            <a:pPr marL="0" indent="0" algn="ctr">
              <a:buNone/>
            </a:pPr>
            <a:r>
              <a:rPr lang="en-US" sz="1040" b="1" dirty="0">
                <a:solidFill>
                  <a:srgbClr val="1E2761"/>
                </a:solidFill>
                <a:latin typeface="Arial" pitchFamily="34" charset="0"/>
                <a:ea typeface="Arial" pitchFamily="34" charset="-122"/>
                <a:cs typeface="Arial" pitchFamily="34" charset="-120"/>
              </a:rPr>
              <a:t>4</a:t>
            </a:r>
            <a:endParaRPr lang="en-US" sz="1040" dirty="0"/>
          </a:p>
        </p:txBody>
      </p:sp>
      <p:sp>
        <p:nvSpPr>
          <p:cNvPr id="18" name="Text 16"/>
          <p:cNvSpPr/>
          <p:nvPr/>
        </p:nvSpPr>
        <p:spPr>
          <a:xfrm>
            <a:off x="1407882" y="5109717"/>
            <a:ext cx="4251960" cy="700487"/>
          </a:xfrm>
          <a:prstGeom prst="rect">
            <a:avLst/>
          </a:prstGeom>
          <a:noFill/>
          <a:ln/>
        </p:spPr>
        <p:txBody>
          <a:bodyPr wrap="square" rtlCol="0" anchor="ctr"/>
          <a:lstStyle/>
          <a:p>
            <a:pPr algn="just">
              <a:lnSpc>
                <a:spcPct val="115000"/>
              </a:lnSpc>
            </a:pPr>
            <a:r>
              <a:rPr lang="en-US" sz="1100" dirty="0">
                <a:solidFill>
                  <a:srgbClr val="2A2E3F"/>
                </a:solidFill>
                <a:ea typeface="Arial" pitchFamily="34" charset="-122"/>
                <a:cs typeface="Arial" pitchFamily="34" charset="-120"/>
              </a:rPr>
              <a:t>Đ</a:t>
            </a:r>
            <a:r>
              <a:rPr lang="vi-VN" sz="1100" dirty="0" smtClean="0">
                <a:solidFill>
                  <a:srgbClr val="2A2E3F"/>
                </a:solidFill>
                <a:ea typeface="Arial" pitchFamily="34" charset="-122"/>
                <a:cs typeface="Arial" pitchFamily="34" charset="-120"/>
              </a:rPr>
              <a:t>àm </a:t>
            </a:r>
            <a:r>
              <a:rPr lang="vi-VN" sz="1100" dirty="0">
                <a:solidFill>
                  <a:srgbClr val="2A2E3F"/>
                </a:solidFill>
                <a:ea typeface="Arial" pitchFamily="34" charset="-122"/>
                <a:cs typeface="Arial" pitchFamily="34" charset="-120"/>
              </a:rPr>
              <a:t>phán giá vận chuyển theo khối lượng thể tích (dimensional weight) riêng cho nhóm này, hoặc tìm kho/seller gần khu vực khách hàng hơn cho đúng 5 category này.</a:t>
            </a:r>
            <a:endParaRPr lang="en-US" sz="1100" dirty="0"/>
          </a:p>
        </p:txBody>
      </p:sp>
      <p:sp>
        <p:nvSpPr>
          <p:cNvPr id="19" name="Shape 17"/>
          <p:cNvSpPr/>
          <p:nvPr/>
        </p:nvSpPr>
        <p:spPr>
          <a:xfrm>
            <a:off x="6153324" y="1234440"/>
            <a:ext cx="5394960" cy="4892040"/>
          </a:xfrm>
          <a:prstGeom prst="roundRect">
            <a:avLst>
              <a:gd name="adj" fmla="val 1121"/>
            </a:avLst>
          </a:prstGeom>
          <a:solidFill>
            <a:srgbClr val="FFFFFF"/>
          </a:solidFill>
          <a:ln w="12700">
            <a:solidFill>
              <a:srgbClr val="E9ECF5"/>
            </a:solidFill>
            <a:prstDash val="solid"/>
          </a:ln>
          <a:effectLst>
            <a:outerShdw blurRad="63500" dist="25400" dir="5400000" algn="bl" rotWithShape="0">
              <a:srgbClr val="1E2761">
                <a:alpha val="10000"/>
              </a:srgbClr>
            </a:outerShdw>
          </a:effectLst>
        </p:spPr>
      </p:sp>
      <p:sp>
        <p:nvSpPr>
          <p:cNvPr id="20" name="Shape 18"/>
          <p:cNvSpPr/>
          <p:nvPr/>
        </p:nvSpPr>
        <p:spPr>
          <a:xfrm>
            <a:off x="6537960" y="1508760"/>
            <a:ext cx="4846320" cy="502920"/>
          </a:xfrm>
          <a:prstGeom prst="roundRect">
            <a:avLst>
              <a:gd name="adj" fmla="val 49091"/>
            </a:avLst>
          </a:prstGeom>
          <a:solidFill>
            <a:srgbClr val="2E5EAA"/>
          </a:solidFill>
          <a:ln/>
        </p:spPr>
      </p:sp>
      <p:sp>
        <p:nvSpPr>
          <p:cNvPr id="21" name="Text 19"/>
          <p:cNvSpPr/>
          <p:nvPr/>
        </p:nvSpPr>
        <p:spPr>
          <a:xfrm>
            <a:off x="6537960" y="1508760"/>
            <a:ext cx="4846320" cy="50292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MERCHANDISING</a:t>
            </a:r>
            <a:endParaRPr lang="en-US" sz="1400" dirty="0"/>
          </a:p>
        </p:txBody>
      </p:sp>
      <p:sp>
        <p:nvSpPr>
          <p:cNvPr id="22" name="Shape 20"/>
          <p:cNvSpPr/>
          <p:nvPr/>
        </p:nvSpPr>
        <p:spPr>
          <a:xfrm>
            <a:off x="6583680" y="2286000"/>
            <a:ext cx="365760" cy="365760"/>
          </a:xfrm>
          <a:prstGeom prst="ellipse">
            <a:avLst/>
          </a:prstGeom>
          <a:solidFill>
            <a:srgbClr val="CADCFC"/>
          </a:solidFill>
          <a:ln/>
        </p:spPr>
      </p:sp>
      <p:sp>
        <p:nvSpPr>
          <p:cNvPr id="23" name="Text 21"/>
          <p:cNvSpPr/>
          <p:nvPr/>
        </p:nvSpPr>
        <p:spPr>
          <a:xfrm>
            <a:off x="6583680" y="2286000"/>
            <a:ext cx="365760" cy="365760"/>
          </a:xfrm>
          <a:prstGeom prst="rect">
            <a:avLst/>
          </a:prstGeom>
          <a:noFill/>
          <a:ln/>
        </p:spPr>
        <p:txBody>
          <a:bodyPr wrap="square" rtlCol="0" anchor="ctr"/>
          <a:lstStyle/>
          <a:p>
            <a:pPr marL="0" indent="0" algn="ctr">
              <a:buNone/>
            </a:pPr>
            <a:r>
              <a:rPr lang="en-US" sz="1040" b="1" dirty="0">
                <a:solidFill>
                  <a:srgbClr val="1E2761"/>
                </a:solidFill>
                <a:latin typeface="Arial" pitchFamily="34" charset="0"/>
                <a:ea typeface="Arial" pitchFamily="34" charset="-122"/>
                <a:cs typeface="Arial" pitchFamily="34" charset="-120"/>
              </a:rPr>
              <a:t>1</a:t>
            </a:r>
            <a:endParaRPr lang="en-US" sz="1040" dirty="0"/>
          </a:p>
        </p:txBody>
      </p:sp>
      <p:sp>
        <p:nvSpPr>
          <p:cNvPr id="24" name="Text 22"/>
          <p:cNvSpPr/>
          <p:nvPr/>
        </p:nvSpPr>
        <p:spPr>
          <a:xfrm>
            <a:off x="7040880" y="2172995"/>
            <a:ext cx="4343400" cy="1438885"/>
          </a:xfrm>
          <a:prstGeom prst="rect">
            <a:avLst/>
          </a:prstGeom>
          <a:noFill/>
          <a:ln/>
        </p:spPr>
        <p:txBody>
          <a:bodyPr wrap="square" rtlCol="0" anchor="ctr"/>
          <a:lstStyle/>
          <a:p>
            <a:pPr algn="just">
              <a:lnSpc>
                <a:spcPct val="115000"/>
              </a:lnSpc>
            </a:pPr>
            <a:r>
              <a:rPr lang="vi-VN" sz="1100" dirty="0">
                <a:solidFill>
                  <a:srgbClr val="2A2E3F"/>
                </a:solidFill>
                <a:ea typeface="Arial" pitchFamily="34" charset="-122"/>
                <a:cs typeface="Arial" pitchFamily="34" charset="-120"/>
              </a:rPr>
              <a:t>Category computers: đóng góp GMV 228K, avg installment cao nhất sàn (6.25 kỳ — cho thấy nhu cầu thật, khách sẵn sàng trả góp dài hạn) nhưng </a:t>
            </a:r>
            <a:r>
              <a:rPr lang="en-US" sz="1100" dirty="0" err="1" smtClean="0">
                <a:solidFill>
                  <a:srgbClr val="2A2E3F"/>
                </a:solidFill>
                <a:ea typeface="Arial" pitchFamily="34" charset="-122"/>
                <a:cs typeface="Arial" pitchFamily="34" charset="-120"/>
              </a:rPr>
              <a:t>hiện</a:t>
            </a:r>
            <a:r>
              <a:rPr lang="en-US" sz="1100" dirty="0" smtClean="0">
                <a:solidFill>
                  <a:srgbClr val="2A2E3F"/>
                </a:solidFill>
                <a:ea typeface="Arial" pitchFamily="34" charset="-122"/>
                <a:cs typeface="Arial" pitchFamily="34" charset="-120"/>
              </a:rPr>
              <a:t> </a:t>
            </a:r>
            <a:r>
              <a:rPr lang="en-US" sz="1100" dirty="0" err="1" smtClean="0">
                <a:solidFill>
                  <a:srgbClr val="2A2E3F"/>
                </a:solidFill>
                <a:ea typeface="Arial" pitchFamily="34" charset="-122"/>
                <a:cs typeface="Arial" pitchFamily="34" charset="-120"/>
              </a:rPr>
              <a:t>tại</a:t>
            </a:r>
            <a:r>
              <a:rPr lang="en-US" sz="1100" dirty="0" smtClean="0">
                <a:solidFill>
                  <a:srgbClr val="2A2E3F"/>
                </a:solidFill>
                <a:ea typeface="Arial" pitchFamily="34" charset="-122"/>
                <a:cs typeface="Arial" pitchFamily="34" charset="-120"/>
              </a:rPr>
              <a:t> </a:t>
            </a:r>
            <a:r>
              <a:rPr lang="vi-VN" sz="1100" dirty="0" smtClean="0">
                <a:solidFill>
                  <a:srgbClr val="2A2E3F"/>
                </a:solidFill>
                <a:ea typeface="Arial" pitchFamily="34" charset="-122"/>
                <a:cs typeface="Arial" pitchFamily="34" charset="-120"/>
              </a:rPr>
              <a:t>chỉ </a:t>
            </a:r>
            <a:r>
              <a:rPr lang="vi-VN" sz="1100" dirty="0">
                <a:solidFill>
                  <a:srgbClr val="2A2E3F"/>
                </a:solidFill>
                <a:ea typeface="Arial" pitchFamily="34" charset="-122"/>
                <a:cs typeface="Arial" pitchFamily="34" charset="-120"/>
              </a:rPr>
              <a:t>có 9 seller phục vụ toàn bộ nhu cầu này trong suốt 2 năm dữ liệu. Đây là bằng chứng rõ ràng về thiếu cung, không </a:t>
            </a:r>
            <a:r>
              <a:rPr lang="vi-VN" sz="1100" dirty="0">
                <a:solidFill>
                  <a:srgbClr val="2A2E3F"/>
                </a:solidFill>
                <a:ea typeface="Arial" pitchFamily="34" charset="-122"/>
                <a:cs typeface="Arial" pitchFamily="34" charset="-120"/>
              </a:rPr>
              <a:t>thiếu </a:t>
            </a:r>
            <a:r>
              <a:rPr lang="vi-VN" sz="1100" dirty="0">
                <a:solidFill>
                  <a:srgbClr val="2A2E3F"/>
                </a:solidFill>
                <a:ea typeface="Arial" pitchFamily="34" charset="-122"/>
                <a:cs typeface="Arial" pitchFamily="34" charset="-120"/>
              </a:rPr>
              <a:t>cầu</a:t>
            </a:r>
            <a:r>
              <a:rPr lang="en-US" sz="1100" dirty="0">
                <a:solidFill>
                  <a:srgbClr val="2A2E3F"/>
                </a:solidFill>
                <a:ea typeface="Arial" pitchFamily="34" charset="-122"/>
                <a:cs typeface="Arial" pitchFamily="34" charset="-120"/>
              </a:rPr>
              <a:t>.</a:t>
            </a:r>
            <a:r>
              <a:rPr lang="en-US" sz="1100" dirty="0">
                <a:solidFill>
                  <a:srgbClr val="2A2E3F"/>
                </a:solidFill>
                <a:latin typeface="Arial" panose="020B0604020202020204" pitchFamily="34" charset="0"/>
                <a:ea typeface="Arial" pitchFamily="34" charset="-122"/>
                <a:cs typeface="Arial" panose="020B0604020202020204" pitchFamily="34" charset="0"/>
              </a:rPr>
              <a:t> Đ</a:t>
            </a:r>
            <a:r>
              <a:rPr lang="vi-VN" sz="1100" dirty="0">
                <a:solidFill>
                  <a:srgbClr val="2A2E3F"/>
                </a:solidFill>
                <a:latin typeface="Arial" panose="020B0604020202020204" pitchFamily="34" charset="0"/>
                <a:ea typeface="Arial" pitchFamily="34" charset="-122"/>
                <a:cs typeface="Arial" panose="020B0604020202020204" pitchFamily="34" charset="0"/>
              </a:rPr>
              <a:t>ề xuất chủ động mời gọi thêm seller ngành computers/electronics</a:t>
            </a:r>
            <a:r>
              <a:rPr lang="en-US" sz="1100" dirty="0">
                <a:solidFill>
                  <a:srgbClr val="2A2E3F"/>
                </a:solidFill>
                <a:latin typeface="Arial" panose="020B0604020202020204" pitchFamily="34" charset="0"/>
                <a:ea typeface="Arial" pitchFamily="34" charset="-122"/>
                <a:cs typeface="Arial" panose="020B0604020202020204" pitchFamily="34" charset="0"/>
              </a:rPr>
              <a:t> </a:t>
            </a:r>
            <a:r>
              <a:rPr lang="en-US" sz="1100" dirty="0" err="1">
                <a:solidFill>
                  <a:srgbClr val="2A2E3F"/>
                </a:solidFill>
                <a:latin typeface="Arial" panose="020B0604020202020204" pitchFamily="34" charset="0"/>
                <a:ea typeface="Arial" pitchFamily="34" charset="-122"/>
                <a:cs typeface="Arial" panose="020B0604020202020204" pitchFamily="34" charset="0"/>
              </a:rPr>
              <a:t>để</a:t>
            </a:r>
            <a:r>
              <a:rPr lang="en-US" sz="1100" dirty="0">
                <a:solidFill>
                  <a:srgbClr val="2A2E3F"/>
                </a:solidFill>
                <a:latin typeface="Arial" panose="020B0604020202020204" pitchFamily="34" charset="0"/>
                <a:ea typeface="Arial" pitchFamily="34" charset="-122"/>
                <a:cs typeface="Arial" panose="020B0604020202020204" pitchFamily="34" charset="0"/>
              </a:rPr>
              <a:t> </a:t>
            </a:r>
            <a:r>
              <a:rPr lang="en-US" sz="1100" dirty="0" err="1">
                <a:solidFill>
                  <a:srgbClr val="2A2E3F"/>
                </a:solidFill>
                <a:latin typeface="Arial" panose="020B0604020202020204" pitchFamily="34" charset="0"/>
                <a:ea typeface="Arial" pitchFamily="34" charset="-122"/>
                <a:cs typeface="Arial" panose="020B0604020202020204" pitchFamily="34" charset="0"/>
              </a:rPr>
              <a:t>đáp</a:t>
            </a:r>
            <a:r>
              <a:rPr lang="en-US" sz="1100" dirty="0">
                <a:solidFill>
                  <a:srgbClr val="2A2E3F"/>
                </a:solidFill>
                <a:latin typeface="Arial" panose="020B0604020202020204" pitchFamily="34" charset="0"/>
                <a:ea typeface="Arial" pitchFamily="34" charset="-122"/>
                <a:cs typeface="Arial" panose="020B0604020202020204" pitchFamily="34" charset="0"/>
              </a:rPr>
              <a:t> </a:t>
            </a:r>
            <a:r>
              <a:rPr lang="en-US" sz="1100" dirty="0" err="1">
                <a:solidFill>
                  <a:srgbClr val="2A2E3F"/>
                </a:solidFill>
                <a:latin typeface="Arial" panose="020B0604020202020204" pitchFamily="34" charset="0"/>
                <a:ea typeface="Arial" pitchFamily="34" charset="-122"/>
                <a:cs typeface="Arial" panose="020B0604020202020204" pitchFamily="34" charset="0"/>
              </a:rPr>
              <a:t>ứng</a:t>
            </a:r>
            <a:r>
              <a:rPr lang="en-US" sz="1100" dirty="0">
                <a:solidFill>
                  <a:srgbClr val="2A2E3F"/>
                </a:solidFill>
                <a:latin typeface="Arial" panose="020B0604020202020204" pitchFamily="34" charset="0"/>
                <a:ea typeface="Arial" pitchFamily="34" charset="-122"/>
                <a:cs typeface="Arial" panose="020B0604020202020204" pitchFamily="34" charset="0"/>
              </a:rPr>
              <a:t> </a:t>
            </a:r>
            <a:r>
              <a:rPr lang="en-US" sz="1100" dirty="0" err="1">
                <a:solidFill>
                  <a:srgbClr val="2A2E3F"/>
                </a:solidFill>
                <a:latin typeface="Arial" panose="020B0604020202020204" pitchFamily="34" charset="0"/>
                <a:ea typeface="Arial" pitchFamily="34" charset="-122"/>
                <a:cs typeface="Arial" panose="020B0604020202020204" pitchFamily="34" charset="0"/>
              </a:rPr>
              <a:t>đúng</a:t>
            </a:r>
            <a:r>
              <a:rPr lang="en-US" sz="1100" dirty="0">
                <a:solidFill>
                  <a:srgbClr val="2A2E3F"/>
                </a:solidFill>
                <a:latin typeface="Arial" panose="020B0604020202020204" pitchFamily="34" charset="0"/>
                <a:ea typeface="Arial" pitchFamily="34" charset="-122"/>
                <a:cs typeface="Arial" panose="020B0604020202020204" pitchFamily="34" charset="0"/>
              </a:rPr>
              <a:t>, </a:t>
            </a:r>
            <a:r>
              <a:rPr lang="en-US" sz="1100" dirty="0" err="1">
                <a:solidFill>
                  <a:srgbClr val="2A2E3F"/>
                </a:solidFill>
                <a:latin typeface="Arial" panose="020B0604020202020204" pitchFamily="34" charset="0"/>
                <a:ea typeface="Arial" pitchFamily="34" charset="-122"/>
                <a:cs typeface="Arial" panose="020B0604020202020204" pitchFamily="34" charset="0"/>
              </a:rPr>
              <a:t>đủ</a:t>
            </a:r>
            <a:r>
              <a:rPr lang="en-US" sz="1100" dirty="0">
                <a:solidFill>
                  <a:srgbClr val="2A2E3F"/>
                </a:solidFill>
                <a:latin typeface="Arial" panose="020B0604020202020204" pitchFamily="34" charset="0"/>
                <a:ea typeface="Arial" pitchFamily="34" charset="-122"/>
                <a:cs typeface="Arial" panose="020B0604020202020204" pitchFamily="34" charset="0"/>
              </a:rPr>
              <a:t>, </a:t>
            </a:r>
            <a:r>
              <a:rPr lang="en-US" sz="1100" dirty="0" err="1">
                <a:solidFill>
                  <a:srgbClr val="2A2E3F"/>
                </a:solidFill>
                <a:latin typeface="Arial" panose="020B0604020202020204" pitchFamily="34" charset="0"/>
                <a:ea typeface="Arial" pitchFamily="34" charset="-122"/>
                <a:cs typeface="Arial" panose="020B0604020202020204" pitchFamily="34" charset="0"/>
              </a:rPr>
              <a:t>kịp</a:t>
            </a:r>
            <a:r>
              <a:rPr lang="en-US" sz="1100" dirty="0">
                <a:solidFill>
                  <a:srgbClr val="2A2E3F"/>
                </a:solidFill>
                <a:latin typeface="Arial" panose="020B0604020202020204" pitchFamily="34" charset="0"/>
                <a:ea typeface="Arial" pitchFamily="34" charset="-122"/>
                <a:cs typeface="Arial" panose="020B0604020202020204" pitchFamily="34" charset="0"/>
              </a:rPr>
              <a:t> </a:t>
            </a:r>
            <a:r>
              <a:rPr lang="en-US" sz="1100" dirty="0" err="1">
                <a:solidFill>
                  <a:srgbClr val="2A2E3F"/>
                </a:solidFill>
                <a:latin typeface="Arial" panose="020B0604020202020204" pitchFamily="34" charset="0"/>
                <a:ea typeface="Arial" pitchFamily="34" charset="-122"/>
                <a:cs typeface="Arial" panose="020B0604020202020204" pitchFamily="34" charset="0"/>
              </a:rPr>
              <a:t>thời</a:t>
            </a:r>
            <a:r>
              <a:rPr lang="en-US" sz="1100" dirty="0">
                <a:solidFill>
                  <a:srgbClr val="2A2E3F"/>
                </a:solidFill>
                <a:latin typeface="Arial" panose="020B0604020202020204" pitchFamily="34" charset="0"/>
                <a:ea typeface="Arial" pitchFamily="34" charset="-122"/>
                <a:cs typeface="Arial" panose="020B0604020202020204" pitchFamily="34" charset="0"/>
              </a:rPr>
              <a:t> </a:t>
            </a:r>
            <a:r>
              <a:rPr lang="en-US" sz="1100" dirty="0" err="1">
                <a:solidFill>
                  <a:srgbClr val="2A2E3F"/>
                </a:solidFill>
                <a:latin typeface="Arial" panose="020B0604020202020204" pitchFamily="34" charset="0"/>
                <a:ea typeface="Arial" pitchFamily="34" charset="-122"/>
                <a:cs typeface="Arial" panose="020B0604020202020204" pitchFamily="34" charset="0"/>
              </a:rPr>
              <a:t>nhu</a:t>
            </a:r>
            <a:r>
              <a:rPr lang="en-US" sz="1100" dirty="0">
                <a:solidFill>
                  <a:srgbClr val="2A2E3F"/>
                </a:solidFill>
                <a:latin typeface="Arial" panose="020B0604020202020204" pitchFamily="34" charset="0"/>
                <a:ea typeface="Arial" pitchFamily="34" charset="-122"/>
                <a:cs typeface="Arial" panose="020B0604020202020204" pitchFamily="34" charset="0"/>
              </a:rPr>
              <a:t> </a:t>
            </a:r>
            <a:r>
              <a:rPr lang="en-US" sz="1100" dirty="0" err="1">
                <a:solidFill>
                  <a:srgbClr val="2A2E3F"/>
                </a:solidFill>
                <a:latin typeface="Arial" panose="020B0604020202020204" pitchFamily="34" charset="0"/>
                <a:ea typeface="Arial" pitchFamily="34" charset="-122"/>
                <a:cs typeface="Arial" panose="020B0604020202020204" pitchFamily="34" charset="0"/>
              </a:rPr>
              <a:t>cầu</a:t>
            </a:r>
            <a:r>
              <a:rPr lang="en-US" sz="1100" dirty="0">
                <a:solidFill>
                  <a:srgbClr val="2A2E3F"/>
                </a:solidFill>
                <a:latin typeface="Arial" panose="020B0604020202020204" pitchFamily="34" charset="0"/>
                <a:ea typeface="Arial" pitchFamily="34" charset="-122"/>
                <a:cs typeface="Arial" panose="020B0604020202020204" pitchFamily="34" charset="0"/>
              </a:rPr>
              <a:t> </a:t>
            </a:r>
            <a:r>
              <a:rPr lang="en-US" sz="1100" dirty="0" err="1">
                <a:solidFill>
                  <a:srgbClr val="2A2E3F"/>
                </a:solidFill>
                <a:latin typeface="Arial" panose="020B0604020202020204" pitchFamily="34" charset="0"/>
                <a:ea typeface="Arial" pitchFamily="34" charset="-122"/>
                <a:cs typeface="Arial" panose="020B0604020202020204" pitchFamily="34" charset="0"/>
              </a:rPr>
              <a:t>cho</a:t>
            </a:r>
            <a:r>
              <a:rPr lang="en-US" sz="1100" dirty="0">
                <a:solidFill>
                  <a:srgbClr val="2A2E3F"/>
                </a:solidFill>
                <a:latin typeface="Arial" panose="020B0604020202020204" pitchFamily="34" charset="0"/>
                <a:ea typeface="Arial" pitchFamily="34" charset="-122"/>
                <a:cs typeface="Arial" panose="020B0604020202020204" pitchFamily="34" charset="0"/>
              </a:rPr>
              <a:t> </a:t>
            </a:r>
            <a:r>
              <a:rPr lang="en-US" sz="1100" dirty="0" err="1">
                <a:solidFill>
                  <a:srgbClr val="2A2E3F"/>
                </a:solidFill>
                <a:latin typeface="Arial" panose="020B0604020202020204" pitchFamily="34" charset="0"/>
                <a:ea typeface="Arial" pitchFamily="34" charset="-122"/>
                <a:cs typeface="Arial" panose="020B0604020202020204" pitchFamily="34" charset="0"/>
              </a:rPr>
              <a:t>người</a:t>
            </a:r>
            <a:r>
              <a:rPr lang="en-US" sz="1100" dirty="0">
                <a:solidFill>
                  <a:srgbClr val="2A2E3F"/>
                </a:solidFill>
                <a:latin typeface="Arial" panose="020B0604020202020204" pitchFamily="34" charset="0"/>
                <a:ea typeface="Arial" pitchFamily="34" charset="-122"/>
                <a:cs typeface="Arial" panose="020B0604020202020204" pitchFamily="34" charset="0"/>
              </a:rPr>
              <a:t> </a:t>
            </a:r>
            <a:r>
              <a:rPr lang="en-US" sz="1100" dirty="0" err="1">
                <a:solidFill>
                  <a:srgbClr val="2A2E3F"/>
                </a:solidFill>
                <a:latin typeface="Arial" panose="020B0604020202020204" pitchFamily="34" charset="0"/>
                <a:ea typeface="Arial" pitchFamily="34" charset="-122"/>
                <a:cs typeface="Arial" panose="020B0604020202020204" pitchFamily="34" charset="0"/>
              </a:rPr>
              <a:t>tiêu</a:t>
            </a:r>
            <a:r>
              <a:rPr lang="en-US" sz="1100" dirty="0">
                <a:solidFill>
                  <a:srgbClr val="2A2E3F"/>
                </a:solidFill>
                <a:latin typeface="Arial" panose="020B0604020202020204" pitchFamily="34" charset="0"/>
                <a:ea typeface="Arial" pitchFamily="34" charset="-122"/>
                <a:cs typeface="Arial" panose="020B0604020202020204" pitchFamily="34" charset="0"/>
              </a:rPr>
              <a:t> </a:t>
            </a:r>
            <a:r>
              <a:rPr lang="en-US" sz="1100" dirty="0" err="1">
                <a:solidFill>
                  <a:srgbClr val="2A2E3F"/>
                </a:solidFill>
                <a:latin typeface="Arial" panose="020B0604020202020204" pitchFamily="34" charset="0"/>
                <a:ea typeface="Arial" pitchFamily="34" charset="-122"/>
                <a:cs typeface="Arial" panose="020B0604020202020204" pitchFamily="34" charset="0"/>
              </a:rPr>
              <a:t>dùng</a:t>
            </a:r>
            <a:r>
              <a:rPr lang="en-US" sz="1100" dirty="0" smtClean="0">
                <a:solidFill>
                  <a:srgbClr val="2A2E3F"/>
                </a:solidFill>
                <a:latin typeface="Arial" panose="020B0604020202020204" pitchFamily="34" charset="0"/>
                <a:ea typeface="Arial" pitchFamily="34" charset="-122"/>
                <a:cs typeface="Arial" panose="020B0604020202020204" pitchFamily="34" charset="0"/>
              </a:rPr>
              <a:t>.</a:t>
            </a:r>
            <a:endParaRPr lang="en-US" sz="1100" dirty="0">
              <a:solidFill>
                <a:srgbClr val="2A2E3F"/>
              </a:solidFill>
              <a:latin typeface="Arial" panose="020B0604020202020204" pitchFamily="34" charset="0"/>
              <a:ea typeface="Arial" pitchFamily="34" charset="-122"/>
              <a:cs typeface="Arial" panose="020B0604020202020204" pitchFamily="34" charset="0"/>
            </a:endParaRPr>
          </a:p>
        </p:txBody>
      </p:sp>
      <p:sp>
        <p:nvSpPr>
          <p:cNvPr id="25" name="Shape 23"/>
          <p:cNvSpPr/>
          <p:nvPr/>
        </p:nvSpPr>
        <p:spPr>
          <a:xfrm>
            <a:off x="6583680" y="3625938"/>
            <a:ext cx="365760" cy="365760"/>
          </a:xfrm>
          <a:prstGeom prst="ellipse">
            <a:avLst/>
          </a:prstGeom>
          <a:solidFill>
            <a:srgbClr val="CADCFC"/>
          </a:solidFill>
          <a:ln/>
        </p:spPr>
      </p:sp>
      <p:sp>
        <p:nvSpPr>
          <p:cNvPr id="26" name="Text 24"/>
          <p:cNvSpPr/>
          <p:nvPr/>
        </p:nvSpPr>
        <p:spPr>
          <a:xfrm>
            <a:off x="6583680" y="3625938"/>
            <a:ext cx="365760" cy="365760"/>
          </a:xfrm>
          <a:prstGeom prst="rect">
            <a:avLst/>
          </a:prstGeom>
          <a:noFill/>
          <a:ln/>
        </p:spPr>
        <p:txBody>
          <a:bodyPr wrap="square" rtlCol="0" anchor="ctr"/>
          <a:lstStyle/>
          <a:p>
            <a:pPr marL="0" indent="0" algn="ctr">
              <a:buNone/>
            </a:pPr>
            <a:r>
              <a:rPr lang="en-US" sz="1040" b="1" dirty="0">
                <a:solidFill>
                  <a:srgbClr val="1E2761"/>
                </a:solidFill>
                <a:latin typeface="Arial" pitchFamily="34" charset="0"/>
                <a:ea typeface="Arial" pitchFamily="34" charset="-122"/>
                <a:cs typeface="Arial" pitchFamily="34" charset="-120"/>
              </a:rPr>
              <a:t>2</a:t>
            </a:r>
            <a:endParaRPr lang="en-US" sz="1040" dirty="0"/>
          </a:p>
        </p:txBody>
      </p:sp>
      <p:sp>
        <p:nvSpPr>
          <p:cNvPr id="27" name="Text 25"/>
          <p:cNvSpPr/>
          <p:nvPr/>
        </p:nvSpPr>
        <p:spPr>
          <a:xfrm>
            <a:off x="7040880" y="3310469"/>
            <a:ext cx="4343400" cy="472213"/>
          </a:xfrm>
          <a:prstGeom prst="rect">
            <a:avLst/>
          </a:prstGeom>
          <a:noFill/>
          <a:ln/>
        </p:spPr>
        <p:txBody>
          <a:bodyPr wrap="square" rtlCol="0" anchor="ctr"/>
          <a:lstStyle/>
          <a:p>
            <a:pPr algn="just">
              <a:lnSpc>
                <a:spcPct val="115000"/>
              </a:lnSpc>
            </a:pPr>
            <a:endParaRPr lang="en-US" sz="1100" dirty="0"/>
          </a:p>
        </p:txBody>
      </p:sp>
      <p:sp>
        <p:nvSpPr>
          <p:cNvPr id="28" name="Shape 26"/>
          <p:cNvSpPr/>
          <p:nvPr/>
        </p:nvSpPr>
        <p:spPr>
          <a:xfrm>
            <a:off x="6583680" y="4450829"/>
            <a:ext cx="365760" cy="365760"/>
          </a:xfrm>
          <a:prstGeom prst="ellipse">
            <a:avLst/>
          </a:prstGeom>
          <a:solidFill>
            <a:srgbClr val="CADCFC"/>
          </a:solidFill>
          <a:ln/>
        </p:spPr>
      </p:sp>
      <p:sp>
        <p:nvSpPr>
          <p:cNvPr id="29" name="Text 27"/>
          <p:cNvSpPr/>
          <p:nvPr/>
        </p:nvSpPr>
        <p:spPr>
          <a:xfrm>
            <a:off x="6583680" y="4455036"/>
            <a:ext cx="365760" cy="365760"/>
          </a:xfrm>
          <a:prstGeom prst="rect">
            <a:avLst/>
          </a:prstGeom>
          <a:noFill/>
          <a:ln/>
        </p:spPr>
        <p:txBody>
          <a:bodyPr wrap="square" rtlCol="0" anchor="ctr"/>
          <a:lstStyle/>
          <a:p>
            <a:pPr marL="0" indent="0" algn="ctr">
              <a:buNone/>
            </a:pPr>
            <a:r>
              <a:rPr lang="en-US" sz="1040" b="1" dirty="0">
                <a:solidFill>
                  <a:srgbClr val="1E2761"/>
                </a:solidFill>
                <a:latin typeface="Arial" pitchFamily="34" charset="0"/>
                <a:ea typeface="Arial" pitchFamily="34" charset="-122"/>
                <a:cs typeface="Arial" pitchFamily="34" charset="-120"/>
              </a:rPr>
              <a:t>3</a:t>
            </a:r>
            <a:endParaRPr lang="en-US" sz="1040" dirty="0"/>
          </a:p>
        </p:txBody>
      </p:sp>
      <p:sp>
        <p:nvSpPr>
          <p:cNvPr id="30" name="Text 28"/>
          <p:cNvSpPr/>
          <p:nvPr/>
        </p:nvSpPr>
        <p:spPr>
          <a:xfrm>
            <a:off x="7021585" y="3755240"/>
            <a:ext cx="4343400" cy="368704"/>
          </a:xfrm>
          <a:prstGeom prst="rect">
            <a:avLst/>
          </a:prstGeom>
          <a:noFill/>
          <a:ln/>
        </p:spPr>
        <p:txBody>
          <a:bodyPr wrap="square" rtlCol="0" anchor="ctr"/>
          <a:lstStyle/>
          <a:p>
            <a:pPr algn="just">
              <a:lnSpc>
                <a:spcPct val="115000"/>
              </a:lnSpc>
            </a:pPr>
            <a:r>
              <a:rPr lang="vi-VN" sz="1100" dirty="0">
                <a:solidFill>
                  <a:srgbClr val="2A2E3F"/>
                </a:solidFill>
                <a:ea typeface="Arial" pitchFamily="34" charset="-122"/>
                <a:cs typeface="Arial" pitchFamily="34" charset="-120"/>
              </a:rPr>
              <a:t>Category office_furniture: GMV 335K, 1,254 đơn, nhưng chỉ 30 seller — tỷ lệ đơn/seller cao, dư địa mở rộng seller base tương tự.</a:t>
            </a:r>
            <a:endParaRPr lang="en-US" sz="1100" dirty="0"/>
          </a:p>
        </p:txBody>
      </p:sp>
      <p:sp>
        <p:nvSpPr>
          <p:cNvPr id="33" name="Text 31"/>
          <p:cNvSpPr/>
          <p:nvPr/>
        </p:nvSpPr>
        <p:spPr>
          <a:xfrm>
            <a:off x="7040880" y="4352125"/>
            <a:ext cx="4343400" cy="1265982"/>
          </a:xfrm>
          <a:prstGeom prst="rect">
            <a:avLst/>
          </a:prstGeom>
          <a:noFill/>
          <a:ln/>
        </p:spPr>
        <p:txBody>
          <a:bodyPr wrap="square" rtlCol="0" anchor="ctr"/>
          <a:lstStyle/>
          <a:p>
            <a:pPr algn="just">
              <a:lnSpc>
                <a:spcPct val="115000"/>
              </a:lnSpc>
            </a:pPr>
            <a:r>
              <a:rPr lang="en-US" sz="1100" dirty="0" err="1" smtClean="0">
                <a:solidFill>
                  <a:srgbClr val="2A2E3F"/>
                </a:solidFill>
                <a:latin typeface="Arial" panose="020B0604020202020204" pitchFamily="34" charset="0"/>
                <a:ea typeface="Arial" pitchFamily="34" charset="-122"/>
                <a:cs typeface="Arial" panose="020B0604020202020204" pitchFamily="34" charset="0"/>
              </a:rPr>
              <a:t>Cần</a:t>
            </a:r>
            <a:r>
              <a:rPr lang="en-US" sz="1100" dirty="0">
                <a:solidFill>
                  <a:srgbClr val="2A2E3F"/>
                </a:solidFill>
                <a:latin typeface="Arial" panose="020B0604020202020204" pitchFamily="34" charset="0"/>
                <a:ea typeface="Arial" pitchFamily="34" charset="-122"/>
                <a:cs typeface="Arial" panose="020B0604020202020204" pitchFamily="34" charset="0"/>
              </a:rPr>
              <a:t> </a:t>
            </a:r>
            <a:r>
              <a:rPr lang="en-US" sz="1100" dirty="0" err="1" smtClean="0">
                <a:solidFill>
                  <a:srgbClr val="2A2E3F"/>
                </a:solidFill>
                <a:latin typeface="Arial" panose="020B0604020202020204" pitchFamily="34" charset="0"/>
                <a:ea typeface="Arial" pitchFamily="34" charset="-122"/>
                <a:cs typeface="Arial" panose="020B0604020202020204" pitchFamily="34" charset="0"/>
              </a:rPr>
              <a:t>xem</a:t>
            </a:r>
            <a:r>
              <a:rPr lang="en-US" sz="1100" dirty="0" smtClean="0">
                <a:solidFill>
                  <a:srgbClr val="2A2E3F"/>
                </a:solidFill>
                <a:latin typeface="Arial" panose="020B0604020202020204" pitchFamily="34" charset="0"/>
                <a:ea typeface="Arial" pitchFamily="34" charset="-122"/>
                <a:cs typeface="Arial" panose="020B0604020202020204" pitchFamily="34" charset="0"/>
              </a:rPr>
              <a:t> </a:t>
            </a:r>
            <a:r>
              <a:rPr lang="en-US" sz="1100" dirty="0" err="1" smtClean="0">
                <a:solidFill>
                  <a:srgbClr val="2A2E3F"/>
                </a:solidFill>
                <a:latin typeface="Arial" panose="020B0604020202020204" pitchFamily="34" charset="0"/>
                <a:ea typeface="Arial" pitchFamily="34" charset="-122"/>
                <a:cs typeface="Arial" panose="020B0604020202020204" pitchFamily="34" charset="0"/>
              </a:rPr>
              <a:t>xét</a:t>
            </a:r>
            <a:r>
              <a:rPr lang="en-US" sz="1100" dirty="0" smtClean="0">
                <a:solidFill>
                  <a:srgbClr val="2A2E3F"/>
                </a:solidFill>
                <a:latin typeface="Arial" panose="020B0604020202020204" pitchFamily="34" charset="0"/>
                <a:ea typeface="Arial" pitchFamily="34" charset="-122"/>
                <a:cs typeface="Arial" panose="020B0604020202020204" pitchFamily="34" charset="0"/>
              </a:rPr>
              <a:t> </a:t>
            </a:r>
            <a:r>
              <a:rPr lang="en-US" sz="1100" dirty="0" err="1" smtClean="0">
                <a:solidFill>
                  <a:srgbClr val="2A2E3F"/>
                </a:solidFill>
                <a:latin typeface="Arial" panose="020B0604020202020204" pitchFamily="34" charset="0"/>
                <a:ea typeface="Arial" pitchFamily="34" charset="-122"/>
                <a:cs typeface="Arial" panose="020B0604020202020204" pitchFamily="34" charset="0"/>
              </a:rPr>
              <a:t>các</a:t>
            </a:r>
            <a:r>
              <a:rPr lang="en-US" sz="1100" dirty="0" smtClean="0">
                <a:solidFill>
                  <a:srgbClr val="2A2E3F"/>
                </a:solidFill>
                <a:latin typeface="Arial" panose="020B0604020202020204" pitchFamily="34" charset="0"/>
                <a:ea typeface="Arial" pitchFamily="34" charset="-122"/>
                <a:cs typeface="Arial" panose="020B0604020202020204" pitchFamily="34" charset="0"/>
              </a:rPr>
              <a:t> category </a:t>
            </a:r>
            <a:r>
              <a:rPr lang="en-US" sz="1100" dirty="0" err="1" smtClean="0">
                <a:solidFill>
                  <a:srgbClr val="2A2E3F"/>
                </a:solidFill>
                <a:latin typeface="Arial" panose="020B0604020202020204" pitchFamily="34" charset="0"/>
                <a:ea typeface="Arial" pitchFamily="34" charset="-122"/>
                <a:cs typeface="Arial" panose="020B0604020202020204" pitchFamily="34" charset="0"/>
              </a:rPr>
              <a:t>cực</a:t>
            </a:r>
            <a:r>
              <a:rPr lang="en-US" sz="1100" dirty="0" smtClean="0">
                <a:solidFill>
                  <a:srgbClr val="2A2E3F"/>
                </a:solidFill>
                <a:latin typeface="Arial" panose="020B0604020202020204" pitchFamily="34" charset="0"/>
                <a:ea typeface="Arial" pitchFamily="34" charset="-122"/>
                <a:cs typeface="Arial" panose="020B0604020202020204" pitchFamily="34" charset="0"/>
              </a:rPr>
              <a:t> </a:t>
            </a:r>
            <a:r>
              <a:rPr lang="en-US" sz="1100" dirty="0" err="1" smtClean="0">
                <a:solidFill>
                  <a:srgbClr val="2A2E3F"/>
                </a:solidFill>
                <a:latin typeface="Arial" panose="020B0604020202020204" pitchFamily="34" charset="0"/>
                <a:ea typeface="Arial" pitchFamily="34" charset="-122"/>
                <a:cs typeface="Arial" panose="020B0604020202020204" pitchFamily="34" charset="0"/>
              </a:rPr>
              <a:t>nhỏ</a:t>
            </a:r>
            <a:r>
              <a:rPr lang="en-US" sz="1100" dirty="0" smtClean="0">
                <a:solidFill>
                  <a:srgbClr val="2A2E3F"/>
                </a:solidFill>
                <a:latin typeface="Arial" panose="020B0604020202020204" pitchFamily="34" charset="0"/>
                <a:ea typeface="Arial" pitchFamily="34" charset="-122"/>
                <a:cs typeface="Arial" panose="020B0604020202020204" pitchFamily="34" charset="0"/>
              </a:rPr>
              <a:t> </a:t>
            </a:r>
            <a:r>
              <a:rPr lang="en-US" sz="1100" dirty="0" err="1" smtClean="0">
                <a:solidFill>
                  <a:srgbClr val="2A2E3F"/>
                </a:solidFill>
                <a:latin typeface="Arial" panose="020B0604020202020204" pitchFamily="34" charset="0"/>
                <a:ea typeface="Arial" pitchFamily="34" charset="-122"/>
                <a:cs typeface="Arial" panose="020B0604020202020204" pitchFamily="34" charset="0"/>
              </a:rPr>
              <a:t>như</a:t>
            </a:r>
            <a:r>
              <a:rPr lang="en-US" sz="1100" dirty="0" smtClean="0">
                <a:solidFill>
                  <a:srgbClr val="2A2E3F"/>
                </a:solidFill>
                <a:latin typeface="Arial" panose="020B0604020202020204" pitchFamily="34" charset="0"/>
                <a:ea typeface="Arial" pitchFamily="34" charset="-122"/>
                <a:cs typeface="Arial" panose="020B0604020202020204" pitchFamily="34" charset="0"/>
              </a:rPr>
              <a:t> </a:t>
            </a:r>
            <a:r>
              <a:rPr lang="vi-VN" sz="1100" dirty="0" smtClean="0">
                <a:solidFill>
                  <a:srgbClr val="2A2E3F"/>
                </a:solidFill>
                <a:latin typeface="Arial" panose="020B0604020202020204" pitchFamily="34" charset="0"/>
                <a:ea typeface="Arial" pitchFamily="34" charset="-122"/>
                <a:cs typeface="Arial" panose="020B0604020202020204" pitchFamily="34" charset="0"/>
              </a:rPr>
              <a:t>la_cuisine </a:t>
            </a:r>
            <a:r>
              <a:rPr lang="vi-VN" sz="1100" dirty="0">
                <a:solidFill>
                  <a:srgbClr val="2A2E3F"/>
                </a:solidFill>
                <a:latin typeface="Arial" panose="020B0604020202020204" pitchFamily="34" charset="0"/>
                <a:ea typeface="Arial" pitchFamily="34" charset="-122"/>
                <a:cs typeface="Arial" panose="020B0604020202020204" pitchFamily="34" charset="0"/>
              </a:rPr>
              <a:t>(chỉ 13 đơn, 2 seller toàn kỳ) hay security_and_services (2 đơn) </a:t>
            </a:r>
            <a:r>
              <a:rPr lang="en-US" sz="1100" dirty="0" err="1" smtClean="0">
                <a:solidFill>
                  <a:srgbClr val="2A2E3F"/>
                </a:solidFill>
                <a:latin typeface="Arial" panose="020B0604020202020204" pitchFamily="34" charset="0"/>
                <a:ea typeface="Arial" pitchFamily="34" charset="-122"/>
                <a:cs typeface="Arial" panose="020B0604020202020204" pitchFamily="34" charset="0"/>
              </a:rPr>
              <a:t>khỏi</a:t>
            </a:r>
            <a:r>
              <a:rPr lang="vi-VN" sz="1100" dirty="0" smtClean="0">
                <a:solidFill>
                  <a:srgbClr val="2A2E3F"/>
                </a:solidFill>
                <a:latin typeface="Arial" panose="020B0604020202020204" pitchFamily="34" charset="0"/>
                <a:ea typeface="Arial" pitchFamily="34" charset="-122"/>
                <a:cs typeface="Arial" panose="020B0604020202020204" pitchFamily="34" charset="0"/>
              </a:rPr>
              <a:t> </a:t>
            </a:r>
            <a:r>
              <a:rPr lang="vi-VN" sz="1100" dirty="0">
                <a:solidFill>
                  <a:srgbClr val="2A2E3F"/>
                </a:solidFill>
                <a:latin typeface="Arial" panose="020B0604020202020204" pitchFamily="34" charset="0"/>
                <a:ea typeface="Arial" pitchFamily="34" charset="-122"/>
                <a:cs typeface="Arial" panose="020B0604020202020204" pitchFamily="34" charset="0"/>
              </a:rPr>
              <a:t>diện "cần đa dạng hóa" — đây là category gần như không có nhu cầu thực, mở rộng vào đây sẽ lãng phí nguồn lực. </a:t>
            </a:r>
            <a:r>
              <a:rPr lang="vi-VN" sz="1100" dirty="0" smtClean="0">
                <a:solidFill>
                  <a:srgbClr val="2A2E3F"/>
                </a:solidFill>
                <a:latin typeface="Arial" panose="020B0604020202020204" pitchFamily="34" charset="0"/>
                <a:ea typeface="Arial" pitchFamily="34" charset="-122"/>
                <a:cs typeface="Arial" panose="020B0604020202020204" pitchFamily="34" charset="0"/>
              </a:rPr>
              <a:t>Đây </a:t>
            </a:r>
            <a:r>
              <a:rPr lang="vi-VN" sz="1100" dirty="0">
                <a:solidFill>
                  <a:srgbClr val="2A2E3F"/>
                </a:solidFill>
                <a:latin typeface="Arial" panose="020B0604020202020204" pitchFamily="34" charset="0"/>
                <a:ea typeface="Arial" pitchFamily="34" charset="-122"/>
                <a:cs typeface="Arial" panose="020B0604020202020204" pitchFamily="34" charset="0"/>
              </a:rPr>
              <a:t>cũng là lý do cần loại bỏ la_cuisine khỏi </a:t>
            </a:r>
            <a:r>
              <a:rPr lang="vi-VN" sz="1100" dirty="0" smtClean="0">
                <a:solidFill>
                  <a:srgbClr val="2A2E3F"/>
                </a:solidFill>
                <a:latin typeface="Arial" panose="020B0604020202020204" pitchFamily="34" charset="0"/>
                <a:ea typeface="Arial" pitchFamily="34" charset="-122"/>
                <a:cs typeface="Arial" panose="020B0604020202020204" pitchFamily="34" charset="0"/>
              </a:rPr>
              <a:t>installment </a:t>
            </a:r>
            <a:r>
              <a:rPr lang="vi-VN" sz="1100" dirty="0">
                <a:solidFill>
                  <a:srgbClr val="2A2E3F"/>
                </a:solidFill>
                <a:latin typeface="Arial" panose="020B0604020202020204" pitchFamily="34" charset="0"/>
                <a:ea typeface="Arial" pitchFamily="34" charset="-122"/>
                <a:cs typeface="Arial" panose="020B0604020202020204" pitchFamily="34" charset="0"/>
              </a:rPr>
              <a:t>ở </a:t>
            </a:r>
            <a:r>
              <a:rPr lang="vi-VN" sz="1100" dirty="0" smtClean="0">
                <a:solidFill>
                  <a:srgbClr val="2A2E3F"/>
                </a:solidFill>
                <a:latin typeface="Arial" panose="020B0604020202020204" pitchFamily="34" charset="0"/>
                <a:ea typeface="Arial" pitchFamily="34" charset="-122"/>
                <a:cs typeface="Arial" panose="020B0604020202020204" pitchFamily="34" charset="0"/>
              </a:rPr>
              <a:t>Marketing.</a:t>
            </a:r>
            <a:endParaRPr lang="en-US" sz="1100" dirty="0">
              <a:latin typeface="Arial" panose="020B0604020202020204" pitchFamily="34" charset="0"/>
              <a:cs typeface="Arial" panose="020B0604020202020204" pitchFamily="34" charset="0"/>
            </a:endParaRPr>
          </a:p>
        </p:txBody>
      </p:sp>
      <p:sp>
        <p:nvSpPr>
          <p:cNvPr id="34" name="Text 32"/>
          <p:cNvSpPr/>
          <p:nvPr/>
        </p:nvSpPr>
        <p:spPr>
          <a:xfrm>
            <a:off x="457200" y="6473952"/>
            <a:ext cx="5486400" cy="274320"/>
          </a:xfrm>
          <a:prstGeom prst="rect">
            <a:avLst/>
          </a:prstGeom>
          <a:noFill/>
          <a:ln/>
        </p:spPr>
        <p:txBody>
          <a:bodyPr wrap="square" rtlCol="0" anchor="ctr"/>
          <a:lstStyle/>
          <a:p>
            <a:pPr marL="0" indent="0" algn="l">
              <a:buNone/>
            </a:pPr>
            <a:r>
              <a:rPr lang="en-US" sz="900" dirty="0">
                <a:solidFill>
                  <a:srgbClr val="9AA3B8"/>
                </a:solidFill>
                <a:latin typeface="Arial" pitchFamily="34" charset="0"/>
                <a:ea typeface="Arial" pitchFamily="34" charset="-122"/>
                <a:cs typeface="Arial" pitchFamily="34" charset="-120"/>
              </a:rPr>
              <a:t>OLIST ECOMMERCE ANALYTICS</a:t>
            </a:r>
            <a:endParaRPr lang="en-US" sz="900" dirty="0"/>
          </a:p>
        </p:txBody>
      </p:sp>
      <p:sp>
        <p:nvSpPr>
          <p:cNvPr id="35" name="Text 33"/>
          <p:cNvSpPr/>
          <p:nvPr/>
        </p:nvSpPr>
        <p:spPr>
          <a:xfrm>
            <a:off x="8074152" y="6473952"/>
            <a:ext cx="3657600" cy="274320"/>
          </a:xfrm>
          <a:prstGeom prst="rect">
            <a:avLst/>
          </a:prstGeom>
          <a:noFill/>
          <a:ln/>
        </p:spPr>
        <p:txBody>
          <a:bodyPr wrap="square" rtlCol="0" anchor="ctr"/>
          <a:lstStyle/>
          <a:p>
            <a:pPr marL="0" indent="0" algn="r">
              <a:buNone/>
            </a:pPr>
            <a:r>
              <a:rPr lang="en-US" sz="900" dirty="0">
                <a:solidFill>
                  <a:srgbClr val="9AA3B8"/>
                </a:solidFill>
                <a:latin typeface="Arial" pitchFamily="34" charset="0"/>
                <a:ea typeface="Arial" pitchFamily="34" charset="-122"/>
                <a:cs typeface="Arial" pitchFamily="34" charset="-120"/>
              </a:rPr>
              <a:t>14</a:t>
            </a:r>
            <a:endParaRPr lang="en-US" sz="900"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7FC"/>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Đề xuất hành động (2/2)</a:t>
            </a:r>
            <a:endParaRPr lang="en-US" sz="3000" dirty="0"/>
          </a:p>
        </p:txBody>
      </p:sp>
      <p:sp>
        <p:nvSpPr>
          <p:cNvPr id="3" name="Text 1"/>
          <p:cNvSpPr/>
          <p:nvPr/>
        </p:nvSpPr>
        <p:spPr>
          <a:xfrm>
            <a:off x="548640" y="932688"/>
            <a:ext cx="11091672" cy="365760"/>
          </a:xfrm>
          <a:prstGeom prst="rect">
            <a:avLst/>
          </a:prstGeom>
          <a:noFill/>
          <a:ln/>
        </p:spPr>
        <p:txBody>
          <a:bodyPr wrap="square" rtlCol="0" anchor="ctr"/>
          <a:lstStyle/>
          <a:p>
            <a:pPr marL="0" indent="0">
              <a:buNone/>
            </a:pPr>
            <a:r>
              <a:rPr lang="en-US" sz="1300" i="1" dirty="0">
                <a:solidFill>
                  <a:srgbClr val="6B7280"/>
                </a:solidFill>
                <a:latin typeface="Arial" pitchFamily="34" charset="0"/>
                <a:ea typeface="Arial" pitchFamily="34" charset="-122"/>
                <a:cs typeface="Arial" pitchFamily="34" charset="-120"/>
              </a:rPr>
              <a:t>CRM/Retention · Finance/Ops · Marketing</a:t>
            </a:r>
            <a:endParaRPr lang="en-US" sz="1300" dirty="0"/>
          </a:p>
        </p:txBody>
      </p:sp>
      <p:sp>
        <p:nvSpPr>
          <p:cNvPr id="4" name="Shape 2"/>
          <p:cNvSpPr/>
          <p:nvPr/>
        </p:nvSpPr>
        <p:spPr>
          <a:xfrm>
            <a:off x="548640" y="1234440"/>
            <a:ext cx="5394960" cy="5239512"/>
          </a:xfrm>
          <a:prstGeom prst="roundRect">
            <a:avLst>
              <a:gd name="adj" fmla="val 1121"/>
            </a:avLst>
          </a:prstGeom>
          <a:solidFill>
            <a:srgbClr val="FFFFFF"/>
          </a:solidFill>
          <a:ln w="12700">
            <a:solidFill>
              <a:srgbClr val="E9ECF5"/>
            </a:solidFill>
            <a:prstDash val="solid"/>
          </a:ln>
          <a:effectLst>
            <a:outerShdw blurRad="63500" dist="25400" dir="5400000" algn="bl" rotWithShape="0">
              <a:srgbClr val="1E2761">
                <a:alpha val="10000"/>
              </a:srgbClr>
            </a:outerShdw>
          </a:effectLst>
        </p:spPr>
      </p:sp>
      <p:sp>
        <p:nvSpPr>
          <p:cNvPr id="5" name="Shape 3"/>
          <p:cNvSpPr/>
          <p:nvPr/>
        </p:nvSpPr>
        <p:spPr>
          <a:xfrm>
            <a:off x="822960" y="1508760"/>
            <a:ext cx="4846320" cy="502920"/>
          </a:xfrm>
          <a:prstGeom prst="roundRect">
            <a:avLst>
              <a:gd name="adj" fmla="val 49091"/>
            </a:avLst>
          </a:prstGeom>
          <a:solidFill>
            <a:srgbClr val="2B8A3E"/>
          </a:solidFill>
          <a:ln/>
        </p:spPr>
      </p:sp>
      <p:sp>
        <p:nvSpPr>
          <p:cNvPr id="6" name="Text 4"/>
          <p:cNvSpPr/>
          <p:nvPr/>
        </p:nvSpPr>
        <p:spPr>
          <a:xfrm>
            <a:off x="822960" y="1508760"/>
            <a:ext cx="4846320" cy="50292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CRM / RETENTION</a:t>
            </a:r>
            <a:endParaRPr lang="en-US" sz="1400" dirty="0"/>
          </a:p>
        </p:txBody>
      </p:sp>
      <p:sp>
        <p:nvSpPr>
          <p:cNvPr id="7" name="Shape 5"/>
          <p:cNvSpPr/>
          <p:nvPr/>
        </p:nvSpPr>
        <p:spPr>
          <a:xfrm>
            <a:off x="868680" y="2286000"/>
            <a:ext cx="365760" cy="365760"/>
          </a:xfrm>
          <a:prstGeom prst="ellipse">
            <a:avLst/>
          </a:prstGeom>
          <a:solidFill>
            <a:srgbClr val="CADCFC"/>
          </a:solidFill>
          <a:ln/>
        </p:spPr>
      </p:sp>
      <p:sp>
        <p:nvSpPr>
          <p:cNvPr id="8" name="Text 6"/>
          <p:cNvSpPr/>
          <p:nvPr/>
        </p:nvSpPr>
        <p:spPr>
          <a:xfrm>
            <a:off x="868680" y="2286000"/>
            <a:ext cx="365760" cy="365760"/>
          </a:xfrm>
          <a:prstGeom prst="rect">
            <a:avLst/>
          </a:prstGeom>
          <a:noFill/>
          <a:ln/>
        </p:spPr>
        <p:txBody>
          <a:bodyPr wrap="square" rtlCol="0" anchor="ctr"/>
          <a:lstStyle/>
          <a:p>
            <a:pPr marL="0" indent="0" algn="ctr">
              <a:buNone/>
            </a:pPr>
            <a:r>
              <a:rPr lang="en-US" sz="1040" b="1" dirty="0">
                <a:solidFill>
                  <a:srgbClr val="1E2761"/>
                </a:solidFill>
                <a:latin typeface="Arial" pitchFamily="34" charset="0"/>
                <a:ea typeface="Arial" pitchFamily="34" charset="-122"/>
                <a:cs typeface="Arial" pitchFamily="34" charset="-120"/>
              </a:rPr>
              <a:t>1</a:t>
            </a:r>
            <a:endParaRPr lang="en-US" sz="1040" dirty="0"/>
          </a:p>
        </p:txBody>
      </p:sp>
      <p:sp>
        <p:nvSpPr>
          <p:cNvPr id="9" name="Text 7"/>
          <p:cNvSpPr/>
          <p:nvPr/>
        </p:nvSpPr>
        <p:spPr>
          <a:xfrm>
            <a:off x="1417320" y="2212848"/>
            <a:ext cx="4343400" cy="1261872"/>
          </a:xfrm>
          <a:prstGeom prst="rect">
            <a:avLst/>
          </a:prstGeom>
          <a:noFill/>
          <a:ln/>
        </p:spPr>
        <p:txBody>
          <a:bodyPr wrap="square" rtlCol="0" anchor="ctr"/>
          <a:lstStyle/>
          <a:p>
            <a:pPr algn="just">
              <a:lnSpc>
                <a:spcPct val="115000"/>
              </a:lnSpc>
            </a:pPr>
            <a:r>
              <a:rPr lang="vi-VN" sz="1100" dirty="0">
                <a:solidFill>
                  <a:srgbClr val="2A2E3F"/>
                </a:solidFill>
                <a:ea typeface="Arial" pitchFamily="34" charset="-122"/>
                <a:cs typeface="Arial" pitchFamily="34" charset="-120"/>
              </a:rPr>
              <a:t>Nhóm Champions (24,082 khách, AVG Recency 157 ngày, AVG Monetary R$291.24): đề xuất cụ thể — ưu đãi miễn phí ship cho đơn tiếp theo nếu mua lại trong vòng 150 ngày kể từ đơn gần nhất (khớp sát AVG Recency thực tế của nhóm này, thay vì mốc thời gian tùy ý).</a:t>
            </a:r>
            <a:endParaRPr lang="en-US" sz="1100" dirty="0"/>
          </a:p>
        </p:txBody>
      </p:sp>
      <p:sp>
        <p:nvSpPr>
          <p:cNvPr id="10" name="Shape 8"/>
          <p:cNvSpPr/>
          <p:nvPr/>
        </p:nvSpPr>
        <p:spPr>
          <a:xfrm>
            <a:off x="891540" y="4023360"/>
            <a:ext cx="365760" cy="365760"/>
          </a:xfrm>
          <a:prstGeom prst="ellipse">
            <a:avLst/>
          </a:prstGeom>
          <a:solidFill>
            <a:srgbClr val="CADCFC"/>
          </a:solidFill>
          <a:ln/>
        </p:spPr>
      </p:sp>
      <p:sp>
        <p:nvSpPr>
          <p:cNvPr id="11" name="Text 9"/>
          <p:cNvSpPr/>
          <p:nvPr/>
        </p:nvSpPr>
        <p:spPr>
          <a:xfrm>
            <a:off x="891540" y="4002679"/>
            <a:ext cx="365760" cy="365760"/>
          </a:xfrm>
          <a:prstGeom prst="rect">
            <a:avLst/>
          </a:prstGeom>
          <a:noFill/>
          <a:ln/>
        </p:spPr>
        <p:txBody>
          <a:bodyPr wrap="square" rtlCol="0" anchor="ctr"/>
          <a:lstStyle/>
          <a:p>
            <a:pPr marL="0" indent="0" algn="ctr">
              <a:buNone/>
            </a:pPr>
            <a:r>
              <a:rPr lang="en-US" sz="1040" b="1" dirty="0">
                <a:solidFill>
                  <a:srgbClr val="1E2761"/>
                </a:solidFill>
                <a:latin typeface="Arial" pitchFamily="34" charset="0"/>
                <a:ea typeface="Arial" pitchFamily="34" charset="-122"/>
                <a:cs typeface="Arial" pitchFamily="34" charset="-120"/>
              </a:rPr>
              <a:t>2</a:t>
            </a:r>
            <a:endParaRPr lang="en-US" sz="1040" dirty="0"/>
          </a:p>
        </p:txBody>
      </p:sp>
      <p:sp>
        <p:nvSpPr>
          <p:cNvPr id="12" name="Text 10"/>
          <p:cNvSpPr/>
          <p:nvPr/>
        </p:nvSpPr>
        <p:spPr>
          <a:xfrm>
            <a:off x="1417320" y="3994774"/>
            <a:ext cx="4343400" cy="1460690"/>
          </a:xfrm>
          <a:prstGeom prst="rect">
            <a:avLst/>
          </a:prstGeom>
          <a:noFill/>
          <a:ln/>
        </p:spPr>
        <p:txBody>
          <a:bodyPr wrap="square" rtlCol="0" anchor="ctr"/>
          <a:lstStyle/>
          <a:p>
            <a:pPr algn="just">
              <a:lnSpc>
                <a:spcPct val="115000"/>
              </a:lnSpc>
            </a:pPr>
            <a:r>
              <a:rPr lang="vi-VN" sz="1100" dirty="0">
                <a:solidFill>
                  <a:srgbClr val="2A2E3F"/>
                </a:solidFill>
                <a:ea typeface="Arial" pitchFamily="34" charset="-122"/>
                <a:cs typeface="Arial" pitchFamily="34" charset="-120"/>
              </a:rPr>
              <a:t>Nhóm At Risk (26,347 khách — nhóm đông nhất, chiếm 27% tổng khách, AVG Recency 356 ngày): đề xuất gửi voucher win-back đúng vào mốc 300-330 ngày không mua (trước khi khách chạm mốc trung bình 356 ngày của nhóm — tức "đánh chặn" sớm hơn xu hướng rời bỏ trung bình), thay vì chờ đến khi khách đã hoàn toàn im lặng mới hành động.</a:t>
            </a:r>
            <a:endParaRPr lang="en-US" sz="1100" dirty="0"/>
          </a:p>
        </p:txBody>
      </p:sp>
      <p:sp>
        <p:nvSpPr>
          <p:cNvPr id="16" name="Shape 14"/>
          <p:cNvSpPr/>
          <p:nvPr/>
        </p:nvSpPr>
        <p:spPr>
          <a:xfrm>
            <a:off x="6263640" y="1234440"/>
            <a:ext cx="5394960" cy="2331720"/>
          </a:xfrm>
          <a:prstGeom prst="roundRect">
            <a:avLst>
              <a:gd name="adj" fmla="val 2353"/>
            </a:avLst>
          </a:prstGeom>
          <a:solidFill>
            <a:srgbClr val="FFFFFF"/>
          </a:solidFill>
          <a:ln w="12700">
            <a:solidFill>
              <a:srgbClr val="E9ECF5"/>
            </a:solidFill>
            <a:prstDash val="solid"/>
          </a:ln>
          <a:effectLst>
            <a:outerShdw blurRad="63500" dist="25400" dir="5400000" algn="bl" rotWithShape="0">
              <a:srgbClr val="1E2761">
                <a:alpha val="10000"/>
              </a:srgbClr>
            </a:outerShdw>
          </a:effectLst>
        </p:spPr>
      </p:sp>
      <p:sp>
        <p:nvSpPr>
          <p:cNvPr id="17" name="Shape 15"/>
          <p:cNvSpPr/>
          <p:nvPr/>
        </p:nvSpPr>
        <p:spPr>
          <a:xfrm>
            <a:off x="6537960" y="1508760"/>
            <a:ext cx="4846320" cy="457200"/>
          </a:xfrm>
          <a:prstGeom prst="roundRect">
            <a:avLst>
              <a:gd name="adj" fmla="val 50000"/>
            </a:avLst>
          </a:prstGeom>
          <a:solidFill>
            <a:srgbClr val="1E2761"/>
          </a:solidFill>
          <a:ln/>
        </p:spPr>
      </p:sp>
      <p:sp>
        <p:nvSpPr>
          <p:cNvPr id="18" name="Text 16"/>
          <p:cNvSpPr/>
          <p:nvPr/>
        </p:nvSpPr>
        <p:spPr>
          <a:xfrm>
            <a:off x="6537960" y="1508760"/>
            <a:ext cx="4846320" cy="45720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FINANCE / OPS</a:t>
            </a:r>
            <a:endParaRPr lang="en-US" sz="1300" dirty="0"/>
          </a:p>
        </p:txBody>
      </p:sp>
      <p:sp>
        <p:nvSpPr>
          <p:cNvPr id="19" name="Text 17"/>
          <p:cNvSpPr/>
          <p:nvPr/>
        </p:nvSpPr>
        <p:spPr>
          <a:xfrm>
            <a:off x="6537960" y="2103120"/>
            <a:ext cx="4846320" cy="1371600"/>
          </a:xfrm>
          <a:prstGeom prst="rect">
            <a:avLst/>
          </a:prstGeom>
          <a:noFill/>
          <a:ln/>
        </p:spPr>
        <p:txBody>
          <a:bodyPr wrap="square" rtlCol="0" anchor="ctr"/>
          <a:lstStyle/>
          <a:p>
            <a:pPr marL="0" indent="0" algn="just">
              <a:lnSpc>
                <a:spcPct val="125000"/>
              </a:lnSpc>
              <a:buNone/>
            </a:pPr>
            <a:r>
              <a:rPr lang="en-US" sz="1100" b="1" dirty="0">
                <a:solidFill>
                  <a:srgbClr val="2A2E3F"/>
                </a:solidFill>
                <a:latin typeface="Arial" pitchFamily="34" charset="0"/>
                <a:ea typeface="Arial" pitchFamily="34" charset="-122"/>
                <a:cs typeface="Arial" pitchFamily="34" charset="-120"/>
              </a:rPr>
              <a:t>•  </a:t>
            </a:r>
            <a:r>
              <a:rPr lang="en-US" sz="1100" dirty="0">
                <a:solidFill>
                  <a:srgbClr val="2A2E3F"/>
                </a:solidFill>
                <a:latin typeface="Arial" pitchFamily="34" charset="0"/>
                <a:ea typeface="Arial" pitchFamily="34" charset="-122"/>
                <a:cs typeface="Arial" pitchFamily="34" charset="-120"/>
              </a:rPr>
              <a:t>Rà soát và xử lý 772 đơn 'thanh toán không có sản phẩm' (162.59K BRL).
</a:t>
            </a:r>
            <a:r>
              <a:rPr lang="en-US" sz="1100" b="1" dirty="0">
                <a:solidFill>
                  <a:srgbClr val="2A2E3F"/>
                </a:solidFill>
                <a:latin typeface="Arial" pitchFamily="34" charset="0"/>
                <a:ea typeface="Arial" pitchFamily="34" charset="-122"/>
                <a:cs typeface="Arial" pitchFamily="34" charset="-120"/>
              </a:rPr>
              <a:t>•  </a:t>
            </a:r>
            <a:r>
              <a:rPr lang="en-US" sz="1100" dirty="0">
                <a:solidFill>
                  <a:srgbClr val="2A2E3F"/>
                </a:solidFill>
                <a:latin typeface="Arial" pitchFamily="34" charset="0"/>
                <a:ea typeface="Arial" pitchFamily="34" charset="-122"/>
                <a:cs typeface="Arial" pitchFamily="34" charset="-120"/>
              </a:rPr>
              <a:t>Đối soát định kỳ Payment vs Order Items để phát hiện sớm bất thường.
</a:t>
            </a:r>
            <a:r>
              <a:rPr lang="en-US" sz="1100" b="1" dirty="0">
                <a:solidFill>
                  <a:srgbClr val="2A2E3F"/>
                </a:solidFill>
                <a:latin typeface="Arial" pitchFamily="34" charset="0"/>
                <a:ea typeface="Arial" pitchFamily="34" charset="-122"/>
                <a:cs typeface="Arial" pitchFamily="34" charset="-120"/>
              </a:rPr>
              <a:t>•  </a:t>
            </a:r>
            <a:r>
              <a:rPr lang="en-US" sz="1100" dirty="0">
                <a:solidFill>
                  <a:srgbClr val="2A2E3F"/>
                </a:solidFill>
                <a:latin typeface="Arial" pitchFamily="34" charset="0"/>
                <a:ea typeface="Arial" pitchFamily="34" charset="-122"/>
                <a:cs typeface="Arial" pitchFamily="34" charset="-120"/>
              </a:rPr>
              <a:t>Liên kết dữ liệu Ngân hàng để đề xuất ưu đãi trả góp theo đối tác thẻ.</a:t>
            </a:r>
            <a:endParaRPr lang="en-US" sz="1100" dirty="0"/>
          </a:p>
        </p:txBody>
      </p:sp>
      <p:sp>
        <p:nvSpPr>
          <p:cNvPr id="20" name="Shape 18"/>
          <p:cNvSpPr/>
          <p:nvPr/>
        </p:nvSpPr>
        <p:spPr>
          <a:xfrm>
            <a:off x="6263640" y="3794760"/>
            <a:ext cx="5394960" cy="2679192"/>
          </a:xfrm>
          <a:prstGeom prst="roundRect">
            <a:avLst>
              <a:gd name="adj" fmla="val 2353"/>
            </a:avLst>
          </a:prstGeom>
          <a:solidFill>
            <a:srgbClr val="FFFFFF"/>
          </a:solidFill>
          <a:ln w="12700">
            <a:solidFill>
              <a:srgbClr val="E9ECF5"/>
            </a:solidFill>
            <a:prstDash val="solid"/>
          </a:ln>
          <a:effectLst>
            <a:outerShdw blurRad="63500" dist="25400" dir="5400000" algn="bl" rotWithShape="0">
              <a:srgbClr val="1E2761">
                <a:alpha val="10000"/>
              </a:srgbClr>
            </a:outerShdw>
          </a:effectLst>
        </p:spPr>
      </p:sp>
      <p:sp>
        <p:nvSpPr>
          <p:cNvPr id="21" name="Shape 19"/>
          <p:cNvSpPr/>
          <p:nvPr/>
        </p:nvSpPr>
        <p:spPr>
          <a:xfrm>
            <a:off x="6610685" y="3886200"/>
            <a:ext cx="4846320" cy="457200"/>
          </a:xfrm>
          <a:prstGeom prst="roundRect">
            <a:avLst>
              <a:gd name="adj" fmla="val 50000"/>
            </a:avLst>
          </a:prstGeom>
          <a:solidFill>
            <a:srgbClr val="E8590C"/>
          </a:solidFill>
          <a:ln/>
        </p:spPr>
      </p:sp>
      <p:sp>
        <p:nvSpPr>
          <p:cNvPr id="22" name="Text 20"/>
          <p:cNvSpPr/>
          <p:nvPr/>
        </p:nvSpPr>
        <p:spPr>
          <a:xfrm>
            <a:off x="6610685" y="3886285"/>
            <a:ext cx="4846320" cy="45720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MARKETING</a:t>
            </a:r>
            <a:endParaRPr lang="en-US" sz="1300" dirty="0"/>
          </a:p>
        </p:txBody>
      </p:sp>
      <p:sp>
        <p:nvSpPr>
          <p:cNvPr id="23" name="Text 21"/>
          <p:cNvSpPr/>
          <p:nvPr/>
        </p:nvSpPr>
        <p:spPr>
          <a:xfrm>
            <a:off x="6537959" y="4358419"/>
            <a:ext cx="4919045" cy="2100428"/>
          </a:xfrm>
          <a:prstGeom prst="rect">
            <a:avLst/>
          </a:prstGeom>
          <a:noFill/>
          <a:ln/>
        </p:spPr>
        <p:txBody>
          <a:bodyPr wrap="square" rtlCol="0" anchor="ctr"/>
          <a:lstStyle/>
          <a:p>
            <a:pPr algn="just">
              <a:lnSpc>
                <a:spcPct val="125000"/>
              </a:lnSpc>
            </a:pPr>
            <a:r>
              <a:rPr lang="en-US" sz="1100" dirty="0" smtClean="0">
                <a:solidFill>
                  <a:srgbClr val="2A2E3F"/>
                </a:solidFill>
                <a:latin typeface="Arial" panose="020B0604020202020204" pitchFamily="34" charset="0"/>
                <a:ea typeface="Arial" pitchFamily="34" charset="-122"/>
                <a:cs typeface="Arial" panose="020B0604020202020204" pitchFamily="34" charset="0"/>
              </a:rPr>
              <a:t>1/ </a:t>
            </a:r>
            <a:r>
              <a:rPr lang="vi-VN" sz="1100" dirty="0" smtClean="0">
                <a:solidFill>
                  <a:srgbClr val="2A2E3F"/>
                </a:solidFill>
                <a:latin typeface="Arial" panose="020B0604020202020204" pitchFamily="34" charset="0"/>
                <a:ea typeface="Arial" pitchFamily="34" charset="-122"/>
                <a:cs typeface="Arial" panose="020B0604020202020204" pitchFamily="34" charset="0"/>
              </a:rPr>
              <a:t>Nên </a:t>
            </a:r>
            <a:r>
              <a:rPr lang="vi-VN" sz="1100" dirty="0">
                <a:solidFill>
                  <a:srgbClr val="2A2E3F"/>
                </a:solidFill>
                <a:latin typeface="Arial" panose="020B0604020202020204" pitchFamily="34" charset="0"/>
                <a:ea typeface="Arial" pitchFamily="34" charset="-122"/>
                <a:cs typeface="Arial" panose="020B0604020202020204" pitchFamily="34" charset="0"/>
              </a:rPr>
              <a:t>chạy gói trả góp ưu đãi cho computers (177 đơn ) và office_furniture (1,254 đơn), loại la_cuisine (chỉ 13 đơn) và fashio_female_clothing (36 đơn) ra khỏi danh sách target, vì avg installment của 2 category này tính trên cỡ mẫu quá nhỏ, không đủ tin cậy để làm căn cứ chạy chiến dịch</a:t>
            </a:r>
            <a:r>
              <a:rPr lang="vi-VN" sz="1100" dirty="0" smtClean="0">
                <a:solidFill>
                  <a:srgbClr val="2A2E3F"/>
                </a:solidFill>
                <a:latin typeface="Arial" panose="020B0604020202020204" pitchFamily="34" charset="0"/>
                <a:ea typeface="Arial" pitchFamily="34" charset="-122"/>
                <a:cs typeface="Arial" panose="020B0604020202020204" pitchFamily="34" charset="0"/>
              </a:rPr>
              <a:t>.</a:t>
            </a:r>
            <a:endParaRPr lang="en-US" sz="1100" dirty="0" smtClean="0">
              <a:solidFill>
                <a:srgbClr val="2A2E3F"/>
              </a:solidFill>
              <a:latin typeface="Arial" panose="020B0604020202020204" pitchFamily="34" charset="0"/>
              <a:ea typeface="Arial" pitchFamily="34" charset="-122"/>
              <a:cs typeface="Arial" panose="020B0604020202020204" pitchFamily="34" charset="0"/>
            </a:endParaRPr>
          </a:p>
          <a:p>
            <a:pPr algn="just">
              <a:lnSpc>
                <a:spcPct val="125000"/>
              </a:lnSpc>
            </a:pPr>
            <a:r>
              <a:rPr lang="en-US" sz="1100" dirty="0" smtClean="0">
                <a:solidFill>
                  <a:srgbClr val="2A2E3F"/>
                </a:solidFill>
                <a:latin typeface="Arial" panose="020B0604020202020204" pitchFamily="34" charset="0"/>
                <a:ea typeface="Arial" pitchFamily="34" charset="-122"/>
                <a:cs typeface="Arial" panose="020B0604020202020204" pitchFamily="34" charset="0"/>
              </a:rPr>
              <a:t>2/ </a:t>
            </a:r>
            <a:r>
              <a:rPr lang="vi-VN" sz="1100" dirty="0" smtClean="0">
                <a:solidFill>
                  <a:srgbClr val="2A2E3F"/>
                </a:solidFill>
                <a:latin typeface="Arial" panose="020B0604020202020204" pitchFamily="34" charset="0"/>
                <a:ea typeface="Arial" pitchFamily="34" charset="-122"/>
                <a:cs typeface="Arial" panose="020B0604020202020204" pitchFamily="34" charset="0"/>
              </a:rPr>
              <a:t>Mở </a:t>
            </a:r>
            <a:r>
              <a:rPr lang="vi-VN" sz="1100" dirty="0">
                <a:solidFill>
                  <a:srgbClr val="2A2E3F"/>
                </a:solidFill>
                <a:latin typeface="Arial" panose="020B0604020202020204" pitchFamily="34" charset="0"/>
                <a:ea typeface="Arial" pitchFamily="34" charset="-122"/>
                <a:cs typeface="Arial" panose="020B0604020202020204" pitchFamily="34" charset="0"/>
              </a:rPr>
              <a:t>rộng thị trường </a:t>
            </a:r>
            <a:r>
              <a:rPr lang="vi-VN" sz="1100" dirty="0" smtClean="0">
                <a:solidFill>
                  <a:srgbClr val="2A2E3F"/>
                </a:solidFill>
                <a:latin typeface="Arial" panose="020B0604020202020204" pitchFamily="34" charset="0"/>
                <a:ea typeface="Arial" pitchFamily="34" charset="-122"/>
                <a:cs typeface="Arial" panose="020B0604020202020204" pitchFamily="34" charset="0"/>
              </a:rPr>
              <a:t>: </a:t>
            </a:r>
            <a:r>
              <a:rPr lang="vi-VN" sz="1100" dirty="0">
                <a:solidFill>
                  <a:srgbClr val="2A2E3F"/>
                </a:solidFill>
                <a:latin typeface="Arial" panose="020B0604020202020204" pitchFamily="34" charset="0"/>
                <a:ea typeface="Arial" pitchFamily="34" charset="-122"/>
                <a:cs typeface="Arial" panose="020B0604020202020204" pitchFamily="34" charset="0"/>
              </a:rPr>
              <a:t>22,032 khách hàng (~22.9% tổng khách) đến từ 22 bang ngoài Top 5. Trong đó RR (45 khách), AP (67), AC (77), AM (143) gần như chưa được khai thác. </a:t>
            </a:r>
            <a:endParaRPr lang="en-US" sz="1100" dirty="0" smtClean="0">
              <a:solidFill>
                <a:srgbClr val="2A2E3F"/>
              </a:solidFill>
              <a:latin typeface="Arial" panose="020B0604020202020204" pitchFamily="34" charset="0"/>
              <a:ea typeface="Arial" pitchFamily="34" charset="-122"/>
              <a:cs typeface="Arial" panose="020B0604020202020204" pitchFamily="34" charset="0"/>
            </a:endParaRPr>
          </a:p>
          <a:p>
            <a:pPr algn="just">
              <a:lnSpc>
                <a:spcPct val="125000"/>
              </a:lnSpc>
            </a:pPr>
            <a:r>
              <a:rPr lang="vi-VN" sz="1100" dirty="0" smtClean="0">
                <a:solidFill>
                  <a:srgbClr val="2A2E3F"/>
                </a:solidFill>
                <a:latin typeface="Arial" panose="020B0604020202020204" pitchFamily="34" charset="0"/>
                <a:ea typeface="Arial" pitchFamily="34" charset="-122"/>
                <a:cs typeface="Arial" panose="020B0604020202020204" pitchFamily="34" charset="0"/>
              </a:rPr>
              <a:t>Đề </a:t>
            </a:r>
            <a:r>
              <a:rPr lang="vi-VN" sz="1100" dirty="0">
                <a:solidFill>
                  <a:srgbClr val="2A2E3F"/>
                </a:solidFill>
                <a:latin typeface="Arial" panose="020B0604020202020204" pitchFamily="34" charset="0"/>
                <a:ea typeface="Arial" pitchFamily="34" charset="-122"/>
                <a:cs typeface="Arial" panose="020B0604020202020204" pitchFamily="34" charset="0"/>
              </a:rPr>
              <a:t>xuất: chạy quảng cáo địa phương hóa/hợp tác vận chuyển giá ưu đãi thử nghiệm tại các bang này trước khi mở rộng đại trà.</a:t>
            </a:r>
            <a:endParaRPr lang="en-US" sz="1100" dirty="0">
              <a:latin typeface="Arial" panose="020B0604020202020204" pitchFamily="34" charset="0"/>
              <a:cs typeface="Arial" panose="020B0604020202020204" pitchFamily="34" charset="0"/>
            </a:endParaRPr>
          </a:p>
        </p:txBody>
      </p:sp>
      <p:sp>
        <p:nvSpPr>
          <p:cNvPr id="24" name="Text 22"/>
          <p:cNvSpPr/>
          <p:nvPr/>
        </p:nvSpPr>
        <p:spPr>
          <a:xfrm>
            <a:off x="457200" y="6473952"/>
            <a:ext cx="5486400" cy="274320"/>
          </a:xfrm>
          <a:prstGeom prst="rect">
            <a:avLst/>
          </a:prstGeom>
          <a:noFill/>
          <a:ln/>
        </p:spPr>
        <p:txBody>
          <a:bodyPr wrap="square" rtlCol="0" anchor="ctr"/>
          <a:lstStyle/>
          <a:p>
            <a:pPr marL="0" indent="0" algn="l">
              <a:buNone/>
            </a:pPr>
            <a:r>
              <a:rPr lang="en-US" sz="900" dirty="0">
                <a:solidFill>
                  <a:srgbClr val="9AA3B8"/>
                </a:solidFill>
                <a:latin typeface="Arial" pitchFamily="34" charset="0"/>
                <a:ea typeface="Arial" pitchFamily="34" charset="-122"/>
                <a:cs typeface="Arial" pitchFamily="34" charset="-120"/>
              </a:rPr>
              <a:t>OLIST ECOMMERCE ANALYTICS</a:t>
            </a:r>
            <a:endParaRPr lang="en-US" sz="900" dirty="0"/>
          </a:p>
        </p:txBody>
      </p:sp>
      <p:sp>
        <p:nvSpPr>
          <p:cNvPr id="25" name="Text 23"/>
          <p:cNvSpPr/>
          <p:nvPr/>
        </p:nvSpPr>
        <p:spPr>
          <a:xfrm>
            <a:off x="8074152" y="6473952"/>
            <a:ext cx="3657600" cy="274320"/>
          </a:xfrm>
          <a:prstGeom prst="rect">
            <a:avLst/>
          </a:prstGeom>
          <a:noFill/>
          <a:ln/>
        </p:spPr>
        <p:txBody>
          <a:bodyPr wrap="square" rtlCol="0" anchor="ctr"/>
          <a:lstStyle/>
          <a:p>
            <a:pPr marL="0" indent="0" algn="r">
              <a:buNone/>
            </a:pPr>
            <a:r>
              <a:rPr lang="en-US" sz="900" dirty="0">
                <a:solidFill>
                  <a:srgbClr val="9AA3B8"/>
                </a:solidFill>
                <a:latin typeface="Arial" pitchFamily="34" charset="0"/>
                <a:ea typeface="Arial" pitchFamily="34" charset="-122"/>
                <a:cs typeface="Arial" pitchFamily="34" charset="-120"/>
              </a:rPr>
              <a:t>15</a:t>
            </a:r>
            <a:endParaRPr lang="en-US" sz="900" dirty="0"/>
          </a:p>
        </p:txBody>
      </p:sp>
    </p:spTree>
  </p:cSld>
  <p:clrMapOvr>
    <a:masterClrMapping/>
  </p:clrMapOvr>
  <p:transition spd="slow">
    <p:wip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640080" y="502920"/>
            <a:ext cx="9144000" cy="64008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Bước tiếp theo</a:t>
            </a:r>
            <a:endParaRPr lang="en-US" sz="3000" dirty="0"/>
          </a:p>
        </p:txBody>
      </p:sp>
      <p:sp>
        <p:nvSpPr>
          <p:cNvPr id="3" name="Text 1"/>
          <p:cNvSpPr/>
          <p:nvPr/>
        </p:nvSpPr>
        <p:spPr>
          <a:xfrm>
            <a:off x="640080" y="1097280"/>
            <a:ext cx="9144000" cy="365760"/>
          </a:xfrm>
          <a:prstGeom prst="rect">
            <a:avLst/>
          </a:prstGeom>
          <a:noFill/>
          <a:ln/>
        </p:spPr>
        <p:txBody>
          <a:bodyPr wrap="square" rtlCol="0" anchor="ctr"/>
          <a:lstStyle/>
          <a:p>
            <a:pPr marL="0" indent="0">
              <a:buNone/>
            </a:pPr>
            <a:r>
              <a:rPr lang="en-US" sz="1300" i="1" dirty="0">
                <a:solidFill>
                  <a:srgbClr val="CADCFC"/>
                </a:solidFill>
                <a:latin typeface="Arial" pitchFamily="34" charset="0"/>
                <a:ea typeface="Arial" pitchFamily="34" charset="-122"/>
                <a:cs typeface="Arial" pitchFamily="34" charset="-120"/>
              </a:rPr>
              <a:t>Roadmap nâng cấp hệ thống phân tích</a:t>
            </a:r>
            <a:endParaRPr lang="en-US" sz="1300" dirty="0"/>
          </a:p>
        </p:txBody>
      </p:sp>
      <p:sp>
        <p:nvSpPr>
          <p:cNvPr id="4" name="Shape 2"/>
          <p:cNvSpPr/>
          <p:nvPr/>
        </p:nvSpPr>
        <p:spPr>
          <a:xfrm>
            <a:off x="640080" y="1828800"/>
            <a:ext cx="1920240" cy="777240"/>
          </a:xfrm>
          <a:prstGeom prst="roundRect">
            <a:avLst>
              <a:gd name="adj" fmla="val 7059"/>
            </a:avLst>
          </a:prstGeom>
          <a:solidFill>
            <a:srgbClr val="2B8A3E"/>
          </a:solidFill>
          <a:ln/>
        </p:spPr>
      </p:sp>
      <p:sp>
        <p:nvSpPr>
          <p:cNvPr id="5" name="Text 3"/>
          <p:cNvSpPr/>
          <p:nvPr/>
        </p:nvSpPr>
        <p:spPr>
          <a:xfrm>
            <a:off x="640080" y="1828800"/>
            <a:ext cx="1920240" cy="777240"/>
          </a:xfrm>
          <a:prstGeom prst="rect">
            <a:avLst/>
          </a:prstGeom>
          <a:noFill/>
          <a:ln/>
        </p:spPr>
        <p:txBody>
          <a:bodyPr wrap="square" rtlCol="0" anchor="ctr"/>
          <a:lstStyle/>
          <a:p>
            <a:pPr marL="0" indent="0" algn="ctr">
              <a:buNone/>
            </a:pPr>
            <a:r>
              <a:rPr lang="en-US" sz="1150" b="1" dirty="0">
                <a:solidFill>
                  <a:srgbClr val="FFFFFF"/>
                </a:solidFill>
                <a:latin typeface="Arial" pitchFamily="34" charset="0"/>
                <a:ea typeface="Arial" pitchFamily="34" charset="-122"/>
                <a:cs typeface="Arial" pitchFamily="34" charset="-120"/>
              </a:rPr>
              <a:t>Đã hoàn thành</a:t>
            </a:r>
            <a:endParaRPr lang="en-US" sz="1150" dirty="0"/>
          </a:p>
        </p:txBody>
      </p:sp>
      <p:sp>
        <p:nvSpPr>
          <p:cNvPr id="6" name="Text 4"/>
          <p:cNvSpPr/>
          <p:nvPr/>
        </p:nvSpPr>
        <p:spPr>
          <a:xfrm>
            <a:off x="2788920" y="1828800"/>
            <a:ext cx="8778240" cy="777240"/>
          </a:xfrm>
          <a:prstGeom prst="rect">
            <a:avLst/>
          </a:prstGeom>
          <a:noFill/>
          <a:ln/>
        </p:spPr>
        <p:txBody>
          <a:bodyPr wrap="square" rtlCol="0" anchor="ctr"/>
          <a:lstStyle/>
          <a:p>
            <a:pPr marL="0" indent="0">
              <a:lnSpc>
                <a:spcPct val="120000"/>
              </a:lnSpc>
              <a:buNone/>
            </a:pPr>
            <a:r>
              <a:rPr lang="en-US" sz="1300" dirty="0">
                <a:solidFill>
                  <a:srgbClr val="FFFFFF"/>
                </a:solidFill>
                <a:latin typeface="Arial" pitchFamily="34" charset="0"/>
                <a:ea typeface="Arial" pitchFamily="34" charset="-122"/>
                <a:cs typeface="Arial" pitchFamily="34" charset="-120"/>
              </a:rPr>
              <a:t>Auto-refresh Dashboard hằng ngày (Power BI Scheduled Refresh)</a:t>
            </a:r>
            <a:endParaRPr lang="en-US" sz="1300" dirty="0"/>
          </a:p>
        </p:txBody>
      </p:sp>
      <p:sp>
        <p:nvSpPr>
          <p:cNvPr id="7" name="Shape 5"/>
          <p:cNvSpPr/>
          <p:nvPr/>
        </p:nvSpPr>
        <p:spPr>
          <a:xfrm>
            <a:off x="640080" y="2880360"/>
            <a:ext cx="1920240" cy="777240"/>
          </a:xfrm>
          <a:prstGeom prst="roundRect">
            <a:avLst>
              <a:gd name="adj" fmla="val 7059"/>
            </a:avLst>
          </a:prstGeom>
          <a:solidFill>
            <a:srgbClr val="2E5EAA"/>
          </a:solidFill>
          <a:ln/>
        </p:spPr>
      </p:sp>
      <p:sp>
        <p:nvSpPr>
          <p:cNvPr id="8" name="Text 6"/>
          <p:cNvSpPr/>
          <p:nvPr/>
        </p:nvSpPr>
        <p:spPr>
          <a:xfrm>
            <a:off x="640080" y="2880360"/>
            <a:ext cx="1920240" cy="777240"/>
          </a:xfrm>
          <a:prstGeom prst="rect">
            <a:avLst/>
          </a:prstGeom>
          <a:noFill/>
          <a:ln/>
        </p:spPr>
        <p:txBody>
          <a:bodyPr wrap="square" rtlCol="0" anchor="ctr"/>
          <a:lstStyle/>
          <a:p>
            <a:pPr marL="0" indent="0" algn="ctr">
              <a:buNone/>
            </a:pPr>
            <a:r>
              <a:rPr lang="en-US" sz="1150" b="1" dirty="0">
                <a:solidFill>
                  <a:srgbClr val="FFFFFF"/>
                </a:solidFill>
                <a:latin typeface="Arial" pitchFamily="34" charset="0"/>
                <a:ea typeface="Arial" pitchFamily="34" charset="-122"/>
                <a:cs typeface="Arial" pitchFamily="34" charset="-120"/>
              </a:rPr>
              <a:t>Ngắn hạn</a:t>
            </a:r>
            <a:endParaRPr lang="en-US" sz="1150" dirty="0"/>
          </a:p>
        </p:txBody>
      </p:sp>
      <p:sp>
        <p:nvSpPr>
          <p:cNvPr id="9" name="Text 7"/>
          <p:cNvSpPr/>
          <p:nvPr/>
        </p:nvSpPr>
        <p:spPr>
          <a:xfrm>
            <a:off x="2788920" y="2880360"/>
            <a:ext cx="8778240" cy="777240"/>
          </a:xfrm>
          <a:prstGeom prst="rect">
            <a:avLst/>
          </a:prstGeom>
          <a:noFill/>
          <a:ln/>
        </p:spPr>
        <p:txBody>
          <a:bodyPr wrap="square" rtlCol="0" anchor="ctr"/>
          <a:lstStyle/>
          <a:p>
            <a:pPr marL="0" indent="0">
              <a:lnSpc>
                <a:spcPct val="120000"/>
              </a:lnSpc>
              <a:buNone/>
            </a:pPr>
            <a:r>
              <a:rPr lang="en-US" sz="1300" dirty="0" err="1">
                <a:solidFill>
                  <a:srgbClr val="FFFFFF"/>
                </a:solidFill>
                <a:latin typeface="Arial" pitchFamily="34" charset="0"/>
                <a:ea typeface="Arial" pitchFamily="34" charset="-122"/>
                <a:cs typeface="Arial" pitchFamily="34" charset="-120"/>
              </a:rPr>
              <a:t>Nâng</a:t>
            </a:r>
            <a:r>
              <a:rPr lang="en-US" sz="1300" dirty="0">
                <a:solidFill>
                  <a:srgbClr val="FFFFFF"/>
                </a:solidFill>
                <a:latin typeface="Arial" pitchFamily="34" charset="0"/>
                <a:ea typeface="Arial" pitchFamily="34" charset="-122"/>
                <a:cs typeface="Arial" pitchFamily="34" charset="-120"/>
              </a:rPr>
              <a:t> </a:t>
            </a:r>
            <a:r>
              <a:rPr lang="en-US" sz="1300" dirty="0" err="1" smtClean="0">
                <a:solidFill>
                  <a:srgbClr val="FFFFFF"/>
                </a:solidFill>
                <a:latin typeface="Arial" pitchFamily="34" charset="0"/>
                <a:ea typeface="Arial" pitchFamily="34" charset="-122"/>
                <a:cs typeface="Arial" pitchFamily="34" charset="-120"/>
              </a:rPr>
              <a:t>cấp</a:t>
            </a:r>
            <a:r>
              <a:rPr lang="en-US" sz="1300" dirty="0" smtClean="0">
                <a:solidFill>
                  <a:srgbClr val="FFFFFF"/>
                </a:solidFill>
                <a:latin typeface="Arial" pitchFamily="34" charset="0"/>
                <a:ea typeface="Arial" pitchFamily="34" charset="-122"/>
                <a:cs typeface="Arial" pitchFamily="34" charset="-120"/>
              </a:rPr>
              <a:t> </a:t>
            </a:r>
            <a:r>
              <a:rPr lang="en-US" sz="1300" dirty="0" err="1" smtClean="0">
                <a:solidFill>
                  <a:srgbClr val="FFFFFF"/>
                </a:solidFill>
                <a:latin typeface="Arial" pitchFamily="34" charset="0"/>
                <a:ea typeface="Arial" pitchFamily="34" charset="-122"/>
                <a:cs typeface="Arial" pitchFamily="34" charset="-120"/>
              </a:rPr>
              <a:t>lại</a:t>
            </a:r>
            <a:r>
              <a:rPr lang="en-US" sz="1300" dirty="0" smtClean="0">
                <a:solidFill>
                  <a:srgbClr val="FFFFFF"/>
                </a:solidFill>
                <a:latin typeface="Arial" pitchFamily="34" charset="0"/>
                <a:ea typeface="Arial" pitchFamily="34" charset="-122"/>
                <a:cs typeface="Arial" pitchFamily="34" charset="-120"/>
              </a:rPr>
              <a:t> </a:t>
            </a:r>
            <a:r>
              <a:rPr lang="en-US" sz="1300" dirty="0" err="1" smtClean="0">
                <a:solidFill>
                  <a:srgbClr val="FFFFFF"/>
                </a:solidFill>
                <a:latin typeface="Arial" pitchFamily="34" charset="0"/>
                <a:ea typeface="Arial" pitchFamily="34" charset="-122"/>
                <a:cs typeface="Arial" pitchFamily="34" charset="-120"/>
              </a:rPr>
              <a:t>phương</a:t>
            </a:r>
            <a:r>
              <a:rPr lang="en-US" sz="1300" dirty="0" smtClean="0">
                <a:solidFill>
                  <a:srgbClr val="FFFFFF"/>
                </a:solidFill>
                <a:latin typeface="Arial" pitchFamily="34" charset="0"/>
                <a:ea typeface="Arial" pitchFamily="34" charset="-122"/>
                <a:cs typeface="Arial" pitchFamily="34" charset="-120"/>
              </a:rPr>
              <a:t> </a:t>
            </a:r>
            <a:r>
              <a:rPr lang="en-US" sz="1300" dirty="0" err="1" smtClean="0">
                <a:solidFill>
                  <a:srgbClr val="FFFFFF"/>
                </a:solidFill>
                <a:latin typeface="Arial" pitchFamily="34" charset="0"/>
                <a:ea typeface="Arial" pitchFamily="34" charset="-122"/>
                <a:cs typeface="Arial" pitchFamily="34" charset="-120"/>
              </a:rPr>
              <a:t>thức</a:t>
            </a:r>
            <a:r>
              <a:rPr lang="en-US" sz="1300" dirty="0" smtClean="0">
                <a:solidFill>
                  <a:srgbClr val="FFFFFF"/>
                </a:solidFill>
                <a:latin typeface="Arial" pitchFamily="34" charset="0"/>
                <a:ea typeface="Arial" pitchFamily="34" charset="-122"/>
                <a:cs typeface="Arial" pitchFamily="34" charset="-120"/>
              </a:rPr>
              <a:t> </a:t>
            </a:r>
            <a:r>
              <a:rPr lang="en-US" sz="1300" dirty="0">
                <a:solidFill>
                  <a:srgbClr val="FFFFFF"/>
                </a:solidFill>
                <a:latin typeface="Arial" pitchFamily="34" charset="0"/>
                <a:ea typeface="Arial" pitchFamily="34" charset="-122"/>
                <a:cs typeface="Arial" pitchFamily="34" charset="-120"/>
              </a:rPr>
              <a:t>phân loại bình luận từ Rule-based sang </a:t>
            </a:r>
            <a:r>
              <a:rPr lang="en-US" sz="1300" dirty="0" smtClean="0">
                <a:solidFill>
                  <a:srgbClr val="FFFFFF"/>
                </a:solidFill>
                <a:latin typeface="Arial" pitchFamily="34" charset="0"/>
                <a:ea typeface="Arial" pitchFamily="34" charset="-122"/>
                <a:cs typeface="Arial" pitchFamily="34" charset="-120"/>
              </a:rPr>
              <a:t>NLP </a:t>
            </a:r>
            <a:r>
              <a:rPr lang="en-US" sz="1300" dirty="0" err="1" smtClean="0">
                <a:solidFill>
                  <a:srgbClr val="FFFFFF"/>
                </a:solidFill>
                <a:latin typeface="Arial" pitchFamily="34" charset="0"/>
                <a:ea typeface="Arial" pitchFamily="34" charset="-122"/>
                <a:cs typeface="Arial" pitchFamily="34" charset="-120"/>
              </a:rPr>
              <a:t>hoặc</a:t>
            </a:r>
            <a:r>
              <a:rPr lang="en-US" sz="1300" dirty="0" smtClean="0">
                <a:solidFill>
                  <a:srgbClr val="FFFFFF"/>
                </a:solidFill>
                <a:latin typeface="Arial" pitchFamily="34" charset="0"/>
                <a:ea typeface="Arial" pitchFamily="34" charset="-122"/>
                <a:cs typeface="Arial" pitchFamily="34" charset="-120"/>
              </a:rPr>
              <a:t> LLM </a:t>
            </a:r>
            <a:r>
              <a:rPr lang="en-US" sz="1300" dirty="0">
                <a:solidFill>
                  <a:srgbClr val="FFFFFF"/>
                </a:solidFill>
                <a:latin typeface="Arial" pitchFamily="34" charset="0"/>
                <a:ea typeface="Arial" pitchFamily="34" charset="-122"/>
                <a:cs typeface="Arial" pitchFamily="34" charset="-120"/>
              </a:rPr>
              <a:t>để tăng độ </a:t>
            </a:r>
            <a:r>
              <a:rPr lang="en-US" sz="1300" dirty="0" err="1">
                <a:solidFill>
                  <a:srgbClr val="FFFFFF"/>
                </a:solidFill>
                <a:latin typeface="Arial" pitchFamily="34" charset="0"/>
                <a:ea typeface="Arial" pitchFamily="34" charset="-122"/>
                <a:cs typeface="Arial" pitchFamily="34" charset="-120"/>
              </a:rPr>
              <a:t>chính</a:t>
            </a:r>
            <a:r>
              <a:rPr lang="en-US" sz="1300" dirty="0">
                <a:solidFill>
                  <a:srgbClr val="FFFFFF"/>
                </a:solidFill>
                <a:latin typeface="Arial" pitchFamily="34" charset="0"/>
                <a:ea typeface="Arial" pitchFamily="34" charset="-122"/>
                <a:cs typeface="Arial" pitchFamily="34" charset="-120"/>
              </a:rPr>
              <a:t> </a:t>
            </a:r>
            <a:r>
              <a:rPr lang="en-US" sz="1300" dirty="0" err="1" smtClean="0">
                <a:solidFill>
                  <a:srgbClr val="FFFFFF"/>
                </a:solidFill>
                <a:latin typeface="Arial" pitchFamily="34" charset="0"/>
                <a:ea typeface="Arial" pitchFamily="34" charset="-122"/>
                <a:cs typeface="Arial" pitchFamily="34" charset="-120"/>
              </a:rPr>
              <a:t>xác</a:t>
            </a:r>
            <a:r>
              <a:rPr lang="en-US" sz="1300" dirty="0" smtClean="0">
                <a:solidFill>
                  <a:srgbClr val="FFFFFF"/>
                </a:solidFill>
                <a:latin typeface="Arial" pitchFamily="34" charset="0"/>
                <a:ea typeface="Arial" pitchFamily="34" charset="-122"/>
                <a:cs typeface="Arial" pitchFamily="34" charset="-120"/>
              </a:rPr>
              <a:t> (</a:t>
            </a:r>
            <a:r>
              <a:rPr lang="en-US" sz="1300" dirty="0" err="1" smtClean="0">
                <a:solidFill>
                  <a:srgbClr val="FFFFFF"/>
                </a:solidFill>
                <a:latin typeface="Arial" pitchFamily="34" charset="0"/>
                <a:ea typeface="Arial" pitchFamily="34" charset="-122"/>
                <a:cs typeface="Arial" pitchFamily="34" charset="-120"/>
              </a:rPr>
              <a:t>Có</a:t>
            </a:r>
            <a:r>
              <a:rPr lang="en-US" sz="1300" dirty="0" smtClean="0">
                <a:solidFill>
                  <a:srgbClr val="FFFFFF"/>
                </a:solidFill>
                <a:latin typeface="Arial" pitchFamily="34" charset="0"/>
                <a:ea typeface="Arial" pitchFamily="34" charset="-122"/>
                <a:cs typeface="Arial" pitchFamily="34" charset="-120"/>
              </a:rPr>
              <a:t> </a:t>
            </a:r>
            <a:r>
              <a:rPr lang="en-US" sz="1300" dirty="0" err="1" smtClean="0">
                <a:solidFill>
                  <a:srgbClr val="FFFFFF"/>
                </a:solidFill>
                <a:latin typeface="Arial" pitchFamily="34" charset="0"/>
                <a:ea typeface="Arial" pitchFamily="34" charset="-122"/>
                <a:cs typeface="Arial" pitchFamily="34" charset="-120"/>
              </a:rPr>
              <a:t>thể</a:t>
            </a:r>
            <a:r>
              <a:rPr lang="en-US" sz="1300" dirty="0" smtClean="0">
                <a:solidFill>
                  <a:srgbClr val="FFFFFF"/>
                </a:solidFill>
                <a:latin typeface="Arial" pitchFamily="34" charset="0"/>
                <a:ea typeface="Arial" pitchFamily="34" charset="-122"/>
                <a:cs typeface="Arial" pitchFamily="34" charset="-120"/>
              </a:rPr>
              <a:t> </a:t>
            </a:r>
            <a:r>
              <a:rPr lang="en-US" sz="1300" dirty="0" err="1" smtClean="0">
                <a:solidFill>
                  <a:srgbClr val="FFFFFF"/>
                </a:solidFill>
                <a:latin typeface="Arial" pitchFamily="34" charset="0"/>
                <a:ea typeface="Arial" pitchFamily="34" charset="-122"/>
                <a:cs typeface="Arial" pitchFamily="34" charset="-120"/>
              </a:rPr>
              <a:t>sử</a:t>
            </a:r>
            <a:r>
              <a:rPr lang="en-US" sz="1300" dirty="0" smtClean="0">
                <a:solidFill>
                  <a:srgbClr val="FFFFFF"/>
                </a:solidFill>
                <a:latin typeface="Arial" pitchFamily="34" charset="0"/>
                <a:ea typeface="Arial" pitchFamily="34" charset="-122"/>
                <a:cs typeface="Arial" pitchFamily="34" charset="-120"/>
              </a:rPr>
              <a:t> </a:t>
            </a:r>
            <a:r>
              <a:rPr lang="en-US" sz="1300" dirty="0" err="1" smtClean="0">
                <a:solidFill>
                  <a:srgbClr val="FFFFFF"/>
                </a:solidFill>
                <a:latin typeface="Arial" pitchFamily="34" charset="0"/>
                <a:ea typeface="Arial" pitchFamily="34" charset="-122"/>
                <a:cs typeface="Arial" pitchFamily="34" charset="-120"/>
              </a:rPr>
              <a:t>dụng</a:t>
            </a:r>
            <a:r>
              <a:rPr lang="en-US" sz="1300" dirty="0" smtClean="0">
                <a:solidFill>
                  <a:srgbClr val="FFFFFF"/>
                </a:solidFill>
                <a:latin typeface="Arial" pitchFamily="34" charset="0"/>
                <a:ea typeface="Arial" pitchFamily="34" charset="-122"/>
                <a:cs typeface="Arial" pitchFamily="34" charset="-120"/>
              </a:rPr>
              <a:t> </a:t>
            </a:r>
            <a:r>
              <a:rPr lang="en-US" sz="1300" dirty="0" err="1" smtClean="0">
                <a:solidFill>
                  <a:srgbClr val="FFFFFF"/>
                </a:solidFill>
                <a:latin typeface="Arial" pitchFamily="34" charset="0"/>
                <a:ea typeface="Arial" pitchFamily="34" charset="-122"/>
                <a:cs typeface="Arial" pitchFamily="34" charset="-120"/>
              </a:rPr>
              <a:t>công</a:t>
            </a:r>
            <a:r>
              <a:rPr lang="en-US" sz="1300" dirty="0" smtClean="0">
                <a:solidFill>
                  <a:srgbClr val="FFFFFF"/>
                </a:solidFill>
                <a:latin typeface="Arial" pitchFamily="34" charset="0"/>
                <a:ea typeface="Arial" pitchFamily="34" charset="-122"/>
                <a:cs typeface="Arial" pitchFamily="34" charset="-120"/>
              </a:rPr>
              <a:t> </a:t>
            </a:r>
            <a:r>
              <a:rPr lang="en-US" sz="1300" dirty="0" err="1" smtClean="0">
                <a:solidFill>
                  <a:srgbClr val="FFFFFF"/>
                </a:solidFill>
                <a:latin typeface="Arial" pitchFamily="34" charset="0"/>
                <a:ea typeface="Arial" pitchFamily="34" charset="-122"/>
                <a:cs typeface="Arial" pitchFamily="34" charset="-120"/>
              </a:rPr>
              <a:t>cụ</a:t>
            </a:r>
            <a:r>
              <a:rPr lang="en-US" sz="1300" dirty="0" smtClean="0">
                <a:solidFill>
                  <a:srgbClr val="FFFFFF"/>
                </a:solidFill>
                <a:latin typeface="Arial" pitchFamily="34" charset="0"/>
                <a:ea typeface="Arial" pitchFamily="34" charset="-122"/>
                <a:cs typeface="Arial" pitchFamily="34" charset="-120"/>
              </a:rPr>
              <a:t> A.I </a:t>
            </a:r>
            <a:r>
              <a:rPr lang="en-US" sz="1300" dirty="0" err="1" smtClean="0">
                <a:solidFill>
                  <a:srgbClr val="FFFFFF"/>
                </a:solidFill>
                <a:latin typeface="Arial" pitchFamily="34" charset="0"/>
                <a:ea typeface="Arial" pitchFamily="34" charset="-122"/>
                <a:cs typeface="Arial" pitchFamily="34" charset="-120"/>
              </a:rPr>
              <a:t>nhưng</a:t>
            </a:r>
            <a:r>
              <a:rPr lang="en-US" sz="1300" dirty="0" smtClean="0">
                <a:solidFill>
                  <a:srgbClr val="FFFFFF"/>
                </a:solidFill>
                <a:latin typeface="Arial" pitchFamily="34" charset="0"/>
                <a:ea typeface="Arial" pitchFamily="34" charset="-122"/>
                <a:cs typeface="Arial" pitchFamily="34" charset="-120"/>
              </a:rPr>
              <a:t> </a:t>
            </a:r>
            <a:r>
              <a:rPr lang="en-US" sz="1300" dirty="0" err="1" smtClean="0">
                <a:solidFill>
                  <a:srgbClr val="FFFFFF"/>
                </a:solidFill>
                <a:latin typeface="Arial" pitchFamily="34" charset="0"/>
                <a:ea typeface="Arial" pitchFamily="34" charset="-122"/>
                <a:cs typeface="Arial" pitchFamily="34" charset="-120"/>
              </a:rPr>
              <a:t>sẽ</a:t>
            </a:r>
            <a:r>
              <a:rPr lang="en-US" sz="1300" dirty="0" smtClean="0">
                <a:solidFill>
                  <a:srgbClr val="FFFFFF"/>
                </a:solidFill>
                <a:latin typeface="Arial" pitchFamily="34" charset="0"/>
                <a:ea typeface="Arial" pitchFamily="34" charset="-122"/>
                <a:cs typeface="Arial" pitchFamily="34" charset="-120"/>
              </a:rPr>
              <a:t> </a:t>
            </a:r>
            <a:r>
              <a:rPr lang="en-US" sz="1300" dirty="0" err="1" smtClean="0">
                <a:solidFill>
                  <a:srgbClr val="FFFFFF"/>
                </a:solidFill>
                <a:latin typeface="Arial" pitchFamily="34" charset="0"/>
                <a:ea typeface="Arial" pitchFamily="34" charset="-122"/>
                <a:cs typeface="Arial" pitchFamily="34" charset="-120"/>
              </a:rPr>
              <a:t>tốn</a:t>
            </a:r>
            <a:r>
              <a:rPr lang="en-US" sz="1300" dirty="0" smtClean="0">
                <a:solidFill>
                  <a:srgbClr val="FFFFFF"/>
                </a:solidFill>
                <a:latin typeface="Arial" pitchFamily="34" charset="0"/>
                <a:ea typeface="Arial" pitchFamily="34" charset="-122"/>
                <a:cs typeface="Arial" pitchFamily="34" charset="-120"/>
              </a:rPr>
              <a:t> </a:t>
            </a:r>
            <a:r>
              <a:rPr lang="en-US" sz="1300" dirty="0" err="1" smtClean="0">
                <a:solidFill>
                  <a:srgbClr val="FFFFFF"/>
                </a:solidFill>
                <a:latin typeface="Arial" pitchFamily="34" charset="0"/>
                <a:ea typeface="Arial" pitchFamily="34" charset="-122"/>
                <a:cs typeface="Arial" pitchFamily="34" charset="-120"/>
              </a:rPr>
              <a:t>phí</a:t>
            </a:r>
            <a:r>
              <a:rPr lang="en-US" sz="1300" dirty="0" smtClean="0">
                <a:solidFill>
                  <a:srgbClr val="FFFFFF"/>
                </a:solidFill>
                <a:latin typeface="Arial" pitchFamily="34" charset="0"/>
                <a:ea typeface="Arial" pitchFamily="34" charset="-122"/>
                <a:cs typeface="Arial" pitchFamily="34" charset="-120"/>
              </a:rPr>
              <a:t>.</a:t>
            </a:r>
            <a:endParaRPr lang="en-US" sz="1300" dirty="0"/>
          </a:p>
        </p:txBody>
      </p:sp>
      <p:sp>
        <p:nvSpPr>
          <p:cNvPr id="10" name="Shape 8"/>
          <p:cNvSpPr/>
          <p:nvPr/>
        </p:nvSpPr>
        <p:spPr>
          <a:xfrm>
            <a:off x="640080" y="3931920"/>
            <a:ext cx="1920240" cy="777240"/>
          </a:xfrm>
          <a:prstGeom prst="roundRect">
            <a:avLst>
              <a:gd name="adj" fmla="val 7059"/>
            </a:avLst>
          </a:prstGeom>
          <a:solidFill>
            <a:srgbClr val="2E5EAA"/>
          </a:solidFill>
          <a:ln/>
        </p:spPr>
      </p:sp>
      <p:sp>
        <p:nvSpPr>
          <p:cNvPr id="11" name="Text 9"/>
          <p:cNvSpPr/>
          <p:nvPr/>
        </p:nvSpPr>
        <p:spPr>
          <a:xfrm>
            <a:off x="640080" y="3931920"/>
            <a:ext cx="1920240" cy="777240"/>
          </a:xfrm>
          <a:prstGeom prst="rect">
            <a:avLst/>
          </a:prstGeom>
          <a:noFill/>
          <a:ln/>
        </p:spPr>
        <p:txBody>
          <a:bodyPr wrap="square" rtlCol="0" anchor="ctr"/>
          <a:lstStyle/>
          <a:p>
            <a:pPr marL="0" indent="0" algn="ctr">
              <a:buNone/>
            </a:pPr>
            <a:r>
              <a:rPr lang="en-US" sz="1150" b="1" dirty="0">
                <a:solidFill>
                  <a:srgbClr val="FFFFFF"/>
                </a:solidFill>
                <a:latin typeface="Arial" pitchFamily="34" charset="0"/>
                <a:ea typeface="Arial" pitchFamily="34" charset="-122"/>
                <a:cs typeface="Arial" pitchFamily="34" charset="-120"/>
              </a:rPr>
              <a:t>Trung hạn</a:t>
            </a:r>
            <a:endParaRPr lang="en-US" sz="1150" dirty="0"/>
          </a:p>
        </p:txBody>
      </p:sp>
      <p:sp>
        <p:nvSpPr>
          <p:cNvPr id="12" name="Text 10"/>
          <p:cNvSpPr/>
          <p:nvPr/>
        </p:nvSpPr>
        <p:spPr>
          <a:xfrm>
            <a:off x="2788920" y="3931920"/>
            <a:ext cx="8778240" cy="777240"/>
          </a:xfrm>
          <a:prstGeom prst="rect">
            <a:avLst/>
          </a:prstGeom>
          <a:noFill/>
          <a:ln/>
        </p:spPr>
        <p:txBody>
          <a:bodyPr wrap="square" rtlCol="0" anchor="ctr"/>
          <a:lstStyle/>
          <a:p>
            <a:pPr marL="0" indent="0">
              <a:lnSpc>
                <a:spcPct val="120000"/>
              </a:lnSpc>
              <a:buNone/>
            </a:pPr>
            <a:r>
              <a:rPr lang="en-US" sz="1300" dirty="0" err="1">
                <a:solidFill>
                  <a:srgbClr val="FFFFFF"/>
                </a:solidFill>
                <a:latin typeface="Arial" pitchFamily="34" charset="0"/>
                <a:ea typeface="Arial" pitchFamily="34" charset="-122"/>
                <a:cs typeface="Arial" pitchFamily="34" charset="-120"/>
              </a:rPr>
              <a:t>Bổ</a:t>
            </a:r>
            <a:r>
              <a:rPr lang="en-US" sz="1300" dirty="0">
                <a:solidFill>
                  <a:srgbClr val="FFFFFF"/>
                </a:solidFill>
                <a:latin typeface="Arial" pitchFamily="34" charset="0"/>
                <a:ea typeface="Arial" pitchFamily="34" charset="-122"/>
                <a:cs typeface="Arial" pitchFamily="34" charset="-120"/>
              </a:rPr>
              <a:t> </a:t>
            </a:r>
            <a:r>
              <a:rPr lang="en-US" sz="1300" dirty="0" smtClean="0">
                <a:solidFill>
                  <a:srgbClr val="FFFFFF"/>
                </a:solidFill>
                <a:latin typeface="Arial" pitchFamily="34" charset="0"/>
                <a:ea typeface="Arial" pitchFamily="34" charset="-122"/>
                <a:cs typeface="Arial" pitchFamily="34" charset="-120"/>
              </a:rPr>
              <a:t>sung </a:t>
            </a:r>
            <a:r>
              <a:rPr lang="en-US" sz="1300" dirty="0" err="1" smtClean="0">
                <a:solidFill>
                  <a:srgbClr val="FFFFFF"/>
                </a:solidFill>
                <a:latin typeface="Arial" pitchFamily="34" charset="0"/>
                <a:ea typeface="Arial" pitchFamily="34" charset="-122"/>
                <a:cs typeface="Arial" pitchFamily="34" charset="-120"/>
              </a:rPr>
              <a:t>thêm</a:t>
            </a:r>
            <a:r>
              <a:rPr lang="en-US" sz="1300" dirty="0" smtClean="0">
                <a:solidFill>
                  <a:srgbClr val="FFFFFF"/>
                </a:solidFill>
                <a:latin typeface="Arial" pitchFamily="34" charset="0"/>
                <a:ea typeface="Arial" pitchFamily="34" charset="-122"/>
                <a:cs typeface="Arial" pitchFamily="34" charset="-120"/>
              </a:rPr>
              <a:t> </a:t>
            </a:r>
            <a:r>
              <a:rPr lang="en-US" sz="1300" dirty="0" err="1" smtClean="0">
                <a:solidFill>
                  <a:srgbClr val="FFFFFF"/>
                </a:solidFill>
                <a:latin typeface="Arial" pitchFamily="34" charset="0"/>
                <a:ea typeface="Arial" pitchFamily="34" charset="-122"/>
                <a:cs typeface="Arial" pitchFamily="34" charset="-120"/>
              </a:rPr>
              <a:t>phương</a:t>
            </a:r>
            <a:r>
              <a:rPr lang="en-US" sz="1300" dirty="0" smtClean="0">
                <a:solidFill>
                  <a:srgbClr val="FFFFFF"/>
                </a:solidFill>
                <a:latin typeface="Arial" pitchFamily="34" charset="0"/>
                <a:ea typeface="Arial" pitchFamily="34" charset="-122"/>
                <a:cs typeface="Arial" pitchFamily="34" charset="-120"/>
              </a:rPr>
              <a:t> </a:t>
            </a:r>
            <a:r>
              <a:rPr lang="en-US" sz="1300" dirty="0" err="1" smtClean="0">
                <a:solidFill>
                  <a:srgbClr val="FFFFFF"/>
                </a:solidFill>
                <a:latin typeface="Arial" pitchFamily="34" charset="0"/>
                <a:ea typeface="Arial" pitchFamily="34" charset="-122"/>
                <a:cs typeface="Arial" pitchFamily="34" charset="-120"/>
              </a:rPr>
              <a:t>pháp</a:t>
            </a:r>
            <a:r>
              <a:rPr lang="en-US" sz="1300" dirty="0" smtClean="0">
                <a:solidFill>
                  <a:srgbClr val="FFFFFF"/>
                </a:solidFill>
                <a:latin typeface="Arial" pitchFamily="34" charset="0"/>
                <a:ea typeface="Arial" pitchFamily="34" charset="-122"/>
                <a:cs typeface="Arial" pitchFamily="34" charset="-120"/>
              </a:rPr>
              <a:t> </a:t>
            </a:r>
            <a:r>
              <a:rPr lang="en-US" sz="1300" dirty="0">
                <a:solidFill>
                  <a:srgbClr val="FFFFFF"/>
                </a:solidFill>
                <a:latin typeface="Arial" pitchFamily="34" charset="0"/>
                <a:ea typeface="Arial" pitchFamily="34" charset="-122"/>
                <a:cs typeface="Arial" pitchFamily="34" charset="-120"/>
              </a:rPr>
              <a:t>Cohort Retention Analysis theo tháng để đo lường giữ chân khách hàng sâu hơn</a:t>
            </a:r>
            <a:endParaRPr lang="en-US" sz="1300" dirty="0"/>
          </a:p>
        </p:txBody>
      </p:sp>
      <p:sp>
        <p:nvSpPr>
          <p:cNvPr id="13" name="Shape 11"/>
          <p:cNvSpPr/>
          <p:nvPr/>
        </p:nvSpPr>
        <p:spPr>
          <a:xfrm>
            <a:off x="640080" y="4983480"/>
            <a:ext cx="1920240" cy="777240"/>
          </a:xfrm>
          <a:prstGeom prst="roundRect">
            <a:avLst>
              <a:gd name="adj" fmla="val 7059"/>
            </a:avLst>
          </a:prstGeom>
          <a:solidFill>
            <a:srgbClr val="E8590C"/>
          </a:solidFill>
          <a:ln/>
        </p:spPr>
      </p:sp>
      <p:sp>
        <p:nvSpPr>
          <p:cNvPr id="14" name="Text 12"/>
          <p:cNvSpPr/>
          <p:nvPr/>
        </p:nvSpPr>
        <p:spPr>
          <a:xfrm>
            <a:off x="640080" y="4983480"/>
            <a:ext cx="1920240" cy="777240"/>
          </a:xfrm>
          <a:prstGeom prst="rect">
            <a:avLst/>
          </a:prstGeom>
          <a:noFill/>
          <a:ln/>
        </p:spPr>
        <p:txBody>
          <a:bodyPr wrap="square" rtlCol="0" anchor="ctr"/>
          <a:lstStyle/>
          <a:p>
            <a:pPr marL="0" indent="0" algn="ctr">
              <a:buNone/>
            </a:pPr>
            <a:r>
              <a:rPr lang="en-US" sz="1150" b="1" dirty="0">
                <a:solidFill>
                  <a:srgbClr val="FFFFFF"/>
                </a:solidFill>
                <a:latin typeface="Arial" pitchFamily="34" charset="0"/>
                <a:ea typeface="Arial" pitchFamily="34" charset="-122"/>
                <a:cs typeface="Arial" pitchFamily="34" charset="-120"/>
              </a:rPr>
              <a:t>Dài hạn</a:t>
            </a:r>
            <a:endParaRPr lang="en-US" sz="1150" dirty="0"/>
          </a:p>
        </p:txBody>
      </p:sp>
      <p:sp>
        <p:nvSpPr>
          <p:cNvPr id="15" name="Text 13"/>
          <p:cNvSpPr/>
          <p:nvPr/>
        </p:nvSpPr>
        <p:spPr>
          <a:xfrm>
            <a:off x="2788920" y="4983480"/>
            <a:ext cx="8778240" cy="777240"/>
          </a:xfrm>
          <a:prstGeom prst="rect">
            <a:avLst/>
          </a:prstGeom>
          <a:noFill/>
          <a:ln/>
        </p:spPr>
        <p:txBody>
          <a:bodyPr wrap="square" rtlCol="0" anchor="ctr"/>
          <a:lstStyle/>
          <a:p>
            <a:pPr marL="0" indent="0">
              <a:lnSpc>
                <a:spcPct val="120000"/>
              </a:lnSpc>
              <a:buNone/>
            </a:pPr>
            <a:r>
              <a:rPr lang="en-US" sz="1300" dirty="0">
                <a:solidFill>
                  <a:srgbClr val="FFFFFF"/>
                </a:solidFill>
                <a:latin typeface="Arial" pitchFamily="34" charset="0"/>
                <a:ea typeface="Arial" pitchFamily="34" charset="-122"/>
                <a:cs typeface="Arial" pitchFamily="34" charset="-120"/>
              </a:rPr>
              <a:t>Tích hợp dữ liệu Marketing/Traffic (nếu có) để hoàn thiện phân tích phễu chuyển đổi &amp; CAC</a:t>
            </a:r>
            <a:endParaRPr lang="en-US" sz="1300" dirty="0"/>
          </a:p>
        </p:txBody>
      </p:sp>
      <p:sp>
        <p:nvSpPr>
          <p:cNvPr id="16" name="Text 14"/>
          <p:cNvSpPr/>
          <p:nvPr/>
        </p:nvSpPr>
        <p:spPr>
          <a:xfrm>
            <a:off x="457200" y="6473952"/>
            <a:ext cx="5486400" cy="274320"/>
          </a:xfrm>
          <a:prstGeom prst="rect">
            <a:avLst/>
          </a:prstGeom>
          <a:noFill/>
          <a:ln/>
        </p:spPr>
        <p:txBody>
          <a:bodyPr wrap="square" rtlCol="0" anchor="ctr"/>
          <a:lstStyle/>
          <a:p>
            <a:pPr marL="0" indent="0" algn="l">
              <a:buNone/>
            </a:pPr>
            <a:r>
              <a:rPr lang="en-US" sz="900" dirty="0">
                <a:solidFill>
                  <a:srgbClr val="8894C4"/>
                </a:solidFill>
                <a:latin typeface="Arial" pitchFamily="34" charset="0"/>
                <a:ea typeface="Arial" pitchFamily="34" charset="-122"/>
                <a:cs typeface="Arial" pitchFamily="34" charset="-120"/>
              </a:rPr>
              <a:t>OLIST ECOMMERCE ANALYTICS</a:t>
            </a:r>
            <a:endParaRPr lang="en-US" sz="900" dirty="0"/>
          </a:p>
        </p:txBody>
      </p:sp>
      <p:sp>
        <p:nvSpPr>
          <p:cNvPr id="17" name="Text 15"/>
          <p:cNvSpPr/>
          <p:nvPr/>
        </p:nvSpPr>
        <p:spPr>
          <a:xfrm>
            <a:off x="8074152" y="6473952"/>
            <a:ext cx="3657600" cy="274320"/>
          </a:xfrm>
          <a:prstGeom prst="rect">
            <a:avLst/>
          </a:prstGeom>
          <a:noFill/>
          <a:ln/>
        </p:spPr>
        <p:txBody>
          <a:bodyPr wrap="square" rtlCol="0" anchor="ctr"/>
          <a:lstStyle/>
          <a:p>
            <a:pPr marL="0" indent="0" algn="r">
              <a:buNone/>
            </a:pPr>
            <a:r>
              <a:rPr lang="en-US" sz="900" dirty="0">
                <a:solidFill>
                  <a:srgbClr val="8894C4"/>
                </a:solidFill>
                <a:latin typeface="Arial" pitchFamily="34" charset="0"/>
                <a:ea typeface="Arial" pitchFamily="34" charset="-122"/>
                <a:cs typeface="Arial" pitchFamily="34" charset="-120"/>
              </a:rPr>
              <a:t>16</a:t>
            </a:r>
            <a:endParaRPr lang="en-US" sz="900" dirty="0"/>
          </a:p>
        </p:txBody>
      </p:sp>
    </p:spTree>
  </p:cSld>
  <p:clrMapOvr>
    <a:masterClrMapping/>
  </p:clrMapOvr>
  <p:transition spd="slow">
    <p:randomBar dir="vert"/>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8778240" y="-2011680"/>
            <a:ext cx="5486400" cy="5486400"/>
          </a:xfrm>
          <a:prstGeom prst="ellipse">
            <a:avLst/>
          </a:prstGeom>
          <a:solidFill>
            <a:srgbClr val="141B4D"/>
          </a:solidFill>
          <a:ln/>
        </p:spPr>
      </p:sp>
      <p:sp>
        <p:nvSpPr>
          <p:cNvPr id="3" name="Shape 1"/>
          <p:cNvSpPr/>
          <p:nvPr/>
        </p:nvSpPr>
        <p:spPr>
          <a:xfrm>
            <a:off x="-2194560" y="4206240"/>
            <a:ext cx="4754880" cy="4754880"/>
          </a:xfrm>
          <a:prstGeom prst="ellipse">
            <a:avLst/>
          </a:prstGeom>
          <a:solidFill>
            <a:srgbClr val="141B4D"/>
          </a:solidFill>
          <a:ln/>
        </p:spPr>
      </p:sp>
      <p:sp>
        <p:nvSpPr>
          <p:cNvPr id="4" name="Shape 2"/>
          <p:cNvSpPr/>
          <p:nvPr/>
        </p:nvSpPr>
        <p:spPr>
          <a:xfrm>
            <a:off x="5394960" y="1920240"/>
            <a:ext cx="1371600" cy="1371600"/>
          </a:xfrm>
          <a:prstGeom prst="roundRect">
            <a:avLst>
              <a:gd name="adj" fmla="val 20000"/>
            </a:avLst>
          </a:prstGeom>
          <a:solidFill>
            <a:srgbClr val="2E5EAA"/>
          </a:solidFill>
          <a:ln/>
        </p:spPr>
      </p:sp>
      <p:sp>
        <p:nvSpPr>
          <p:cNvPr id="5" name="Text 3"/>
          <p:cNvSpPr/>
          <p:nvPr/>
        </p:nvSpPr>
        <p:spPr>
          <a:xfrm>
            <a:off x="5394960" y="1920240"/>
            <a:ext cx="1371600" cy="1371600"/>
          </a:xfrm>
          <a:prstGeom prst="rect">
            <a:avLst/>
          </a:prstGeom>
          <a:noFill/>
          <a:ln/>
        </p:spPr>
        <p:txBody>
          <a:bodyPr wrap="square" rtlCol="0" anchor="ctr"/>
          <a:lstStyle/>
          <a:p>
            <a:pPr marL="0" indent="0" algn="ctr">
              <a:buNone/>
            </a:pPr>
            <a:r>
              <a:rPr lang="en-US" sz="5600" b="1" dirty="0">
                <a:solidFill>
                  <a:srgbClr val="FFFFFF"/>
                </a:solidFill>
                <a:latin typeface="Arial" pitchFamily="34" charset="0"/>
                <a:ea typeface="Arial" pitchFamily="34" charset="-122"/>
                <a:cs typeface="Arial" pitchFamily="34" charset="-120"/>
              </a:rPr>
              <a:t>O</a:t>
            </a:r>
            <a:endParaRPr lang="en-US" sz="5600" dirty="0"/>
          </a:p>
        </p:txBody>
      </p:sp>
      <p:sp>
        <p:nvSpPr>
          <p:cNvPr id="6" name="Text 4"/>
          <p:cNvSpPr/>
          <p:nvPr/>
        </p:nvSpPr>
        <p:spPr>
          <a:xfrm>
            <a:off x="1371600" y="3657600"/>
            <a:ext cx="9418320" cy="822960"/>
          </a:xfrm>
          <a:prstGeom prst="rect">
            <a:avLst/>
          </a:prstGeom>
          <a:noFill/>
          <a:ln/>
        </p:spPr>
        <p:txBody>
          <a:bodyPr wrap="square"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Cảm ơn đã theo dõi</a:t>
            </a:r>
            <a:endParaRPr lang="en-US" sz="3400" dirty="0"/>
          </a:p>
        </p:txBody>
      </p:sp>
      <p:sp>
        <p:nvSpPr>
          <p:cNvPr id="7" name="Text 5"/>
          <p:cNvSpPr/>
          <p:nvPr/>
        </p:nvSpPr>
        <p:spPr>
          <a:xfrm>
            <a:off x="1371600" y="4343400"/>
            <a:ext cx="9418320" cy="457200"/>
          </a:xfrm>
          <a:prstGeom prst="rect">
            <a:avLst/>
          </a:prstGeom>
          <a:noFill/>
          <a:ln/>
        </p:spPr>
        <p:txBody>
          <a:bodyPr wrap="square" rtlCol="0" anchor="ctr"/>
          <a:lstStyle/>
          <a:p>
            <a:pPr marL="0" indent="0" algn="ctr">
              <a:buNone/>
            </a:pPr>
            <a:r>
              <a:rPr lang="en-US" sz="1500" dirty="0">
                <a:solidFill>
                  <a:srgbClr val="CADCFC"/>
                </a:solidFill>
                <a:latin typeface="Arial" pitchFamily="34" charset="0"/>
                <a:ea typeface="Arial" pitchFamily="34" charset="-122"/>
                <a:cs typeface="Arial" pitchFamily="34" charset="-120"/>
              </a:rPr>
              <a:t>Q&amp;A — Rất mong nhận được góp ý từ Anh/Chị</a:t>
            </a:r>
            <a:endParaRPr lang="en-US" sz="1500" dirty="0"/>
          </a:p>
        </p:txBody>
      </p:sp>
      <p:sp>
        <p:nvSpPr>
          <p:cNvPr id="8" name="Text 6"/>
          <p:cNvSpPr/>
          <p:nvPr/>
        </p:nvSpPr>
        <p:spPr>
          <a:xfrm>
            <a:off x="1371600" y="5760720"/>
            <a:ext cx="9418320" cy="365760"/>
          </a:xfrm>
          <a:prstGeom prst="rect">
            <a:avLst/>
          </a:prstGeom>
          <a:noFill/>
          <a:ln/>
        </p:spPr>
        <p:txBody>
          <a:bodyPr wrap="square" rtlCol="0" anchor="ctr"/>
          <a:lstStyle/>
          <a:p>
            <a:pPr marL="0" indent="0" algn="ctr">
              <a:buNone/>
            </a:pPr>
            <a:r>
              <a:rPr lang="en-US" sz="1050" i="1" dirty="0">
                <a:solidFill>
                  <a:srgbClr val="8894C4"/>
                </a:solidFill>
                <a:latin typeface="Arial" pitchFamily="34" charset="0"/>
                <a:ea typeface="Arial" pitchFamily="34" charset="-122"/>
                <a:cs typeface="Arial" pitchFamily="34" charset="-120"/>
              </a:rPr>
              <a:t>Dashboard &amp; Data Pipeline: BigQuery → Power BI  |  Star Schema  |  DAX  |  Scheduled Refresh</a:t>
            </a:r>
            <a:endParaRPr lang="en-US" sz="1050" dirty="0"/>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229</TotalTime>
  <Words>2605</Words>
  <Application>Microsoft Office PowerPoint</Application>
  <PresentationFormat>Widescreen</PresentationFormat>
  <Paragraphs>294</Paragraphs>
  <Slides>17</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Viet Anh</cp:lastModifiedBy>
  <cp:revision>23</cp:revision>
  <dcterms:created xsi:type="dcterms:W3CDTF">2026-08-21T05:29:21Z</dcterms:created>
  <dcterms:modified xsi:type="dcterms:W3CDTF">2026-08-26T10:04:25Z</dcterms:modified>
</cp:coreProperties>
</file>